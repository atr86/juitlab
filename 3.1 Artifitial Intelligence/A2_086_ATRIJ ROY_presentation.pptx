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3" r:id="rId8"/>
    <p:sldId id="267" r:id="rId9"/>
    <p:sldId id="264" r:id="rId10"/>
    <p:sldId id="265" r:id="rId11"/>
    <p:sldId id="266"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9" r:id="rId33"/>
    <p:sldId id="290"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1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75" d="100"/>
          <a:sy n="75" d="100"/>
        </p:scale>
        <p:origin x="874" y="43"/>
      </p:cViewPr>
      <p:guideLst>
        <p:guide orient="horz" pos="2160"/>
        <p:guide pos="381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slide" Target="slides/slide25.xml" /><Relationship Id="rId3" Type="http://schemas.openxmlformats.org/officeDocument/2006/relationships/slide" Target="slides/slide2.xml" /><Relationship Id="rId21" Type="http://schemas.openxmlformats.org/officeDocument/2006/relationships/slide" Target="slides/slide20.xml" /><Relationship Id="rId34" Type="http://schemas.openxmlformats.org/officeDocument/2006/relationships/slide" Target="slides/slide33.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slide" Target="slides/slide24.xml" /><Relationship Id="rId33" Type="http://schemas.openxmlformats.org/officeDocument/2006/relationships/slide" Target="slides/slide32.xml" /><Relationship Id="rId38" Type="http://schemas.openxmlformats.org/officeDocument/2006/relationships/tableStyles" Target="tableStyles.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29" Type="http://schemas.openxmlformats.org/officeDocument/2006/relationships/slide" Target="slides/slide28.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slide" Target="slides/slide23.xml" /><Relationship Id="rId32" Type="http://schemas.openxmlformats.org/officeDocument/2006/relationships/slide" Target="slides/slide31.xml" /><Relationship Id="rId37" Type="http://schemas.openxmlformats.org/officeDocument/2006/relationships/theme" Target="theme/theme1.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slide" Target="slides/slide27.xml" /><Relationship Id="rId36" Type="http://schemas.openxmlformats.org/officeDocument/2006/relationships/viewProps" Target="viewProps.xml" /><Relationship Id="rId10" Type="http://schemas.openxmlformats.org/officeDocument/2006/relationships/slide" Target="slides/slide9.xml" /><Relationship Id="rId19" Type="http://schemas.openxmlformats.org/officeDocument/2006/relationships/slide" Target="slides/slide18.xml" /><Relationship Id="rId31" Type="http://schemas.openxmlformats.org/officeDocument/2006/relationships/slide" Target="slides/slide30.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slide" Target="slides/slide26.xml" /><Relationship Id="rId30" Type="http://schemas.openxmlformats.org/officeDocument/2006/relationships/slide" Target="slides/slide29.xml" /><Relationship Id="rId35" Type="http://schemas.openxmlformats.org/officeDocument/2006/relationships/presProps" Target="presProps.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ADB284-147C-285D-2522-59735DB694A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15C2D93-D6D1-2D7B-DB60-A2F908E6D2C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55FC4F5-EC88-5E9E-0C6D-69E3D7F7D961}"/>
              </a:ext>
            </a:extLst>
          </p:cNvPr>
          <p:cNvSpPr>
            <a:spLocks noGrp="1"/>
          </p:cNvSpPr>
          <p:nvPr>
            <p:ph type="dt" sz="half" idx="10"/>
          </p:nvPr>
        </p:nvSpPr>
        <p:spPr/>
        <p:txBody>
          <a:bodyPr/>
          <a:lstStyle/>
          <a:p>
            <a:fld id="{93D66183-96EE-EC4E-935B-E1F9C0A382E6}" type="datetimeFigureOut">
              <a:rPr lang="en-US" smtClean="0"/>
              <a:t>10/7/2025</a:t>
            </a:fld>
            <a:endParaRPr lang="en-US"/>
          </a:p>
        </p:txBody>
      </p:sp>
      <p:sp>
        <p:nvSpPr>
          <p:cNvPr id="5" name="Footer Placeholder 4">
            <a:extLst>
              <a:ext uri="{FF2B5EF4-FFF2-40B4-BE49-F238E27FC236}">
                <a16:creationId xmlns:a16="http://schemas.microsoft.com/office/drawing/2014/main" id="{90A7120B-0455-F201-D9FB-E144B4E463B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8C0FD5-07F1-C21D-B648-A23D5F43D4B8}"/>
              </a:ext>
            </a:extLst>
          </p:cNvPr>
          <p:cNvSpPr>
            <a:spLocks noGrp="1"/>
          </p:cNvSpPr>
          <p:nvPr>
            <p:ph type="sldNum" sz="quarter" idx="12"/>
          </p:nvPr>
        </p:nvSpPr>
        <p:spPr/>
        <p:txBody>
          <a:bodyPr/>
          <a:lstStyle/>
          <a:p>
            <a:fld id="{3ACBE260-10A1-C444-AA26-1485905B934F}" type="slidenum">
              <a:rPr lang="en-US" smtClean="0"/>
              <a:t>‹#›</a:t>
            </a:fld>
            <a:endParaRPr lang="en-US"/>
          </a:p>
        </p:txBody>
      </p:sp>
    </p:spTree>
    <p:extLst>
      <p:ext uri="{BB962C8B-B14F-4D97-AF65-F5344CB8AC3E}">
        <p14:creationId xmlns:p14="http://schemas.microsoft.com/office/powerpoint/2010/main" val="38418212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F13D95-A4A5-EC8E-618D-63983F716F2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B43B6F6-0CBF-789F-FFF6-CA22051D6DD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20805E-4DBA-00D9-F3D0-13223E9AD4F7}"/>
              </a:ext>
            </a:extLst>
          </p:cNvPr>
          <p:cNvSpPr>
            <a:spLocks noGrp="1"/>
          </p:cNvSpPr>
          <p:nvPr>
            <p:ph type="dt" sz="half" idx="10"/>
          </p:nvPr>
        </p:nvSpPr>
        <p:spPr/>
        <p:txBody>
          <a:bodyPr/>
          <a:lstStyle/>
          <a:p>
            <a:fld id="{93D66183-96EE-EC4E-935B-E1F9C0A382E6}" type="datetimeFigureOut">
              <a:rPr lang="en-US" smtClean="0"/>
              <a:t>10/7/2025</a:t>
            </a:fld>
            <a:endParaRPr lang="en-US"/>
          </a:p>
        </p:txBody>
      </p:sp>
      <p:sp>
        <p:nvSpPr>
          <p:cNvPr id="5" name="Footer Placeholder 4">
            <a:extLst>
              <a:ext uri="{FF2B5EF4-FFF2-40B4-BE49-F238E27FC236}">
                <a16:creationId xmlns:a16="http://schemas.microsoft.com/office/drawing/2014/main" id="{EB7C63F3-FF26-78E6-86C7-265EAE6B30E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0D407B6-2577-6FF2-5B2C-7704C248B478}"/>
              </a:ext>
            </a:extLst>
          </p:cNvPr>
          <p:cNvSpPr>
            <a:spLocks noGrp="1"/>
          </p:cNvSpPr>
          <p:nvPr>
            <p:ph type="sldNum" sz="quarter" idx="12"/>
          </p:nvPr>
        </p:nvSpPr>
        <p:spPr/>
        <p:txBody>
          <a:bodyPr/>
          <a:lstStyle/>
          <a:p>
            <a:fld id="{3ACBE260-10A1-C444-AA26-1485905B934F}" type="slidenum">
              <a:rPr lang="en-US" smtClean="0"/>
              <a:t>‹#›</a:t>
            </a:fld>
            <a:endParaRPr lang="en-US"/>
          </a:p>
        </p:txBody>
      </p:sp>
    </p:spTree>
    <p:extLst>
      <p:ext uri="{BB962C8B-B14F-4D97-AF65-F5344CB8AC3E}">
        <p14:creationId xmlns:p14="http://schemas.microsoft.com/office/powerpoint/2010/main" val="20571836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26D7E6-8948-E845-2D48-CA6CBCD4C4D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EA48050-6065-9369-4120-29E89DE923E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F447428-606E-402B-551B-B8FB1032DE8D}"/>
              </a:ext>
            </a:extLst>
          </p:cNvPr>
          <p:cNvSpPr>
            <a:spLocks noGrp="1"/>
          </p:cNvSpPr>
          <p:nvPr>
            <p:ph type="dt" sz="half" idx="10"/>
          </p:nvPr>
        </p:nvSpPr>
        <p:spPr/>
        <p:txBody>
          <a:bodyPr/>
          <a:lstStyle/>
          <a:p>
            <a:fld id="{93D66183-96EE-EC4E-935B-E1F9C0A382E6}" type="datetimeFigureOut">
              <a:rPr lang="en-US" smtClean="0"/>
              <a:t>10/7/2025</a:t>
            </a:fld>
            <a:endParaRPr lang="en-US"/>
          </a:p>
        </p:txBody>
      </p:sp>
      <p:sp>
        <p:nvSpPr>
          <p:cNvPr id="5" name="Footer Placeholder 4">
            <a:extLst>
              <a:ext uri="{FF2B5EF4-FFF2-40B4-BE49-F238E27FC236}">
                <a16:creationId xmlns:a16="http://schemas.microsoft.com/office/drawing/2014/main" id="{3C43EA6C-F19A-C173-07E7-6C5C264F729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ED7595-9487-323B-F525-44477F302221}"/>
              </a:ext>
            </a:extLst>
          </p:cNvPr>
          <p:cNvSpPr>
            <a:spLocks noGrp="1"/>
          </p:cNvSpPr>
          <p:nvPr>
            <p:ph type="sldNum" sz="quarter" idx="12"/>
          </p:nvPr>
        </p:nvSpPr>
        <p:spPr/>
        <p:txBody>
          <a:bodyPr/>
          <a:lstStyle/>
          <a:p>
            <a:fld id="{3ACBE260-10A1-C444-AA26-1485905B934F}" type="slidenum">
              <a:rPr lang="en-US" smtClean="0"/>
              <a:t>‹#›</a:t>
            </a:fld>
            <a:endParaRPr lang="en-US"/>
          </a:p>
        </p:txBody>
      </p:sp>
    </p:spTree>
    <p:extLst>
      <p:ext uri="{BB962C8B-B14F-4D97-AF65-F5344CB8AC3E}">
        <p14:creationId xmlns:p14="http://schemas.microsoft.com/office/powerpoint/2010/main" val="40396321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5FA6C0-588E-5183-2EF8-8D1199D2AA9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E2AFBF4-4F9C-3CE3-03AE-46389017884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F79879D-F403-5C55-A403-2F5AFCC6C25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D67A34A-6378-4C54-87F3-3D033A2AB739}"/>
              </a:ext>
            </a:extLst>
          </p:cNvPr>
          <p:cNvSpPr>
            <a:spLocks noGrp="1"/>
          </p:cNvSpPr>
          <p:nvPr>
            <p:ph type="dt" sz="half" idx="10"/>
          </p:nvPr>
        </p:nvSpPr>
        <p:spPr/>
        <p:txBody>
          <a:bodyPr/>
          <a:lstStyle/>
          <a:p>
            <a:fld id="{93D66183-96EE-EC4E-935B-E1F9C0A382E6}" type="datetimeFigureOut">
              <a:rPr lang="en-US" smtClean="0"/>
              <a:t>10/7/2025</a:t>
            </a:fld>
            <a:endParaRPr lang="en-US"/>
          </a:p>
        </p:txBody>
      </p:sp>
      <p:sp>
        <p:nvSpPr>
          <p:cNvPr id="6" name="Footer Placeholder 5">
            <a:extLst>
              <a:ext uri="{FF2B5EF4-FFF2-40B4-BE49-F238E27FC236}">
                <a16:creationId xmlns:a16="http://schemas.microsoft.com/office/drawing/2014/main" id="{040B7770-94E0-FD23-B77D-BC7372B8180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F823F74-9CCA-66C5-992E-9B6256C3B581}"/>
              </a:ext>
            </a:extLst>
          </p:cNvPr>
          <p:cNvSpPr>
            <a:spLocks noGrp="1"/>
          </p:cNvSpPr>
          <p:nvPr>
            <p:ph type="sldNum" sz="quarter" idx="12"/>
          </p:nvPr>
        </p:nvSpPr>
        <p:spPr/>
        <p:txBody>
          <a:bodyPr/>
          <a:lstStyle/>
          <a:p>
            <a:fld id="{3ACBE260-10A1-C444-AA26-1485905B934F}" type="slidenum">
              <a:rPr lang="en-US" smtClean="0"/>
              <a:t>‹#›</a:t>
            </a:fld>
            <a:endParaRPr lang="en-US"/>
          </a:p>
        </p:txBody>
      </p:sp>
    </p:spTree>
    <p:extLst>
      <p:ext uri="{BB962C8B-B14F-4D97-AF65-F5344CB8AC3E}">
        <p14:creationId xmlns:p14="http://schemas.microsoft.com/office/powerpoint/2010/main" val="12715705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F15DDC-37E8-43F9-58FF-807E443B43C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D8BDED3-3982-4BA8-DDC7-A23FCA6238E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CDDCE15-55CA-9751-0A2C-9112E92BA7F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8352CA4-B99C-5891-47F8-5358AECD470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6377B09-2AA6-485A-8433-B109FD83D30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D09B70E-FE88-E2AD-4C01-74B437B76681}"/>
              </a:ext>
            </a:extLst>
          </p:cNvPr>
          <p:cNvSpPr>
            <a:spLocks noGrp="1"/>
          </p:cNvSpPr>
          <p:nvPr>
            <p:ph type="dt" sz="half" idx="10"/>
          </p:nvPr>
        </p:nvSpPr>
        <p:spPr/>
        <p:txBody>
          <a:bodyPr/>
          <a:lstStyle/>
          <a:p>
            <a:fld id="{93D66183-96EE-EC4E-935B-E1F9C0A382E6}" type="datetimeFigureOut">
              <a:rPr lang="en-US" smtClean="0"/>
              <a:t>10/7/2025</a:t>
            </a:fld>
            <a:endParaRPr lang="en-US"/>
          </a:p>
        </p:txBody>
      </p:sp>
      <p:sp>
        <p:nvSpPr>
          <p:cNvPr id="8" name="Footer Placeholder 7">
            <a:extLst>
              <a:ext uri="{FF2B5EF4-FFF2-40B4-BE49-F238E27FC236}">
                <a16:creationId xmlns:a16="http://schemas.microsoft.com/office/drawing/2014/main" id="{E90E6749-58DF-ACEE-550D-A49CAFFAFE2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8FAF97F-6D61-AB48-8076-19D5EE7DFCDF}"/>
              </a:ext>
            </a:extLst>
          </p:cNvPr>
          <p:cNvSpPr>
            <a:spLocks noGrp="1"/>
          </p:cNvSpPr>
          <p:nvPr>
            <p:ph type="sldNum" sz="quarter" idx="12"/>
          </p:nvPr>
        </p:nvSpPr>
        <p:spPr/>
        <p:txBody>
          <a:bodyPr/>
          <a:lstStyle/>
          <a:p>
            <a:fld id="{3ACBE260-10A1-C444-AA26-1485905B934F}" type="slidenum">
              <a:rPr lang="en-US" smtClean="0"/>
              <a:t>‹#›</a:t>
            </a:fld>
            <a:endParaRPr lang="en-US"/>
          </a:p>
        </p:txBody>
      </p:sp>
    </p:spTree>
    <p:extLst>
      <p:ext uri="{BB962C8B-B14F-4D97-AF65-F5344CB8AC3E}">
        <p14:creationId xmlns:p14="http://schemas.microsoft.com/office/powerpoint/2010/main" val="15391099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B10D6F-7107-F7E2-85B8-CBAE6A28531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80C7843-B04B-C91F-1583-A8DD924355E3}"/>
              </a:ext>
            </a:extLst>
          </p:cNvPr>
          <p:cNvSpPr>
            <a:spLocks noGrp="1"/>
          </p:cNvSpPr>
          <p:nvPr>
            <p:ph type="dt" sz="half" idx="10"/>
          </p:nvPr>
        </p:nvSpPr>
        <p:spPr/>
        <p:txBody>
          <a:bodyPr/>
          <a:lstStyle/>
          <a:p>
            <a:fld id="{93D66183-96EE-EC4E-935B-E1F9C0A382E6}" type="datetimeFigureOut">
              <a:rPr lang="en-US" smtClean="0"/>
              <a:t>10/7/2025</a:t>
            </a:fld>
            <a:endParaRPr lang="en-US"/>
          </a:p>
        </p:txBody>
      </p:sp>
      <p:sp>
        <p:nvSpPr>
          <p:cNvPr id="4" name="Footer Placeholder 3">
            <a:extLst>
              <a:ext uri="{FF2B5EF4-FFF2-40B4-BE49-F238E27FC236}">
                <a16:creationId xmlns:a16="http://schemas.microsoft.com/office/drawing/2014/main" id="{DE8BE99D-2F12-1000-52B1-6206B026D69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719A88C-CDB4-083E-A8F4-0A6BE23F5DBF}"/>
              </a:ext>
            </a:extLst>
          </p:cNvPr>
          <p:cNvSpPr>
            <a:spLocks noGrp="1"/>
          </p:cNvSpPr>
          <p:nvPr>
            <p:ph type="sldNum" sz="quarter" idx="12"/>
          </p:nvPr>
        </p:nvSpPr>
        <p:spPr/>
        <p:txBody>
          <a:bodyPr/>
          <a:lstStyle/>
          <a:p>
            <a:fld id="{3ACBE260-10A1-C444-AA26-1485905B934F}" type="slidenum">
              <a:rPr lang="en-US" smtClean="0"/>
              <a:t>‹#›</a:t>
            </a:fld>
            <a:endParaRPr lang="en-US"/>
          </a:p>
        </p:txBody>
      </p:sp>
    </p:spTree>
    <p:extLst>
      <p:ext uri="{BB962C8B-B14F-4D97-AF65-F5344CB8AC3E}">
        <p14:creationId xmlns:p14="http://schemas.microsoft.com/office/powerpoint/2010/main" val="18710776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E031550-82F4-94A3-684E-8A10BFFD197B}"/>
              </a:ext>
            </a:extLst>
          </p:cNvPr>
          <p:cNvSpPr>
            <a:spLocks noGrp="1"/>
          </p:cNvSpPr>
          <p:nvPr>
            <p:ph type="dt" sz="half" idx="10"/>
          </p:nvPr>
        </p:nvSpPr>
        <p:spPr/>
        <p:txBody>
          <a:bodyPr/>
          <a:lstStyle/>
          <a:p>
            <a:fld id="{93D66183-96EE-EC4E-935B-E1F9C0A382E6}" type="datetimeFigureOut">
              <a:rPr lang="en-US" smtClean="0"/>
              <a:t>10/7/2025</a:t>
            </a:fld>
            <a:endParaRPr lang="en-US"/>
          </a:p>
        </p:txBody>
      </p:sp>
      <p:sp>
        <p:nvSpPr>
          <p:cNvPr id="3" name="Footer Placeholder 2">
            <a:extLst>
              <a:ext uri="{FF2B5EF4-FFF2-40B4-BE49-F238E27FC236}">
                <a16:creationId xmlns:a16="http://schemas.microsoft.com/office/drawing/2014/main" id="{88FD1B2F-6503-693B-C314-0004C367C37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8BFEFC6-5DD9-522D-0AB9-E0A85FE96DFC}"/>
              </a:ext>
            </a:extLst>
          </p:cNvPr>
          <p:cNvSpPr>
            <a:spLocks noGrp="1"/>
          </p:cNvSpPr>
          <p:nvPr>
            <p:ph type="sldNum" sz="quarter" idx="12"/>
          </p:nvPr>
        </p:nvSpPr>
        <p:spPr/>
        <p:txBody>
          <a:bodyPr/>
          <a:lstStyle/>
          <a:p>
            <a:fld id="{3ACBE260-10A1-C444-AA26-1485905B934F}" type="slidenum">
              <a:rPr lang="en-US" smtClean="0"/>
              <a:t>‹#›</a:t>
            </a:fld>
            <a:endParaRPr lang="en-US"/>
          </a:p>
        </p:txBody>
      </p:sp>
    </p:spTree>
    <p:extLst>
      <p:ext uri="{BB962C8B-B14F-4D97-AF65-F5344CB8AC3E}">
        <p14:creationId xmlns:p14="http://schemas.microsoft.com/office/powerpoint/2010/main" val="15426520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04FF27-4F7F-10A1-05A2-E4AFAC39770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DCD91CF-7196-B535-8F89-14C8FB84964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CEB71C6-A9DD-6FEB-1E84-74DC83719A3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1BA3EC3-FD2B-8FE9-E4B7-3B26F497BB6C}"/>
              </a:ext>
            </a:extLst>
          </p:cNvPr>
          <p:cNvSpPr>
            <a:spLocks noGrp="1"/>
          </p:cNvSpPr>
          <p:nvPr>
            <p:ph type="dt" sz="half" idx="10"/>
          </p:nvPr>
        </p:nvSpPr>
        <p:spPr/>
        <p:txBody>
          <a:bodyPr/>
          <a:lstStyle/>
          <a:p>
            <a:fld id="{93D66183-96EE-EC4E-935B-E1F9C0A382E6}" type="datetimeFigureOut">
              <a:rPr lang="en-US" smtClean="0"/>
              <a:t>10/7/2025</a:t>
            </a:fld>
            <a:endParaRPr lang="en-US"/>
          </a:p>
        </p:txBody>
      </p:sp>
      <p:sp>
        <p:nvSpPr>
          <p:cNvPr id="6" name="Footer Placeholder 5">
            <a:extLst>
              <a:ext uri="{FF2B5EF4-FFF2-40B4-BE49-F238E27FC236}">
                <a16:creationId xmlns:a16="http://schemas.microsoft.com/office/drawing/2014/main" id="{9F9F1933-885C-DD6F-D2F4-AB026254167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6139891-F6CE-993D-F62C-4A4CA8ED08DF}"/>
              </a:ext>
            </a:extLst>
          </p:cNvPr>
          <p:cNvSpPr>
            <a:spLocks noGrp="1"/>
          </p:cNvSpPr>
          <p:nvPr>
            <p:ph type="sldNum" sz="quarter" idx="12"/>
          </p:nvPr>
        </p:nvSpPr>
        <p:spPr/>
        <p:txBody>
          <a:bodyPr/>
          <a:lstStyle/>
          <a:p>
            <a:fld id="{3ACBE260-10A1-C444-AA26-1485905B934F}" type="slidenum">
              <a:rPr lang="en-US" smtClean="0"/>
              <a:t>‹#›</a:t>
            </a:fld>
            <a:endParaRPr lang="en-US"/>
          </a:p>
        </p:txBody>
      </p:sp>
    </p:spTree>
    <p:extLst>
      <p:ext uri="{BB962C8B-B14F-4D97-AF65-F5344CB8AC3E}">
        <p14:creationId xmlns:p14="http://schemas.microsoft.com/office/powerpoint/2010/main" val="9683898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2B352-9B78-0ECA-7F5E-FE6A3A55B4E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8FF1714-7E77-8D1B-2EE3-677FA545E04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75C439B-C136-5F91-BC49-510671FE8C3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CB675C4-D4D1-FFCB-797A-561E39879071}"/>
              </a:ext>
            </a:extLst>
          </p:cNvPr>
          <p:cNvSpPr>
            <a:spLocks noGrp="1"/>
          </p:cNvSpPr>
          <p:nvPr>
            <p:ph type="dt" sz="half" idx="10"/>
          </p:nvPr>
        </p:nvSpPr>
        <p:spPr/>
        <p:txBody>
          <a:bodyPr/>
          <a:lstStyle/>
          <a:p>
            <a:fld id="{93D66183-96EE-EC4E-935B-E1F9C0A382E6}" type="datetimeFigureOut">
              <a:rPr lang="en-US" smtClean="0"/>
              <a:t>10/7/2025</a:t>
            </a:fld>
            <a:endParaRPr lang="en-US"/>
          </a:p>
        </p:txBody>
      </p:sp>
      <p:sp>
        <p:nvSpPr>
          <p:cNvPr id="6" name="Footer Placeholder 5">
            <a:extLst>
              <a:ext uri="{FF2B5EF4-FFF2-40B4-BE49-F238E27FC236}">
                <a16:creationId xmlns:a16="http://schemas.microsoft.com/office/drawing/2014/main" id="{C65D4022-ED7F-BD73-C98E-7FE7E1BAE72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B80B5C9-3388-7FC1-FA2F-3DEB55BBAB6E}"/>
              </a:ext>
            </a:extLst>
          </p:cNvPr>
          <p:cNvSpPr>
            <a:spLocks noGrp="1"/>
          </p:cNvSpPr>
          <p:nvPr>
            <p:ph type="sldNum" sz="quarter" idx="12"/>
          </p:nvPr>
        </p:nvSpPr>
        <p:spPr/>
        <p:txBody>
          <a:bodyPr/>
          <a:lstStyle/>
          <a:p>
            <a:fld id="{3ACBE260-10A1-C444-AA26-1485905B934F}" type="slidenum">
              <a:rPr lang="en-US" smtClean="0"/>
              <a:t>‹#›</a:t>
            </a:fld>
            <a:endParaRPr lang="en-US"/>
          </a:p>
        </p:txBody>
      </p:sp>
    </p:spTree>
    <p:extLst>
      <p:ext uri="{BB962C8B-B14F-4D97-AF65-F5344CB8AC3E}">
        <p14:creationId xmlns:p14="http://schemas.microsoft.com/office/powerpoint/2010/main" val="21590571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6DB62E-896A-7EC7-2CAF-9235DC7FCC9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3784046-F8D4-2B4C-E1E5-F57281585A6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63CB241-532A-141F-0A4F-451D8765B985}"/>
              </a:ext>
            </a:extLst>
          </p:cNvPr>
          <p:cNvSpPr>
            <a:spLocks noGrp="1"/>
          </p:cNvSpPr>
          <p:nvPr>
            <p:ph type="dt" sz="half" idx="10"/>
          </p:nvPr>
        </p:nvSpPr>
        <p:spPr/>
        <p:txBody>
          <a:bodyPr/>
          <a:lstStyle/>
          <a:p>
            <a:fld id="{93D66183-96EE-EC4E-935B-E1F9C0A382E6}" type="datetimeFigureOut">
              <a:rPr lang="en-US" smtClean="0"/>
              <a:t>10/7/2025</a:t>
            </a:fld>
            <a:endParaRPr lang="en-US"/>
          </a:p>
        </p:txBody>
      </p:sp>
      <p:sp>
        <p:nvSpPr>
          <p:cNvPr id="5" name="Footer Placeholder 4">
            <a:extLst>
              <a:ext uri="{FF2B5EF4-FFF2-40B4-BE49-F238E27FC236}">
                <a16:creationId xmlns:a16="http://schemas.microsoft.com/office/drawing/2014/main" id="{A6EC4F47-9838-00F5-CF5A-BD60B9C637F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395495-E25E-04A2-EB02-91F99C49D39C}"/>
              </a:ext>
            </a:extLst>
          </p:cNvPr>
          <p:cNvSpPr>
            <a:spLocks noGrp="1"/>
          </p:cNvSpPr>
          <p:nvPr>
            <p:ph type="sldNum" sz="quarter" idx="12"/>
          </p:nvPr>
        </p:nvSpPr>
        <p:spPr/>
        <p:txBody>
          <a:bodyPr/>
          <a:lstStyle/>
          <a:p>
            <a:fld id="{3ACBE260-10A1-C444-AA26-1485905B934F}" type="slidenum">
              <a:rPr lang="en-US" smtClean="0"/>
              <a:t>‹#›</a:t>
            </a:fld>
            <a:endParaRPr lang="en-US"/>
          </a:p>
        </p:txBody>
      </p:sp>
    </p:spTree>
    <p:extLst>
      <p:ext uri="{BB962C8B-B14F-4D97-AF65-F5344CB8AC3E}">
        <p14:creationId xmlns:p14="http://schemas.microsoft.com/office/powerpoint/2010/main" val="41061724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849E620-6F8E-EDC9-DF81-1BB8E960FE4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7020DC4-EEEB-3DF7-ECCB-24E1A5F74B1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CE1B91D-3699-3341-A71C-CB9C5CE6AA2F}"/>
              </a:ext>
            </a:extLst>
          </p:cNvPr>
          <p:cNvSpPr>
            <a:spLocks noGrp="1"/>
          </p:cNvSpPr>
          <p:nvPr>
            <p:ph type="dt" sz="half" idx="10"/>
          </p:nvPr>
        </p:nvSpPr>
        <p:spPr/>
        <p:txBody>
          <a:bodyPr/>
          <a:lstStyle/>
          <a:p>
            <a:fld id="{93D66183-96EE-EC4E-935B-E1F9C0A382E6}" type="datetimeFigureOut">
              <a:rPr lang="en-US" smtClean="0"/>
              <a:t>10/7/2025</a:t>
            </a:fld>
            <a:endParaRPr lang="en-US"/>
          </a:p>
        </p:txBody>
      </p:sp>
      <p:sp>
        <p:nvSpPr>
          <p:cNvPr id="5" name="Footer Placeholder 4">
            <a:extLst>
              <a:ext uri="{FF2B5EF4-FFF2-40B4-BE49-F238E27FC236}">
                <a16:creationId xmlns:a16="http://schemas.microsoft.com/office/drawing/2014/main" id="{EE945E3E-CBD3-91B7-65F7-BCFCBBD6310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AF08C6D-C1B5-3F2C-44E8-23C6736DE957}"/>
              </a:ext>
            </a:extLst>
          </p:cNvPr>
          <p:cNvSpPr>
            <a:spLocks noGrp="1"/>
          </p:cNvSpPr>
          <p:nvPr>
            <p:ph type="sldNum" sz="quarter" idx="12"/>
          </p:nvPr>
        </p:nvSpPr>
        <p:spPr/>
        <p:txBody>
          <a:bodyPr/>
          <a:lstStyle/>
          <a:p>
            <a:fld id="{3ACBE260-10A1-C444-AA26-1485905B934F}" type="slidenum">
              <a:rPr lang="en-US" smtClean="0"/>
              <a:t>‹#›</a:t>
            </a:fld>
            <a:endParaRPr lang="en-US"/>
          </a:p>
        </p:txBody>
      </p:sp>
    </p:spTree>
    <p:extLst>
      <p:ext uri="{BB962C8B-B14F-4D97-AF65-F5344CB8AC3E}">
        <p14:creationId xmlns:p14="http://schemas.microsoft.com/office/powerpoint/2010/main" val="4341378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1B6D2B9-D6DD-3EF7-BC18-18025F24E83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09BB926-88E1-F7F7-AE63-529E8F853BB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4121E9A-82CE-5649-F432-0C00D5D65E2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3D66183-96EE-EC4E-935B-E1F9C0A382E6}" type="datetimeFigureOut">
              <a:rPr lang="en-US" smtClean="0"/>
              <a:t>10/7/2025</a:t>
            </a:fld>
            <a:endParaRPr lang="en-US"/>
          </a:p>
        </p:txBody>
      </p:sp>
      <p:sp>
        <p:nvSpPr>
          <p:cNvPr id="5" name="Footer Placeholder 4">
            <a:extLst>
              <a:ext uri="{FF2B5EF4-FFF2-40B4-BE49-F238E27FC236}">
                <a16:creationId xmlns:a16="http://schemas.microsoft.com/office/drawing/2014/main" id="{405BA5E8-9B57-0854-9C76-106077B6819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0990E3C-4142-F69E-9530-00403113DBA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ACBE260-10A1-C444-AA26-1485905B934F}" type="slidenum">
              <a:rPr lang="en-US" smtClean="0"/>
              <a:t>‹#›</a:t>
            </a:fld>
            <a:endParaRPr lang="en-US"/>
          </a:p>
        </p:txBody>
      </p:sp>
    </p:spTree>
    <p:extLst>
      <p:ext uri="{BB962C8B-B14F-4D97-AF65-F5344CB8AC3E}">
        <p14:creationId xmlns:p14="http://schemas.microsoft.com/office/powerpoint/2010/main" val="13945755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Layout" Target="../slideLayouts/slideLayout2.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image" Target="../media/image2.png" /><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3" Type="http://schemas.openxmlformats.org/officeDocument/2006/relationships/image" Target="../media/image5.png" /><Relationship Id="rId2" Type="http://schemas.openxmlformats.org/officeDocument/2006/relationships/image" Target="../media/image4.png" /><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2" Type="http://schemas.openxmlformats.org/officeDocument/2006/relationships/image" Target="../media/image6.jpeg" /><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 standalone="yes"?>
<Relationships xmlns="http://schemas.openxmlformats.org/package/2006/relationships"><Relationship Id="rId2" Type="http://schemas.openxmlformats.org/officeDocument/2006/relationships/image" Target="../media/image7.jpeg" /><Relationship Id="rId1" Type="http://schemas.openxmlformats.org/officeDocument/2006/relationships/slideLayout" Target="../slideLayouts/slideLayout2.xml" /></Relationships>
</file>

<file path=ppt/slides/_rels/slide24.xml.rels><?xml version="1.0" encoding="UTF-8" standalone="yes"?>
<Relationships xmlns="http://schemas.openxmlformats.org/package/2006/relationships"><Relationship Id="rId3" Type="http://schemas.openxmlformats.org/officeDocument/2006/relationships/image" Target="../media/image8.gif" /><Relationship Id="rId2" Type="http://schemas.openxmlformats.org/officeDocument/2006/relationships/image" Target="../media/image8.png" /><Relationship Id="rId1" Type="http://schemas.openxmlformats.org/officeDocument/2006/relationships/slideLayout" Target="../slideLayouts/slideLayout2.xml" /></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 standalone="yes"?>
<Relationships xmlns="http://schemas.openxmlformats.org/package/2006/relationships"><Relationship Id="rId2" Type="http://schemas.openxmlformats.org/officeDocument/2006/relationships/image" Target="../media/image7.jpeg" /><Relationship Id="rId1" Type="http://schemas.openxmlformats.org/officeDocument/2006/relationships/slideLayout" Target="../slideLayouts/slideLayout2.xml" /></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0.xml.rels><?xml version="1.0" encoding="UTF-8" standalone="yes"?>
<Relationships xmlns="http://schemas.openxmlformats.org/package/2006/relationships"><Relationship Id="rId2" Type="http://schemas.openxmlformats.org/officeDocument/2006/relationships/image" Target="../media/image9.png" /><Relationship Id="rId1" Type="http://schemas.openxmlformats.org/officeDocument/2006/relationships/slideLayout" Target="../slideLayouts/slideLayout2.xml" /></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17E3A1B-D18A-018B-F904-C2C6B0C1EF3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645459"/>
            <a:ext cx="10515600" cy="5510307"/>
          </a:xfrm>
          <a:prstGeom prst="rect">
            <a:avLst/>
          </a:prstGeom>
        </p:spPr>
      </p:pic>
      <p:sp>
        <p:nvSpPr>
          <p:cNvPr id="2" name="Title 1">
            <a:extLst>
              <a:ext uri="{FF2B5EF4-FFF2-40B4-BE49-F238E27FC236}">
                <a16:creationId xmlns:a16="http://schemas.microsoft.com/office/drawing/2014/main" id="{CCA340B7-67CC-8A7A-2913-44BD09400150}"/>
              </a:ext>
            </a:extLst>
          </p:cNvPr>
          <p:cNvSpPr>
            <a:spLocks noGrp="1"/>
          </p:cNvSpPr>
          <p:nvPr>
            <p:ph type="title"/>
          </p:nvPr>
        </p:nvSpPr>
        <p:spPr>
          <a:xfrm>
            <a:off x="933824" y="1775572"/>
            <a:ext cx="10515600" cy="1009463"/>
          </a:xfrm>
        </p:spPr>
        <p:txBody>
          <a:bodyPr>
            <a:normAutofit/>
          </a:bodyPr>
          <a:lstStyle/>
          <a:p>
            <a:r>
              <a:rPr lang="en-IN" sz="2800" b="1" dirty="0">
                <a:solidFill>
                  <a:srgbClr val="002060"/>
                </a:solidFill>
              </a:rPr>
              <a:t>Presentation : Lab Assignments Based on</a:t>
            </a:r>
            <a:endParaRPr lang="en-US" sz="2800" b="1" dirty="0">
              <a:solidFill>
                <a:srgbClr val="002060"/>
              </a:solidFill>
            </a:endParaRPr>
          </a:p>
        </p:txBody>
      </p:sp>
      <p:sp>
        <p:nvSpPr>
          <p:cNvPr id="5" name="TextBox 4">
            <a:extLst>
              <a:ext uri="{FF2B5EF4-FFF2-40B4-BE49-F238E27FC236}">
                <a16:creationId xmlns:a16="http://schemas.microsoft.com/office/drawing/2014/main" id="{CCBE2906-B6AC-3A6C-BEAE-B6D887E7D896}"/>
              </a:ext>
            </a:extLst>
          </p:cNvPr>
          <p:cNvSpPr txBox="1"/>
          <p:nvPr/>
        </p:nvSpPr>
        <p:spPr>
          <a:xfrm>
            <a:off x="838200" y="5247341"/>
            <a:ext cx="3285565" cy="1200329"/>
          </a:xfrm>
          <a:prstGeom prst="rect">
            <a:avLst/>
          </a:prstGeom>
          <a:noFill/>
        </p:spPr>
        <p:txBody>
          <a:bodyPr wrap="square" rtlCol="0">
            <a:spAutoFit/>
          </a:bodyPr>
          <a:lstStyle/>
          <a:p>
            <a:pPr algn="l"/>
            <a:r>
              <a:rPr lang="en-IN" dirty="0"/>
              <a:t>Name : Atrij Roy</a:t>
            </a:r>
          </a:p>
          <a:p>
            <a:pPr algn="l"/>
            <a:r>
              <a:rPr lang="en-IN" dirty="0"/>
              <a:t>Section : A2</a:t>
            </a:r>
          </a:p>
          <a:p>
            <a:pPr algn="l"/>
            <a:r>
              <a:rPr lang="en-IN" dirty="0"/>
              <a:t>Roll no : 002311001086</a:t>
            </a:r>
          </a:p>
          <a:p>
            <a:pPr algn="l"/>
            <a:endParaRPr lang="en-US" dirty="0"/>
          </a:p>
        </p:txBody>
      </p:sp>
    </p:spTree>
    <p:extLst>
      <p:ext uri="{BB962C8B-B14F-4D97-AF65-F5344CB8AC3E}">
        <p14:creationId xmlns:p14="http://schemas.microsoft.com/office/powerpoint/2010/main" val="17934568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0E0398B-B3BC-A4D6-8E3D-595B39EAC3FA}"/>
              </a:ext>
            </a:extLst>
          </p:cNvPr>
          <p:cNvSpPr txBox="1"/>
          <p:nvPr/>
        </p:nvSpPr>
        <p:spPr>
          <a:xfrm>
            <a:off x="3340847" y="355165"/>
            <a:ext cx="5301130" cy="646331"/>
          </a:xfrm>
          <a:prstGeom prst="rect">
            <a:avLst/>
          </a:prstGeom>
          <a:noFill/>
        </p:spPr>
        <p:txBody>
          <a:bodyPr wrap="square" rtlCol="0">
            <a:spAutoFit/>
          </a:bodyPr>
          <a:lstStyle/>
          <a:p>
            <a:pPr algn="l"/>
            <a:r>
              <a:rPr lang="en-IN" sz="3600" b="1" dirty="0"/>
              <a:t>At a glance : Contents</a:t>
            </a:r>
          </a:p>
        </p:txBody>
      </p:sp>
      <p:graphicFrame>
        <p:nvGraphicFramePr>
          <p:cNvPr id="7" name="Table 6">
            <a:extLst>
              <a:ext uri="{FF2B5EF4-FFF2-40B4-BE49-F238E27FC236}">
                <a16:creationId xmlns:a16="http://schemas.microsoft.com/office/drawing/2014/main" id="{C4EF96E6-A3D5-EBA1-E215-FA5370B17506}"/>
              </a:ext>
            </a:extLst>
          </p:cNvPr>
          <p:cNvGraphicFramePr/>
          <p:nvPr>
            <p:extLst>
              <p:ext uri="{D42A27DB-BD31-4B8C-83A1-F6EECF244321}">
                <p14:modId xmlns:p14="http://schemas.microsoft.com/office/powerpoint/2010/main" val="895897806"/>
              </p:ext>
            </p:extLst>
          </p:nvPr>
        </p:nvGraphicFramePr>
        <p:xfrm>
          <a:off x="2032000" y="1001496"/>
          <a:ext cx="8128000" cy="5303520"/>
        </p:xfrm>
        <a:graphic>
          <a:graphicData uri="http://schemas.openxmlformats.org/drawingml/2006/table">
            <a:tbl>
              <a:tblPr>
                <a:tableStyleId>{5C22544A-7EE6-4342-B048-85BDC9FD1C3A}</a:tableStyleId>
              </a:tblPr>
              <a:tblGrid>
                <a:gridCol w="2032000">
                  <a:extLst>
                    <a:ext uri="{9D8B030D-6E8A-4147-A177-3AD203B41FA5}">
                      <a16:colId xmlns:a16="http://schemas.microsoft.com/office/drawing/2014/main" val="508579262"/>
                    </a:ext>
                  </a:extLst>
                </a:gridCol>
                <a:gridCol w="2032000">
                  <a:extLst>
                    <a:ext uri="{9D8B030D-6E8A-4147-A177-3AD203B41FA5}">
                      <a16:colId xmlns:a16="http://schemas.microsoft.com/office/drawing/2014/main" val="367629685"/>
                    </a:ext>
                  </a:extLst>
                </a:gridCol>
                <a:gridCol w="2032000">
                  <a:extLst>
                    <a:ext uri="{9D8B030D-6E8A-4147-A177-3AD203B41FA5}">
                      <a16:colId xmlns:a16="http://schemas.microsoft.com/office/drawing/2014/main" val="2538823220"/>
                    </a:ext>
                  </a:extLst>
                </a:gridCol>
                <a:gridCol w="2032000">
                  <a:extLst>
                    <a:ext uri="{9D8B030D-6E8A-4147-A177-3AD203B41FA5}">
                      <a16:colId xmlns:a16="http://schemas.microsoft.com/office/drawing/2014/main" val="2430119633"/>
                    </a:ext>
                  </a:extLst>
                </a:gridCol>
              </a:tblGrid>
              <a:tr h="0">
                <a:tc>
                  <a:txBody>
                    <a:bodyPr/>
                    <a:lstStyle/>
                    <a:p>
                      <a:pPr>
                        <a:buNone/>
                      </a:pPr>
                      <a:r>
                        <a:rPr lang="en-IN"/>
                        <a:t>S.No.</a:t>
                      </a:r>
                    </a:p>
                  </a:txBody>
                  <a:tcPr anchor="ctr"/>
                </a:tc>
                <a:tc>
                  <a:txBody>
                    <a:bodyPr/>
                    <a:lstStyle/>
                    <a:p>
                      <a:pPr>
                        <a:buNone/>
                      </a:pPr>
                      <a:r>
                        <a:rPr lang="en-IN"/>
                        <a:t>Assignment</a:t>
                      </a:r>
                    </a:p>
                  </a:txBody>
                  <a:tcPr anchor="ctr"/>
                </a:tc>
                <a:tc>
                  <a:txBody>
                    <a:bodyPr/>
                    <a:lstStyle/>
                    <a:p>
                      <a:pPr>
                        <a:buNone/>
                      </a:pPr>
                      <a:r>
                        <a:rPr lang="en-IN"/>
                        <a:t>Core AI Concept</a:t>
                      </a:r>
                    </a:p>
                  </a:txBody>
                  <a:tcPr anchor="ctr"/>
                </a:tc>
                <a:tc>
                  <a:txBody>
                    <a:bodyPr/>
                    <a:lstStyle/>
                    <a:p>
                      <a:pPr>
                        <a:buNone/>
                      </a:pPr>
                      <a:r>
                        <a:rPr lang="en-IN"/>
                        <a:t>Key Algorithms</a:t>
                      </a:r>
                    </a:p>
                  </a:txBody>
                  <a:tcPr anchor="ctr"/>
                </a:tc>
                <a:extLst>
                  <a:ext uri="{0D108BD9-81ED-4DB2-BD59-A6C34878D82A}">
                    <a16:rowId xmlns:a16="http://schemas.microsoft.com/office/drawing/2014/main" val="647278941"/>
                  </a:ext>
                </a:extLst>
              </a:tr>
              <a:tr h="0">
                <a:tc>
                  <a:txBody>
                    <a:bodyPr/>
                    <a:lstStyle/>
                    <a:p>
                      <a:pPr>
                        <a:buNone/>
                      </a:pPr>
                      <a:r>
                        <a:rPr lang="en-IN"/>
                        <a:t>1</a:t>
                      </a:r>
                    </a:p>
                  </a:txBody>
                  <a:tcPr anchor="ctr"/>
                </a:tc>
                <a:tc>
                  <a:txBody>
                    <a:bodyPr/>
                    <a:lstStyle/>
                    <a:p>
                      <a:pPr>
                        <a:buNone/>
                      </a:pPr>
                      <a:r>
                        <a:rPr lang="en-IN"/>
                        <a:t>Game State Search</a:t>
                      </a:r>
                    </a:p>
                  </a:txBody>
                  <a:tcPr anchor="ctr"/>
                </a:tc>
                <a:tc>
                  <a:txBody>
                    <a:bodyPr/>
                    <a:lstStyle/>
                    <a:p>
                      <a:pPr>
                        <a:buNone/>
                      </a:pPr>
                      <a:r>
                        <a:rPr lang="en-IN"/>
                        <a:t>Heuristic Search</a:t>
                      </a:r>
                    </a:p>
                  </a:txBody>
                  <a:tcPr anchor="ctr"/>
                </a:tc>
                <a:tc>
                  <a:txBody>
                    <a:bodyPr/>
                    <a:lstStyle/>
                    <a:p>
                      <a:pPr>
                        <a:buNone/>
                      </a:pPr>
                      <a:r>
                        <a:rPr lang="en-IN"/>
                        <a:t>Best-First Search (Greedy)</a:t>
                      </a:r>
                    </a:p>
                  </a:txBody>
                  <a:tcPr anchor="ctr"/>
                </a:tc>
                <a:extLst>
                  <a:ext uri="{0D108BD9-81ED-4DB2-BD59-A6C34878D82A}">
                    <a16:rowId xmlns:a16="http://schemas.microsoft.com/office/drawing/2014/main" val="2533869559"/>
                  </a:ext>
                </a:extLst>
              </a:tr>
              <a:tr h="0">
                <a:tc>
                  <a:txBody>
                    <a:bodyPr/>
                    <a:lstStyle/>
                    <a:p>
                      <a:pPr>
                        <a:buNone/>
                      </a:pPr>
                      <a:r>
                        <a:rPr lang="en-IN"/>
                        <a:t>2</a:t>
                      </a:r>
                    </a:p>
                  </a:txBody>
                  <a:tcPr anchor="ctr"/>
                </a:tc>
                <a:tc>
                  <a:txBody>
                    <a:bodyPr/>
                    <a:lstStyle/>
                    <a:p>
                      <a:pPr>
                        <a:buNone/>
                      </a:pPr>
                      <a:r>
                        <a:rPr lang="en-IN"/>
                        <a:t>Association Rule/Data Analysis</a:t>
                      </a:r>
                    </a:p>
                  </a:txBody>
                  <a:tcPr anchor="ctr"/>
                </a:tc>
                <a:tc>
                  <a:txBody>
                    <a:bodyPr/>
                    <a:lstStyle/>
                    <a:p>
                      <a:pPr>
                        <a:buNone/>
                      </a:pPr>
                      <a:r>
                        <a:rPr lang="en-IN"/>
                        <a:t>Data Mining &amp; Graph Theory</a:t>
                      </a:r>
                    </a:p>
                  </a:txBody>
                  <a:tcPr anchor="ctr"/>
                </a:tc>
                <a:tc>
                  <a:txBody>
                    <a:bodyPr/>
                    <a:lstStyle/>
                    <a:p>
                      <a:pPr>
                        <a:buNone/>
                      </a:pPr>
                      <a:r>
                        <a:rPr lang="en-IN"/>
                        <a:t>Transaction Encoding &amp; NetworkX Graph</a:t>
                      </a:r>
                    </a:p>
                  </a:txBody>
                  <a:tcPr anchor="ctr"/>
                </a:tc>
                <a:extLst>
                  <a:ext uri="{0D108BD9-81ED-4DB2-BD59-A6C34878D82A}">
                    <a16:rowId xmlns:a16="http://schemas.microsoft.com/office/drawing/2014/main" val="1727605516"/>
                  </a:ext>
                </a:extLst>
              </a:tr>
              <a:tr h="0">
                <a:tc>
                  <a:txBody>
                    <a:bodyPr/>
                    <a:lstStyle/>
                    <a:p>
                      <a:pPr>
                        <a:buNone/>
                      </a:pPr>
                      <a:r>
                        <a:rPr lang="en-IN"/>
                        <a:t>3</a:t>
                      </a:r>
                    </a:p>
                  </a:txBody>
                  <a:tcPr anchor="ctr"/>
                </a:tc>
                <a:tc>
                  <a:txBody>
                    <a:bodyPr/>
                    <a:lstStyle/>
                    <a:p>
                      <a:pPr>
                        <a:buNone/>
                      </a:pPr>
                      <a:r>
                        <a:rPr lang="en-IN"/>
                        <a:t>Towers of Hanoi</a:t>
                      </a:r>
                    </a:p>
                  </a:txBody>
                  <a:tcPr anchor="ctr"/>
                </a:tc>
                <a:tc>
                  <a:txBody>
                    <a:bodyPr/>
                    <a:lstStyle/>
                    <a:p>
                      <a:pPr>
                        <a:buNone/>
                      </a:pPr>
                      <a:r>
                        <a:rPr lang="en-IN"/>
                        <a:t>Classical Search</a:t>
                      </a:r>
                    </a:p>
                  </a:txBody>
                  <a:tcPr anchor="ctr"/>
                </a:tc>
                <a:tc>
                  <a:txBody>
                    <a:bodyPr/>
                    <a:lstStyle/>
                    <a:p>
                      <a:pPr>
                        <a:buNone/>
                      </a:pPr>
                      <a:r>
                        <a:rPr lang="en-IN"/>
                        <a:t>Recursion, Breadth-First Search (BFS)</a:t>
                      </a:r>
                    </a:p>
                  </a:txBody>
                  <a:tcPr anchor="ctr"/>
                </a:tc>
                <a:extLst>
                  <a:ext uri="{0D108BD9-81ED-4DB2-BD59-A6C34878D82A}">
                    <a16:rowId xmlns:a16="http://schemas.microsoft.com/office/drawing/2014/main" val="2591049410"/>
                  </a:ext>
                </a:extLst>
              </a:tr>
              <a:tr h="0">
                <a:tc>
                  <a:txBody>
                    <a:bodyPr/>
                    <a:lstStyle/>
                    <a:p>
                      <a:pPr>
                        <a:buNone/>
                      </a:pPr>
                      <a:r>
                        <a:rPr lang="en-IN"/>
                        <a:t>4</a:t>
                      </a:r>
                    </a:p>
                  </a:txBody>
                  <a:tcPr anchor="ctr"/>
                </a:tc>
                <a:tc>
                  <a:txBody>
                    <a:bodyPr/>
                    <a:lstStyle/>
                    <a:p>
                      <a:pPr>
                        <a:buNone/>
                      </a:pPr>
                      <a:r>
                        <a:rPr lang="en-IN"/>
                        <a:t>Farmer, Wolf, Goat, Cabbage</a:t>
                      </a:r>
                    </a:p>
                  </a:txBody>
                  <a:tcPr anchor="ctr"/>
                </a:tc>
                <a:tc>
                  <a:txBody>
                    <a:bodyPr/>
                    <a:lstStyle/>
                    <a:p>
                      <a:pPr>
                        <a:buNone/>
                      </a:pPr>
                      <a:r>
                        <a:rPr lang="en-IN"/>
                        <a:t>Uninformed Search</a:t>
                      </a:r>
                    </a:p>
                  </a:txBody>
                  <a:tcPr anchor="ctr"/>
                </a:tc>
                <a:tc>
                  <a:txBody>
                    <a:bodyPr/>
                    <a:lstStyle/>
                    <a:p>
                      <a:pPr>
                        <a:buNone/>
                      </a:pPr>
                      <a:r>
                        <a:rPr lang="en-IN"/>
                        <a:t>DFS, BFS, IDS, UCS, ILS</a:t>
                      </a:r>
                    </a:p>
                  </a:txBody>
                  <a:tcPr anchor="ctr"/>
                </a:tc>
                <a:extLst>
                  <a:ext uri="{0D108BD9-81ED-4DB2-BD59-A6C34878D82A}">
                    <a16:rowId xmlns:a16="http://schemas.microsoft.com/office/drawing/2014/main" val="1771569798"/>
                  </a:ext>
                </a:extLst>
              </a:tr>
              <a:tr h="0">
                <a:tc>
                  <a:txBody>
                    <a:bodyPr/>
                    <a:lstStyle/>
                    <a:p>
                      <a:pPr>
                        <a:buNone/>
                      </a:pPr>
                      <a:r>
                        <a:rPr lang="en-IN"/>
                        <a:t>5</a:t>
                      </a:r>
                    </a:p>
                  </a:txBody>
                  <a:tcPr anchor="ctr"/>
                </a:tc>
                <a:tc>
                  <a:txBody>
                    <a:bodyPr/>
                    <a:lstStyle/>
                    <a:p>
                      <a:pPr>
                        <a:buNone/>
                      </a:pPr>
                      <a:r>
                        <a:rPr lang="en-IN"/>
                        <a:t>Traveling Salesperson Problem (TSP)</a:t>
                      </a:r>
                    </a:p>
                  </a:txBody>
                  <a:tcPr anchor="ctr"/>
                </a:tc>
                <a:tc>
                  <a:txBody>
                    <a:bodyPr/>
                    <a:lstStyle/>
                    <a:p>
                      <a:pPr>
                        <a:buNone/>
                      </a:pPr>
                      <a:r>
                        <a:rPr lang="en-IN"/>
                        <a:t>Heuristic Optimization</a:t>
                      </a:r>
                    </a:p>
                  </a:txBody>
                  <a:tcPr anchor="ctr"/>
                </a:tc>
                <a:tc>
                  <a:txBody>
                    <a:bodyPr/>
                    <a:lstStyle/>
                    <a:p>
                      <a:pPr>
                        <a:buNone/>
                      </a:pPr>
                      <a:r>
                        <a:rPr lang="en-IN"/>
                        <a:t>Hill Climbing, Simulated Annealing</a:t>
                      </a:r>
                    </a:p>
                  </a:txBody>
                  <a:tcPr anchor="ctr"/>
                </a:tc>
                <a:extLst>
                  <a:ext uri="{0D108BD9-81ED-4DB2-BD59-A6C34878D82A}">
                    <a16:rowId xmlns:a16="http://schemas.microsoft.com/office/drawing/2014/main" val="87013634"/>
                  </a:ext>
                </a:extLst>
              </a:tr>
              <a:tr h="0">
                <a:tc>
                  <a:txBody>
                    <a:bodyPr/>
                    <a:lstStyle/>
                    <a:p>
                      <a:pPr>
                        <a:buNone/>
                      </a:pPr>
                      <a:r>
                        <a:rPr lang="en-IN"/>
                        <a:t>6</a:t>
                      </a:r>
                    </a:p>
                  </a:txBody>
                  <a:tcPr anchor="ctr"/>
                </a:tc>
                <a:tc>
                  <a:txBody>
                    <a:bodyPr/>
                    <a:lstStyle/>
                    <a:p>
                      <a:pPr>
                        <a:buNone/>
                      </a:pPr>
                      <a:r>
                        <a:rPr lang="en-IN"/>
                        <a:t>8-Puzzle (N-Puzzle)</a:t>
                      </a:r>
                    </a:p>
                  </a:txBody>
                  <a:tcPr anchor="ctr"/>
                </a:tc>
                <a:tc>
                  <a:txBody>
                    <a:bodyPr/>
                    <a:lstStyle/>
                    <a:p>
                      <a:pPr>
                        <a:buNone/>
                      </a:pPr>
                      <a:r>
                        <a:rPr lang="en-IN"/>
                        <a:t>Iterative Deepening Search</a:t>
                      </a:r>
                    </a:p>
                  </a:txBody>
                  <a:tcPr anchor="ctr"/>
                </a:tc>
                <a:tc>
                  <a:txBody>
                    <a:bodyPr/>
                    <a:lstStyle/>
                    <a:p>
                      <a:pPr>
                        <a:buNone/>
                      </a:pPr>
                      <a:r>
                        <a:rPr lang="en-IN" dirty="0"/>
                        <a:t>DLS, Iterative Deepening Search (IDS)</a:t>
                      </a:r>
                    </a:p>
                  </a:txBody>
                  <a:tcPr anchor="ctr"/>
                </a:tc>
                <a:extLst>
                  <a:ext uri="{0D108BD9-81ED-4DB2-BD59-A6C34878D82A}">
                    <a16:rowId xmlns:a16="http://schemas.microsoft.com/office/drawing/2014/main" val="3100999375"/>
                  </a:ext>
                </a:extLst>
              </a:tr>
            </a:tbl>
          </a:graphicData>
        </a:graphic>
      </p:graphicFrame>
    </p:spTree>
    <p:extLst>
      <p:ext uri="{BB962C8B-B14F-4D97-AF65-F5344CB8AC3E}">
        <p14:creationId xmlns:p14="http://schemas.microsoft.com/office/powerpoint/2010/main" val="5563016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E5440F-4105-C5AE-A353-9F411518ECE9}"/>
              </a:ext>
            </a:extLst>
          </p:cNvPr>
          <p:cNvSpPr>
            <a:spLocks noGrp="1"/>
          </p:cNvSpPr>
          <p:nvPr>
            <p:ph type="title"/>
          </p:nvPr>
        </p:nvSpPr>
        <p:spPr/>
        <p:txBody>
          <a:bodyPr>
            <a:normAutofit/>
          </a:bodyPr>
          <a:lstStyle/>
          <a:p>
            <a:r>
              <a:rPr lang="en-IN" sz="3600" b="1" i="0" u="none" strike="noStrike" dirty="0">
                <a:solidFill>
                  <a:srgbClr val="1B1C1D"/>
                </a:solidFill>
                <a:effectLst/>
                <a:latin typeface="Google Sans"/>
              </a:rPr>
              <a:t>Tic </a:t>
            </a:r>
            <a:r>
              <a:rPr lang="en-IN" sz="3600" b="1" i="0" u="none" strike="noStrike" dirty="0" err="1">
                <a:solidFill>
                  <a:srgbClr val="1B1C1D"/>
                </a:solidFill>
                <a:effectLst/>
                <a:latin typeface="Google Sans"/>
              </a:rPr>
              <a:t>Tac</a:t>
            </a:r>
            <a:r>
              <a:rPr lang="en-IN" sz="3600" b="1" i="0" u="none" strike="noStrike" dirty="0">
                <a:solidFill>
                  <a:srgbClr val="1B1C1D"/>
                </a:solidFill>
                <a:effectLst/>
                <a:latin typeface="Google Sans"/>
              </a:rPr>
              <a:t> Toe: Problem Formulation &amp; State Space</a:t>
            </a:r>
            <a:br>
              <a:rPr lang="en-IN" sz="3600" b="1" dirty="0">
                <a:effectLst/>
              </a:rPr>
            </a:br>
            <a:endParaRPr lang="en-US" sz="3600" dirty="0"/>
          </a:p>
        </p:txBody>
      </p:sp>
      <p:sp>
        <p:nvSpPr>
          <p:cNvPr id="3" name="Content Placeholder 2">
            <a:extLst>
              <a:ext uri="{FF2B5EF4-FFF2-40B4-BE49-F238E27FC236}">
                <a16:creationId xmlns:a16="http://schemas.microsoft.com/office/drawing/2014/main" id="{293BAC04-748C-70F1-755A-F74268FD341A}"/>
              </a:ext>
            </a:extLst>
          </p:cNvPr>
          <p:cNvSpPr>
            <a:spLocks noGrp="1"/>
          </p:cNvSpPr>
          <p:nvPr>
            <p:ph idx="1"/>
          </p:nvPr>
        </p:nvSpPr>
        <p:spPr>
          <a:xfrm>
            <a:off x="581210" y="1123576"/>
            <a:ext cx="11407590" cy="5244587"/>
          </a:xfrm>
        </p:spPr>
        <p:txBody>
          <a:bodyPr>
            <a:normAutofit/>
          </a:bodyPr>
          <a:lstStyle/>
          <a:p>
            <a:pPr marL="0" indent="0">
              <a:buNone/>
            </a:pPr>
            <a:r>
              <a:rPr lang="en-IN" sz="2400" dirty="0"/>
              <a:t>Goal: Find a sequence of moves to transform a Start State into a Goal State on a  grid, following specific placement rules.
Core Concept: Heuristic Search / Pathfinding.</a:t>
            </a:r>
          </a:p>
          <a:p>
            <a:pPr marL="0" indent="0">
              <a:buNone/>
            </a:pPr>
            <a:r>
              <a:rPr lang="en-IN" sz="2400" dirty="0"/>
              <a:t>State Space: A  matrix/list of lists where each cell is ‘x’, ‘o’, or ‘-’. Moves are constrained: a player can only place their piece in an empty cell that matches the desired piece in the Goal State.
Example Start/Goal:
Start: [[‘x’, ‘-’, ‘-’, ‘-’], [‘-’, ‘-’, ‘-’, ‘-’], [‘-’, ‘-’, ‘-’, ‘-’], [‘-’, ‘-’, ‘-’, ‘-’]]
Goal: [[‘x’, ‘o’, ‘o’, ‘x’], [‘x’, ‘-’, ‘-’, ‘-’], [‘-’, ‘-’, ‘-’, ‘-’], [‘-’, ‘-’, ‘-’, ‘-’]]</a:t>
            </a:r>
          </a:p>
        </p:txBody>
      </p:sp>
      <p:graphicFrame>
        <p:nvGraphicFramePr>
          <p:cNvPr id="7" name="Table 6">
            <a:extLst>
              <a:ext uri="{FF2B5EF4-FFF2-40B4-BE49-F238E27FC236}">
                <a16:creationId xmlns:a16="http://schemas.microsoft.com/office/drawing/2014/main" id="{1AB15DCF-1A46-573F-0EDD-FBEC56750C67}"/>
              </a:ext>
            </a:extLst>
          </p:cNvPr>
          <p:cNvGraphicFramePr/>
          <p:nvPr>
            <p:extLst>
              <p:ext uri="{D42A27DB-BD31-4B8C-83A1-F6EECF244321}">
                <p14:modId xmlns:p14="http://schemas.microsoft.com/office/powerpoint/2010/main" val="879833517"/>
              </p:ext>
            </p:extLst>
          </p:nvPr>
        </p:nvGraphicFramePr>
        <p:xfrm>
          <a:off x="662490" y="4987556"/>
          <a:ext cx="6267826" cy="1517767"/>
        </p:xfrm>
        <a:graphic>
          <a:graphicData uri="http://schemas.openxmlformats.org/drawingml/2006/table">
            <a:tbl>
              <a:tblPr>
                <a:tableStyleId>{5C22544A-7EE6-4342-B048-85BDC9FD1C3A}</a:tableStyleId>
              </a:tblPr>
              <a:tblGrid>
                <a:gridCol w="3133913">
                  <a:extLst>
                    <a:ext uri="{9D8B030D-6E8A-4147-A177-3AD203B41FA5}">
                      <a16:colId xmlns:a16="http://schemas.microsoft.com/office/drawing/2014/main" val="2050311291"/>
                    </a:ext>
                  </a:extLst>
                </a:gridCol>
                <a:gridCol w="3133913">
                  <a:extLst>
                    <a:ext uri="{9D8B030D-6E8A-4147-A177-3AD203B41FA5}">
                      <a16:colId xmlns:a16="http://schemas.microsoft.com/office/drawing/2014/main" val="141191704"/>
                    </a:ext>
                  </a:extLst>
                </a:gridCol>
              </a:tblGrid>
              <a:tr h="420487">
                <a:tc>
                  <a:txBody>
                    <a:bodyPr/>
                    <a:lstStyle/>
                    <a:p>
                      <a:pPr rtl="0" fontAlgn="t">
                        <a:spcBef>
                          <a:spcPts val="600"/>
                        </a:spcBef>
                        <a:spcAft>
                          <a:spcPts val="600"/>
                        </a:spcAft>
                        <a:buNone/>
                      </a:pPr>
                      <a:r>
                        <a:rPr lang="en-IN" sz="1400" u="none" strike="noStrike" dirty="0">
                          <a:effectLst/>
                        </a:rPr>
                        <a:t>Element</a:t>
                      </a:r>
                      <a:endParaRPr lang="en-IN" sz="1400" dirty="0">
                        <a:effectLst/>
                      </a:endParaRPr>
                    </a:p>
                  </a:txBody>
                  <a:tcPr marL="114300" marR="114300" marT="76200" marB="76200"/>
                </a:tc>
                <a:tc>
                  <a:txBody>
                    <a:bodyPr/>
                    <a:lstStyle/>
                    <a:p>
                      <a:pPr rtl="0" fontAlgn="t">
                        <a:spcBef>
                          <a:spcPts val="600"/>
                        </a:spcBef>
                        <a:spcAft>
                          <a:spcPts val="600"/>
                        </a:spcAft>
                        <a:buNone/>
                      </a:pPr>
                      <a:r>
                        <a:rPr lang="en-IN" sz="1400" u="none" strike="noStrike" dirty="0">
                          <a:effectLst/>
                        </a:rPr>
                        <a:t>Representation</a:t>
                      </a:r>
                      <a:endParaRPr lang="en-IN" sz="1400" dirty="0">
                        <a:effectLst/>
                      </a:endParaRPr>
                    </a:p>
                  </a:txBody>
                  <a:tcPr marL="114300" marR="114300" marT="76200" marB="76200"/>
                </a:tc>
                <a:extLst>
                  <a:ext uri="{0D108BD9-81ED-4DB2-BD59-A6C34878D82A}">
                    <a16:rowId xmlns:a16="http://schemas.microsoft.com/office/drawing/2014/main" val="623787721"/>
                  </a:ext>
                </a:extLst>
              </a:tr>
              <a:tr h="301692">
                <a:tc>
                  <a:txBody>
                    <a:bodyPr/>
                    <a:lstStyle/>
                    <a:p>
                      <a:pPr rtl="0" fontAlgn="t">
                        <a:spcBef>
                          <a:spcPts val="600"/>
                        </a:spcBef>
                        <a:spcAft>
                          <a:spcPts val="600"/>
                        </a:spcAft>
                        <a:buNone/>
                      </a:pPr>
                      <a:r>
                        <a:rPr lang="en-IN" sz="1400" u="none" strike="noStrike" dirty="0">
                          <a:effectLst/>
                        </a:rPr>
                        <a:t>Cross (X)</a:t>
                      </a:r>
                      <a:endParaRPr lang="en-IN" sz="1400" dirty="0">
                        <a:effectLst/>
                      </a:endParaRPr>
                    </a:p>
                  </a:txBody>
                  <a:tcPr marL="114300" marR="114300" marT="76200" marB="76200"/>
                </a:tc>
                <a:tc>
                  <a:txBody>
                    <a:bodyPr/>
                    <a:lstStyle/>
                    <a:p>
                      <a:pPr rtl="0" fontAlgn="t">
                        <a:spcBef>
                          <a:spcPts val="600"/>
                        </a:spcBef>
                        <a:spcAft>
                          <a:spcPts val="600"/>
                        </a:spcAft>
                        <a:buNone/>
                      </a:pPr>
                      <a:r>
                        <a:rPr lang="en-IN" sz="1400" u="none" strike="noStrike">
                          <a:effectLst/>
                        </a:rPr>
                        <a:t>x</a:t>
                      </a:r>
                      <a:endParaRPr lang="en-IN" sz="1400">
                        <a:effectLst/>
                      </a:endParaRPr>
                    </a:p>
                  </a:txBody>
                  <a:tcPr marL="114300" marR="114300" marT="76200" marB="76200"/>
                </a:tc>
                <a:extLst>
                  <a:ext uri="{0D108BD9-81ED-4DB2-BD59-A6C34878D82A}">
                    <a16:rowId xmlns:a16="http://schemas.microsoft.com/office/drawing/2014/main" val="2971759462"/>
                  </a:ext>
                </a:extLst>
              </a:tr>
              <a:tr h="301692">
                <a:tc>
                  <a:txBody>
                    <a:bodyPr/>
                    <a:lstStyle/>
                    <a:p>
                      <a:pPr rtl="0" fontAlgn="t">
                        <a:spcBef>
                          <a:spcPts val="600"/>
                        </a:spcBef>
                        <a:spcAft>
                          <a:spcPts val="600"/>
                        </a:spcAft>
                        <a:buNone/>
                      </a:pPr>
                      <a:r>
                        <a:rPr lang="en-IN" sz="1400" u="none" strike="noStrike">
                          <a:effectLst/>
                        </a:rPr>
                        <a:t>Circle (O)</a:t>
                      </a:r>
                      <a:endParaRPr lang="en-IN" sz="1400">
                        <a:effectLst/>
                      </a:endParaRPr>
                    </a:p>
                  </a:txBody>
                  <a:tcPr marL="114300" marR="114300" marT="76200" marB="76200"/>
                </a:tc>
                <a:tc>
                  <a:txBody>
                    <a:bodyPr/>
                    <a:lstStyle/>
                    <a:p>
                      <a:pPr rtl="0" fontAlgn="t">
                        <a:spcBef>
                          <a:spcPts val="600"/>
                        </a:spcBef>
                        <a:spcAft>
                          <a:spcPts val="600"/>
                        </a:spcAft>
                        <a:buNone/>
                      </a:pPr>
                      <a:r>
                        <a:rPr lang="en-IN" sz="1400" u="none" strike="noStrike" dirty="0">
                          <a:effectLst/>
                        </a:rPr>
                        <a:t>o</a:t>
                      </a:r>
                      <a:endParaRPr lang="en-IN" sz="1400" dirty="0">
                        <a:effectLst/>
                      </a:endParaRPr>
                    </a:p>
                  </a:txBody>
                  <a:tcPr marL="114300" marR="114300" marT="76200" marB="76200"/>
                </a:tc>
                <a:extLst>
                  <a:ext uri="{0D108BD9-81ED-4DB2-BD59-A6C34878D82A}">
                    <a16:rowId xmlns:a16="http://schemas.microsoft.com/office/drawing/2014/main" val="472739205"/>
                  </a:ext>
                </a:extLst>
              </a:tr>
              <a:tr h="301692">
                <a:tc>
                  <a:txBody>
                    <a:bodyPr/>
                    <a:lstStyle/>
                    <a:p>
                      <a:pPr rtl="0" fontAlgn="t">
                        <a:spcBef>
                          <a:spcPts val="600"/>
                        </a:spcBef>
                        <a:spcAft>
                          <a:spcPts val="600"/>
                        </a:spcAft>
                        <a:buNone/>
                      </a:pPr>
                      <a:r>
                        <a:rPr lang="en-IN" sz="1400" u="none" strike="noStrike" dirty="0">
                          <a:effectLst/>
                        </a:rPr>
                        <a:t>Empty</a:t>
                      </a:r>
                      <a:endParaRPr lang="en-IN" sz="1400" dirty="0">
                        <a:effectLst/>
                      </a:endParaRPr>
                    </a:p>
                  </a:txBody>
                  <a:tcPr marL="114300" marR="114300" marT="76200" marB="76200"/>
                </a:tc>
                <a:tc>
                  <a:txBody>
                    <a:bodyPr/>
                    <a:lstStyle/>
                    <a:p>
                      <a:pPr rtl="0" fontAlgn="t">
                        <a:spcBef>
                          <a:spcPts val="600"/>
                        </a:spcBef>
                        <a:spcAft>
                          <a:spcPts val="600"/>
                        </a:spcAft>
                        <a:buNone/>
                      </a:pPr>
                      <a:r>
                        <a:rPr lang="en-IN" sz="1400" u="none" strike="noStrike" dirty="0">
                          <a:effectLst/>
                        </a:rPr>
                        <a:t>-- or ''</a:t>
                      </a:r>
                      <a:endParaRPr lang="en-IN" sz="1400" dirty="0">
                        <a:effectLst/>
                      </a:endParaRPr>
                    </a:p>
                  </a:txBody>
                  <a:tcPr marL="114300" marR="114300" marT="76200" marB="76200"/>
                </a:tc>
                <a:extLst>
                  <a:ext uri="{0D108BD9-81ED-4DB2-BD59-A6C34878D82A}">
                    <a16:rowId xmlns:a16="http://schemas.microsoft.com/office/drawing/2014/main" val="2282078097"/>
                  </a:ext>
                </a:extLst>
              </a:tr>
            </a:tbl>
          </a:graphicData>
        </a:graphic>
      </p:graphicFrame>
    </p:spTree>
    <p:extLst>
      <p:ext uri="{BB962C8B-B14F-4D97-AF65-F5344CB8AC3E}">
        <p14:creationId xmlns:p14="http://schemas.microsoft.com/office/powerpoint/2010/main" val="7039299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C7304A-FE79-62FD-4CAE-630B9689178B}"/>
              </a:ext>
            </a:extLst>
          </p:cNvPr>
          <p:cNvSpPr>
            <a:spLocks noGrp="1"/>
          </p:cNvSpPr>
          <p:nvPr>
            <p:ph type="title"/>
          </p:nvPr>
        </p:nvSpPr>
        <p:spPr>
          <a:xfrm>
            <a:off x="838200" y="365125"/>
            <a:ext cx="10515600" cy="961651"/>
          </a:xfrm>
        </p:spPr>
        <p:txBody>
          <a:bodyPr>
            <a:normAutofit/>
          </a:bodyPr>
          <a:lstStyle/>
          <a:p>
            <a:pPr rtl="0"/>
            <a:r>
              <a:rPr lang="en-IN" sz="3600" b="1" i="0" u="none" strike="noStrike" dirty="0">
                <a:solidFill>
                  <a:srgbClr val="1B1C1D"/>
                </a:solidFill>
                <a:effectLst/>
                <a:latin typeface="Google Sans"/>
              </a:rPr>
              <a:t>Best-First Search (Greedy) Algorithm</a:t>
            </a:r>
            <a:endParaRPr lang="en-IN" sz="3600" b="1" dirty="0">
              <a:effectLst/>
            </a:endParaRPr>
          </a:p>
        </p:txBody>
      </p:sp>
      <p:sp>
        <p:nvSpPr>
          <p:cNvPr id="3" name="Content Placeholder 2">
            <a:extLst>
              <a:ext uri="{FF2B5EF4-FFF2-40B4-BE49-F238E27FC236}">
                <a16:creationId xmlns:a16="http://schemas.microsoft.com/office/drawing/2014/main" id="{B50B5774-CBE7-B0DE-2C76-52A4C6407167}"/>
              </a:ext>
            </a:extLst>
          </p:cNvPr>
          <p:cNvSpPr>
            <a:spLocks noGrp="1"/>
          </p:cNvSpPr>
          <p:nvPr>
            <p:ph idx="1"/>
          </p:nvPr>
        </p:nvSpPr>
        <p:spPr>
          <a:xfrm>
            <a:off x="838200" y="1326777"/>
            <a:ext cx="10515600" cy="3241956"/>
          </a:xfrm>
        </p:spPr>
        <p:txBody>
          <a:bodyPr/>
          <a:lstStyle/>
          <a:p>
            <a:pPr rtl="0"/>
            <a:r>
              <a:rPr lang="en-IN" sz="1400" b="0" i="0" u="none" strike="noStrike" dirty="0">
                <a:solidFill>
                  <a:srgbClr val="1B1C1D"/>
                </a:solidFill>
                <a:effectLst/>
                <a:latin typeface="Google Sans Text"/>
              </a:rPr>
              <a:t>The problem is solved using </a:t>
            </a:r>
            <a:r>
              <a:rPr lang="en-IN" sz="1400" b="1" i="0" u="none" strike="noStrike" dirty="0">
                <a:solidFill>
                  <a:srgbClr val="1B1C1D"/>
                </a:solidFill>
                <a:effectLst/>
                <a:latin typeface="Google Sans Text"/>
              </a:rPr>
              <a:t>Greedy Best-First Search (GBFS)</a:t>
            </a:r>
            <a:r>
              <a:rPr lang="en-IN" sz="1400" b="0" i="0" u="none" strike="noStrike" dirty="0">
                <a:solidFill>
                  <a:srgbClr val="1B1C1D"/>
                </a:solidFill>
                <a:effectLst/>
                <a:latin typeface="Google Sans Text"/>
              </a:rPr>
              <a:t>, where the search is guided entirely by the </a:t>
            </a:r>
            <a:r>
              <a:rPr lang="en-IN" sz="1400" b="1" i="0" u="none" strike="noStrike" dirty="0">
                <a:solidFill>
                  <a:srgbClr val="1B1C1D"/>
                </a:solidFill>
                <a:effectLst/>
                <a:latin typeface="Google Sans Text"/>
              </a:rPr>
              <a:t>Heuristic Function </a:t>
            </a:r>
            <a:r>
              <a:rPr lang="en-IN" sz="1400" b="0" i="0" u="none" strike="noStrike" dirty="0">
                <a:solidFill>
                  <a:srgbClr val="1B1C1D"/>
                </a:solidFill>
                <a:effectLst/>
                <a:latin typeface="Google Sans Text"/>
              </a:rPr>
              <a:t>.</a:t>
            </a:r>
            <a:endParaRPr lang="en-IN" sz="1400" dirty="0">
              <a:effectLst/>
            </a:endParaRPr>
          </a:p>
          <a:p>
            <a:pPr rtl="0"/>
            <a:r>
              <a:rPr lang="en-IN" sz="1400" b="1" i="0" u="none" strike="noStrike" dirty="0">
                <a:solidFill>
                  <a:srgbClr val="1B1C1D"/>
                </a:solidFill>
                <a:effectLst/>
                <a:latin typeface="Google Sans Text"/>
              </a:rPr>
              <a:t>GBFS Steps:</a:t>
            </a:r>
            <a:endParaRPr lang="en-IN" sz="1400" dirty="0">
              <a:effectLst/>
            </a:endParaRPr>
          </a:p>
          <a:p>
            <a:pPr rtl="0" fontAlgn="base"/>
            <a:r>
              <a:rPr lang="en-IN" sz="1400" b="0" i="0" u="none" strike="noStrike" dirty="0">
                <a:solidFill>
                  <a:srgbClr val="1B1C1D"/>
                </a:solidFill>
                <a:effectLst/>
                <a:latin typeface="Google Sans Text"/>
              </a:rPr>
              <a:t>Initialize a </a:t>
            </a:r>
            <a:r>
              <a:rPr lang="en-IN" sz="1400" b="1" i="0" u="none" strike="noStrike" dirty="0">
                <a:solidFill>
                  <a:srgbClr val="1B1C1D"/>
                </a:solidFill>
                <a:effectLst/>
                <a:latin typeface="Google Sans Text"/>
              </a:rPr>
              <a:t>Priority Queue (PQ)</a:t>
            </a:r>
            <a:r>
              <a:rPr lang="en-IN" sz="1400" b="0" i="0" u="none" strike="noStrike" dirty="0">
                <a:solidFill>
                  <a:srgbClr val="1B1C1D"/>
                </a:solidFill>
                <a:effectLst/>
                <a:latin typeface="Google Sans Text"/>
              </a:rPr>
              <a:t> with the start state, using its  value as the priority.</a:t>
            </a:r>
            <a:endParaRPr lang="en-IN" sz="1400" b="0" i="0" u="none" strike="noStrike" dirty="0">
              <a:solidFill>
                <a:srgbClr val="000000"/>
              </a:solidFill>
              <a:effectLst/>
              <a:latin typeface="Arial" panose="020B0604020202020204" pitchFamily="34" charset="0"/>
            </a:endParaRPr>
          </a:p>
          <a:p>
            <a:pPr rtl="0" fontAlgn="base"/>
            <a:r>
              <a:rPr lang="en-IN" sz="1400" b="0" i="0" u="none" strike="noStrike" dirty="0">
                <a:solidFill>
                  <a:srgbClr val="1B1C1D"/>
                </a:solidFill>
                <a:effectLst/>
                <a:latin typeface="Google Sans Text"/>
              </a:rPr>
              <a:t>Maintain a </a:t>
            </a:r>
            <a:r>
              <a:rPr lang="en-IN" sz="1400" b="1" i="0" u="none" strike="noStrike" dirty="0">
                <a:solidFill>
                  <a:srgbClr val="1B1C1D"/>
                </a:solidFill>
                <a:effectLst/>
                <a:latin typeface="Google Sans Text"/>
              </a:rPr>
              <a:t>Visited Set</a:t>
            </a:r>
            <a:r>
              <a:rPr lang="en-IN" sz="1400" b="0" i="0" u="none" strike="noStrike" dirty="0">
                <a:solidFill>
                  <a:srgbClr val="1B1C1D"/>
                </a:solidFill>
                <a:effectLst/>
                <a:latin typeface="Google Sans Text"/>
              </a:rPr>
              <a:t> to prevent loops.</a:t>
            </a:r>
            <a:endParaRPr lang="en-IN" sz="1400" b="0" i="0" u="none" strike="noStrike" dirty="0">
              <a:solidFill>
                <a:srgbClr val="000000"/>
              </a:solidFill>
              <a:effectLst/>
              <a:latin typeface="Arial" panose="020B0604020202020204" pitchFamily="34" charset="0"/>
            </a:endParaRPr>
          </a:p>
          <a:p>
            <a:pPr rtl="0" fontAlgn="base"/>
            <a:r>
              <a:rPr lang="en-IN" sz="1400" b="0" i="0" u="none" strike="noStrike" dirty="0">
                <a:solidFill>
                  <a:srgbClr val="1B1C1D"/>
                </a:solidFill>
                <a:effectLst/>
                <a:latin typeface="Google Sans Text"/>
              </a:rPr>
              <a:t>While the PQ is not empty:</a:t>
            </a:r>
            <a:endParaRPr lang="en-IN" sz="1400" b="0" i="0" u="none" strike="noStrike" dirty="0">
              <a:solidFill>
                <a:srgbClr val="000000"/>
              </a:solidFill>
              <a:effectLst/>
              <a:latin typeface="Arial" panose="020B0604020202020204" pitchFamily="34" charset="0"/>
            </a:endParaRPr>
          </a:p>
          <a:p>
            <a:pPr rtl="0" fontAlgn="base"/>
            <a:r>
              <a:rPr lang="en-IN" sz="1400" b="0" i="0" u="none" strike="noStrike" dirty="0">
                <a:solidFill>
                  <a:srgbClr val="1B1C1D"/>
                </a:solidFill>
                <a:effectLst/>
                <a:latin typeface="Google Sans Text"/>
              </a:rPr>
              <a:t>Pop the state with the </a:t>
            </a:r>
            <a:r>
              <a:rPr lang="en-IN" sz="1400" b="1" i="0" u="none" strike="noStrike" dirty="0">
                <a:solidFill>
                  <a:srgbClr val="1B1C1D"/>
                </a:solidFill>
                <a:effectLst/>
                <a:latin typeface="Google Sans Text"/>
              </a:rPr>
              <a:t>lowest </a:t>
            </a:r>
            <a:r>
              <a:rPr lang="en-IN" sz="1400" b="0" i="0" u="none" strike="noStrike" dirty="0">
                <a:solidFill>
                  <a:srgbClr val="1B1C1D"/>
                </a:solidFill>
                <a:effectLst/>
                <a:latin typeface="Google Sans Text"/>
              </a:rPr>
              <a:t>.</a:t>
            </a:r>
            <a:endParaRPr lang="en-IN" sz="1400" b="0" i="0" u="none" strike="noStrike" dirty="0">
              <a:solidFill>
                <a:srgbClr val="000000"/>
              </a:solidFill>
              <a:effectLst/>
              <a:latin typeface="Arial" panose="020B0604020202020204" pitchFamily="34" charset="0"/>
            </a:endParaRPr>
          </a:p>
          <a:p>
            <a:pPr rtl="0" fontAlgn="base"/>
            <a:r>
              <a:rPr lang="en-IN" sz="1400" b="0" i="0" u="none" strike="noStrike" dirty="0">
                <a:solidFill>
                  <a:srgbClr val="1B1C1D"/>
                </a:solidFill>
                <a:effectLst/>
                <a:latin typeface="Google Sans Text"/>
              </a:rPr>
              <a:t>If the state is the </a:t>
            </a:r>
            <a:r>
              <a:rPr lang="en-IN" sz="1400" b="1" i="0" u="none" strike="noStrike" dirty="0">
                <a:solidFill>
                  <a:srgbClr val="1B1C1D"/>
                </a:solidFill>
                <a:effectLst/>
                <a:latin typeface="Google Sans Text"/>
              </a:rPr>
              <a:t>Goal State</a:t>
            </a:r>
            <a:r>
              <a:rPr lang="en-IN" sz="1400" b="0" i="0" u="none" strike="noStrike" dirty="0">
                <a:solidFill>
                  <a:srgbClr val="1B1C1D"/>
                </a:solidFill>
                <a:effectLst/>
                <a:latin typeface="Google Sans Text"/>
              </a:rPr>
              <a:t>, return the path.</a:t>
            </a:r>
            <a:endParaRPr lang="en-IN" sz="1400" b="0" i="0" u="none" strike="noStrike" dirty="0">
              <a:solidFill>
                <a:srgbClr val="000000"/>
              </a:solidFill>
              <a:effectLst/>
              <a:latin typeface="Arial" panose="020B0604020202020204" pitchFamily="34" charset="0"/>
            </a:endParaRPr>
          </a:p>
          <a:p>
            <a:pPr rtl="0" fontAlgn="base"/>
            <a:r>
              <a:rPr lang="en-IN" sz="1400" b="0" i="0" u="none" strike="noStrike" dirty="0">
                <a:solidFill>
                  <a:srgbClr val="1B1C1D"/>
                </a:solidFill>
                <a:effectLst/>
                <a:latin typeface="Google Sans Text"/>
              </a:rPr>
              <a:t>Generate all </a:t>
            </a:r>
            <a:r>
              <a:rPr lang="en-IN" sz="1400" b="1" i="0" u="none" strike="noStrike" dirty="0">
                <a:solidFill>
                  <a:srgbClr val="1B1C1D"/>
                </a:solidFill>
                <a:effectLst/>
                <a:latin typeface="Google Sans Text"/>
              </a:rPr>
              <a:t>next possible moves</a:t>
            </a:r>
            <a:r>
              <a:rPr lang="en-IN" sz="1400" b="0" i="0" u="none" strike="noStrike" dirty="0">
                <a:solidFill>
                  <a:srgbClr val="1B1C1D"/>
                </a:solidFill>
                <a:effectLst/>
                <a:latin typeface="Google Sans Text"/>
              </a:rPr>
              <a:t> (</a:t>
            </a:r>
            <a:r>
              <a:rPr lang="en-IN" sz="1400" b="0" i="0" u="none" strike="noStrike" dirty="0" err="1">
                <a:solidFill>
                  <a:srgbClr val="1B1C1D"/>
                </a:solidFill>
                <a:effectLst/>
                <a:latin typeface="Google Sans Text"/>
              </a:rPr>
              <a:t>neighbors</a:t>
            </a:r>
            <a:r>
              <a:rPr lang="en-IN" sz="1400" b="0" i="0" u="none" strike="noStrike" dirty="0">
                <a:solidFill>
                  <a:srgbClr val="1B1C1D"/>
                </a:solidFill>
                <a:effectLst/>
                <a:latin typeface="Google Sans Text"/>
              </a:rPr>
              <a:t>) by placing the next piece ('x' or 'o') in a valid empty cell that matches the goal.</a:t>
            </a:r>
            <a:endParaRPr lang="en-IN" sz="1400" b="0" i="0" u="none" strike="noStrike" dirty="0">
              <a:solidFill>
                <a:srgbClr val="000000"/>
              </a:solidFill>
              <a:effectLst/>
              <a:latin typeface="Arial" panose="020B0604020202020204" pitchFamily="34" charset="0"/>
            </a:endParaRPr>
          </a:p>
          <a:p>
            <a:pPr rtl="0" fontAlgn="base"/>
            <a:r>
              <a:rPr lang="en-IN" sz="1400" b="0" i="0" u="none" strike="noStrike" dirty="0">
                <a:solidFill>
                  <a:srgbClr val="1B1C1D"/>
                </a:solidFill>
                <a:effectLst/>
                <a:latin typeface="Google Sans Text"/>
              </a:rPr>
              <a:t>For each new </a:t>
            </a:r>
            <a:r>
              <a:rPr lang="en-IN" sz="1400" b="0" i="0" u="none" strike="noStrike" dirty="0" err="1">
                <a:solidFill>
                  <a:srgbClr val="1B1C1D"/>
                </a:solidFill>
                <a:effectLst/>
                <a:latin typeface="Google Sans Text"/>
              </a:rPr>
              <a:t>neighbor</a:t>
            </a:r>
            <a:r>
              <a:rPr lang="en-IN" sz="1400" b="0" i="0" u="none" strike="noStrike" dirty="0">
                <a:solidFill>
                  <a:srgbClr val="1B1C1D"/>
                </a:solidFill>
                <a:effectLst/>
                <a:latin typeface="Google Sans Text"/>
              </a:rPr>
              <a:t>, calculate  and push the </a:t>
            </a:r>
            <a:r>
              <a:rPr lang="en-IN" sz="1400" b="0" i="0" u="none" strike="noStrike" dirty="0" err="1">
                <a:solidFill>
                  <a:srgbClr val="1B1C1D"/>
                </a:solidFill>
                <a:effectLst/>
                <a:latin typeface="Google Sans Text"/>
              </a:rPr>
              <a:t>neighbor</a:t>
            </a:r>
            <a:r>
              <a:rPr lang="en-IN" sz="1400" b="0" i="0" u="none" strike="noStrike" dirty="0">
                <a:solidFill>
                  <a:srgbClr val="1B1C1D"/>
                </a:solidFill>
                <a:effectLst/>
                <a:latin typeface="Google Sans Text"/>
              </a:rPr>
              <a:t> onto the PQ if it hasn't been visited.</a:t>
            </a:r>
            <a:endParaRPr lang="en-IN" sz="1400" b="0" i="0" u="none" strike="noStrike" dirty="0">
              <a:solidFill>
                <a:srgbClr val="000000"/>
              </a:solidFill>
              <a:effectLst/>
              <a:latin typeface="Arial" panose="020B0604020202020204" pitchFamily="34" charset="0"/>
            </a:endParaRPr>
          </a:p>
          <a:p>
            <a:pPr rtl="0"/>
            <a:r>
              <a:rPr lang="en-IN" sz="1400" b="0" i="0" u="none" strike="noStrike" dirty="0">
                <a:solidFill>
                  <a:srgbClr val="000000"/>
                </a:solidFill>
                <a:effectLst/>
                <a:latin typeface="Google Sans Text"/>
              </a:rPr>
              <a:t>Key Step: Heuristic Function h(</a:t>
            </a:r>
            <a:r>
              <a:rPr lang="en-IN" sz="1400" b="0" i="0" u="none" strike="noStrike" dirty="0" err="1">
                <a:solidFill>
                  <a:srgbClr val="000000"/>
                </a:solidFill>
                <a:effectLst/>
                <a:latin typeface="Google Sans Text"/>
              </a:rPr>
              <a:t>curr,goal</a:t>
            </a:r>
            <a:r>
              <a:rPr lang="en-IN" sz="1400" b="0" i="0" u="none" strike="noStrike" dirty="0">
                <a:solidFill>
                  <a:srgbClr val="000000"/>
                </a:solidFill>
                <a:effectLst/>
                <a:latin typeface="Google Sans Text"/>
              </a:rPr>
              <a:t>)</a:t>
            </a:r>
            <a:r>
              <a:rPr lang="en-IN" sz="1400" dirty="0"/>
              <a:t> ---- </a:t>
            </a:r>
            <a:r>
              <a:rPr lang="en-IN" sz="1400" b="0" i="0" u="none" strike="noStrike" dirty="0">
                <a:solidFill>
                  <a:srgbClr val="000000"/>
                </a:solidFill>
                <a:effectLst/>
                <a:latin typeface="Google Sans Text"/>
              </a:rPr>
              <a:t>h(n) estimates the cost to reach the goal, prioritizing states closer to the target configuration</a:t>
            </a:r>
          </a:p>
          <a:p>
            <a:pPr rtl="0"/>
            <a:endParaRPr lang="en-IN" dirty="0">
              <a:effectLst/>
            </a:endParaRPr>
          </a:p>
          <a:p>
            <a:pPr marL="0" indent="0">
              <a:buNone/>
            </a:pPr>
            <a:endParaRPr lang="en-US" dirty="0"/>
          </a:p>
        </p:txBody>
      </p:sp>
      <p:graphicFrame>
        <p:nvGraphicFramePr>
          <p:cNvPr id="5" name="Table 4">
            <a:extLst>
              <a:ext uri="{FF2B5EF4-FFF2-40B4-BE49-F238E27FC236}">
                <a16:creationId xmlns:a16="http://schemas.microsoft.com/office/drawing/2014/main" id="{3AEFF258-7B98-37E7-290D-FCDBA9C92AA9}"/>
              </a:ext>
            </a:extLst>
          </p:cNvPr>
          <p:cNvGraphicFramePr/>
          <p:nvPr>
            <p:extLst>
              <p:ext uri="{D42A27DB-BD31-4B8C-83A1-F6EECF244321}">
                <p14:modId xmlns:p14="http://schemas.microsoft.com/office/powerpoint/2010/main" val="2033541949"/>
              </p:ext>
            </p:extLst>
          </p:nvPr>
        </p:nvGraphicFramePr>
        <p:xfrm>
          <a:off x="1031418" y="4568732"/>
          <a:ext cx="7706182" cy="1705790"/>
        </p:xfrm>
        <a:graphic>
          <a:graphicData uri="http://schemas.openxmlformats.org/drawingml/2006/table">
            <a:tbl>
              <a:tblPr>
                <a:tableStyleId>{5C22544A-7EE6-4342-B048-85BDC9FD1C3A}</a:tableStyleId>
              </a:tblPr>
              <a:tblGrid>
                <a:gridCol w="5153104">
                  <a:extLst>
                    <a:ext uri="{9D8B030D-6E8A-4147-A177-3AD203B41FA5}">
                      <a16:colId xmlns:a16="http://schemas.microsoft.com/office/drawing/2014/main" val="3909166966"/>
                    </a:ext>
                  </a:extLst>
                </a:gridCol>
                <a:gridCol w="2553078">
                  <a:extLst>
                    <a:ext uri="{9D8B030D-6E8A-4147-A177-3AD203B41FA5}">
                      <a16:colId xmlns:a16="http://schemas.microsoft.com/office/drawing/2014/main" val="1838712033"/>
                    </a:ext>
                  </a:extLst>
                </a:gridCol>
              </a:tblGrid>
              <a:tr h="0">
                <a:tc>
                  <a:txBody>
                    <a:bodyPr/>
                    <a:lstStyle/>
                    <a:p>
                      <a:pPr rtl="0" fontAlgn="t">
                        <a:spcBef>
                          <a:spcPts val="600"/>
                        </a:spcBef>
                        <a:spcAft>
                          <a:spcPts val="600"/>
                        </a:spcAft>
                        <a:buNone/>
                      </a:pPr>
                      <a:r>
                        <a:rPr lang="en-IN" sz="1400" u="none" strike="noStrike" dirty="0">
                          <a:effectLst/>
                        </a:rPr>
                        <a:t>Condition</a:t>
                      </a:r>
                      <a:endParaRPr lang="en-IN" sz="1400" dirty="0">
                        <a:effectLst/>
                      </a:endParaRPr>
                    </a:p>
                  </a:txBody>
                  <a:tcPr marL="95849" marR="95849" marT="63899" marB="63899"/>
                </a:tc>
                <a:tc>
                  <a:txBody>
                    <a:bodyPr/>
                    <a:lstStyle/>
                    <a:p>
                      <a:pPr rtl="0" fontAlgn="t">
                        <a:spcBef>
                          <a:spcPts val="600"/>
                        </a:spcBef>
                        <a:spcAft>
                          <a:spcPts val="600"/>
                        </a:spcAft>
                        <a:buNone/>
                      </a:pPr>
                      <a:r>
                        <a:rPr lang="en-IN" sz="1400" u="none" strike="noStrike">
                          <a:effectLst/>
                        </a:rPr>
                        <a:t>Penalty to </a:t>
                      </a:r>
                      <a:endParaRPr lang="en-IN" sz="1400">
                        <a:effectLst/>
                      </a:endParaRPr>
                    </a:p>
                  </a:txBody>
                  <a:tcPr marL="95849" marR="95849" marT="63899" marB="63899"/>
                </a:tc>
                <a:extLst>
                  <a:ext uri="{0D108BD9-81ED-4DB2-BD59-A6C34878D82A}">
                    <a16:rowId xmlns:a16="http://schemas.microsoft.com/office/drawing/2014/main" val="2183081377"/>
                  </a:ext>
                </a:extLst>
              </a:tr>
              <a:tr h="0">
                <a:tc>
                  <a:txBody>
                    <a:bodyPr/>
                    <a:lstStyle/>
                    <a:p>
                      <a:pPr rtl="0" fontAlgn="t">
                        <a:spcBef>
                          <a:spcPts val="600"/>
                        </a:spcBef>
                        <a:spcAft>
                          <a:spcPts val="600"/>
                        </a:spcAft>
                        <a:buNone/>
                      </a:pPr>
                      <a:r>
                        <a:rPr lang="en-IN" sz="1400" u="none" strike="noStrike" dirty="0">
                          <a:effectLst/>
                        </a:rPr>
                        <a:t>Current state matches Goal state</a:t>
                      </a:r>
                      <a:endParaRPr lang="en-IN" sz="1400" dirty="0">
                        <a:effectLst/>
                      </a:endParaRPr>
                    </a:p>
                  </a:txBody>
                  <a:tcPr marL="95849" marR="95849" marT="63899" marB="63899"/>
                </a:tc>
                <a:tc>
                  <a:txBody>
                    <a:bodyPr/>
                    <a:lstStyle/>
                    <a:p>
                      <a:pPr rtl="0" fontAlgn="t">
                        <a:spcBef>
                          <a:spcPts val="600"/>
                        </a:spcBef>
                        <a:spcAft>
                          <a:spcPts val="600"/>
                        </a:spcAft>
                        <a:buNone/>
                      </a:pPr>
                      <a:r>
                        <a:rPr lang="en-IN" sz="1400" u="none" strike="noStrike" dirty="0">
                          <a:effectLst/>
                        </a:rPr>
                        <a:t>0</a:t>
                      </a:r>
                      <a:endParaRPr lang="en-IN" sz="1400" dirty="0">
                        <a:effectLst/>
                      </a:endParaRPr>
                    </a:p>
                  </a:txBody>
                  <a:tcPr marL="95849" marR="95849" marT="63899" marB="63899"/>
                </a:tc>
                <a:extLst>
                  <a:ext uri="{0D108BD9-81ED-4DB2-BD59-A6C34878D82A}">
                    <a16:rowId xmlns:a16="http://schemas.microsoft.com/office/drawing/2014/main" val="3326389955"/>
                  </a:ext>
                </a:extLst>
              </a:tr>
              <a:tr h="272165">
                <a:tc>
                  <a:txBody>
                    <a:bodyPr/>
                    <a:lstStyle/>
                    <a:p>
                      <a:pPr rtl="0" fontAlgn="t">
                        <a:spcBef>
                          <a:spcPts val="600"/>
                        </a:spcBef>
                        <a:spcAft>
                          <a:spcPts val="600"/>
                        </a:spcAft>
                        <a:buNone/>
                      </a:pPr>
                      <a:r>
                        <a:rPr lang="en-IN" sz="1400" u="none" strike="noStrike" dirty="0">
                          <a:effectLst/>
                        </a:rPr>
                        <a:t>Placed a piece in a cell that should be empty (g == '-' and c != '-')</a:t>
                      </a:r>
                      <a:endParaRPr lang="en-IN" sz="1400" dirty="0">
                        <a:effectLst/>
                      </a:endParaRPr>
                    </a:p>
                  </a:txBody>
                  <a:tcPr marL="95849" marR="95849" marT="63899" marB="63899"/>
                </a:tc>
                <a:tc>
                  <a:txBody>
                    <a:bodyPr/>
                    <a:lstStyle/>
                    <a:p>
                      <a:pPr rtl="0" fontAlgn="t">
                        <a:spcBef>
                          <a:spcPts val="600"/>
                        </a:spcBef>
                        <a:spcAft>
                          <a:spcPts val="600"/>
                        </a:spcAft>
                        <a:buNone/>
                      </a:pPr>
                      <a:r>
                        <a:rPr lang="en-IN" sz="1400" u="none" strike="noStrike">
                          <a:effectLst/>
                        </a:rPr>
                        <a:t>100 (Large)</a:t>
                      </a:r>
                      <a:endParaRPr lang="en-IN" sz="1400">
                        <a:effectLst/>
                      </a:endParaRPr>
                    </a:p>
                  </a:txBody>
                  <a:tcPr marL="95849" marR="95849" marT="63899" marB="63899"/>
                </a:tc>
                <a:extLst>
                  <a:ext uri="{0D108BD9-81ED-4DB2-BD59-A6C34878D82A}">
                    <a16:rowId xmlns:a16="http://schemas.microsoft.com/office/drawing/2014/main" val="1435537008"/>
                  </a:ext>
                </a:extLst>
              </a:tr>
              <a:tr h="247217">
                <a:tc>
                  <a:txBody>
                    <a:bodyPr/>
                    <a:lstStyle/>
                    <a:p>
                      <a:pPr rtl="0" fontAlgn="t">
                        <a:spcBef>
                          <a:spcPts val="600"/>
                        </a:spcBef>
                        <a:spcAft>
                          <a:spcPts val="600"/>
                        </a:spcAft>
                        <a:buNone/>
                      </a:pPr>
                      <a:r>
                        <a:rPr lang="en-IN" sz="1400" u="none" strike="noStrike">
                          <a:effectLst/>
                        </a:rPr>
                        <a:t>Cell should be filled but is empty (g != '-' and c == '-')</a:t>
                      </a:r>
                      <a:endParaRPr lang="en-IN" sz="1400">
                        <a:effectLst/>
                      </a:endParaRPr>
                    </a:p>
                  </a:txBody>
                  <a:tcPr marL="95849" marR="95849" marT="63899" marB="63899"/>
                </a:tc>
                <a:tc>
                  <a:txBody>
                    <a:bodyPr/>
                    <a:lstStyle/>
                    <a:p>
                      <a:pPr rtl="0" fontAlgn="t">
                        <a:spcBef>
                          <a:spcPts val="600"/>
                        </a:spcBef>
                        <a:spcAft>
                          <a:spcPts val="600"/>
                        </a:spcAft>
                        <a:buNone/>
                      </a:pPr>
                      <a:r>
                        <a:rPr lang="en-IN" sz="1400" u="none" strike="noStrike">
                          <a:effectLst/>
                        </a:rPr>
                        <a:t>1 (Small)</a:t>
                      </a:r>
                      <a:endParaRPr lang="en-IN" sz="1400">
                        <a:effectLst/>
                      </a:endParaRPr>
                    </a:p>
                  </a:txBody>
                  <a:tcPr marL="95849" marR="95849" marT="63899" marB="63899"/>
                </a:tc>
                <a:extLst>
                  <a:ext uri="{0D108BD9-81ED-4DB2-BD59-A6C34878D82A}">
                    <a16:rowId xmlns:a16="http://schemas.microsoft.com/office/drawing/2014/main" val="1028910340"/>
                  </a:ext>
                </a:extLst>
              </a:tr>
              <a:tr h="222269">
                <a:tc>
                  <a:txBody>
                    <a:bodyPr/>
                    <a:lstStyle/>
                    <a:p>
                      <a:pPr rtl="0" fontAlgn="t">
                        <a:spcBef>
                          <a:spcPts val="600"/>
                        </a:spcBef>
                        <a:spcAft>
                          <a:spcPts val="600"/>
                        </a:spcAft>
                        <a:buNone/>
                      </a:pPr>
                      <a:r>
                        <a:rPr lang="en-IN" sz="1400" u="none" strike="noStrike">
                          <a:effectLst/>
                        </a:rPr>
                        <a:t>Mismatch (Wrong piece placed) (g != '-' and c != g)</a:t>
                      </a:r>
                      <a:endParaRPr lang="en-IN" sz="1400">
                        <a:effectLst/>
                      </a:endParaRPr>
                    </a:p>
                  </a:txBody>
                  <a:tcPr marL="95849" marR="95849" marT="63899" marB="63899"/>
                </a:tc>
                <a:tc>
                  <a:txBody>
                    <a:bodyPr/>
                    <a:lstStyle/>
                    <a:p>
                      <a:pPr rtl="0" fontAlgn="t">
                        <a:spcBef>
                          <a:spcPts val="600"/>
                        </a:spcBef>
                        <a:spcAft>
                          <a:spcPts val="600"/>
                        </a:spcAft>
                        <a:buNone/>
                      </a:pPr>
                      <a:r>
                        <a:rPr lang="en-IN" sz="1400" u="none" strike="noStrike" dirty="0">
                          <a:effectLst/>
                        </a:rPr>
                        <a:t>100 (Large)</a:t>
                      </a:r>
                      <a:endParaRPr lang="en-IN" sz="1400" dirty="0">
                        <a:effectLst/>
                      </a:endParaRPr>
                    </a:p>
                  </a:txBody>
                  <a:tcPr marL="95849" marR="95849" marT="63899" marB="63899"/>
                </a:tc>
                <a:extLst>
                  <a:ext uri="{0D108BD9-81ED-4DB2-BD59-A6C34878D82A}">
                    <a16:rowId xmlns:a16="http://schemas.microsoft.com/office/drawing/2014/main" val="874293176"/>
                  </a:ext>
                </a:extLst>
              </a:tr>
            </a:tbl>
          </a:graphicData>
        </a:graphic>
      </p:graphicFrame>
    </p:spTree>
    <p:extLst>
      <p:ext uri="{BB962C8B-B14F-4D97-AF65-F5344CB8AC3E}">
        <p14:creationId xmlns:p14="http://schemas.microsoft.com/office/powerpoint/2010/main" val="31218742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5D9DD-0C83-0E6D-D6EF-6245F2BC4637}"/>
              </a:ext>
            </a:extLst>
          </p:cNvPr>
          <p:cNvSpPr>
            <a:spLocks noGrp="1"/>
          </p:cNvSpPr>
          <p:nvPr>
            <p:ph type="title"/>
          </p:nvPr>
        </p:nvSpPr>
        <p:spPr>
          <a:xfrm>
            <a:off x="838200" y="428064"/>
            <a:ext cx="10515600" cy="1325563"/>
          </a:xfrm>
        </p:spPr>
        <p:txBody>
          <a:bodyPr/>
          <a:lstStyle/>
          <a:p>
            <a:r>
              <a:rPr lang="en-IN" sz="3600" b="1" i="0" u="none" strike="noStrike" dirty="0">
                <a:solidFill>
                  <a:srgbClr val="1B1C1D"/>
                </a:solidFill>
                <a:effectLst/>
                <a:latin typeface="Google Sans"/>
              </a:rPr>
              <a:t>Code Snippets &amp; Implementation Details</a:t>
            </a:r>
            <a:br>
              <a:rPr lang="en-IN" b="1" dirty="0">
                <a:effectLst/>
              </a:rPr>
            </a:br>
            <a:endParaRPr lang="en-US" dirty="0"/>
          </a:p>
        </p:txBody>
      </p:sp>
      <p:sp>
        <p:nvSpPr>
          <p:cNvPr id="3" name="Content Placeholder 2">
            <a:extLst>
              <a:ext uri="{FF2B5EF4-FFF2-40B4-BE49-F238E27FC236}">
                <a16:creationId xmlns:a16="http://schemas.microsoft.com/office/drawing/2014/main" id="{254BFC59-E641-77E1-5E21-70935795AFFE}"/>
              </a:ext>
            </a:extLst>
          </p:cNvPr>
          <p:cNvSpPr>
            <a:spLocks noGrp="1"/>
          </p:cNvSpPr>
          <p:nvPr>
            <p:ph idx="1"/>
          </p:nvPr>
        </p:nvSpPr>
        <p:spPr>
          <a:xfrm>
            <a:off x="561789" y="1377577"/>
            <a:ext cx="5376343" cy="606890"/>
          </a:xfrm>
        </p:spPr>
        <p:txBody>
          <a:bodyPr>
            <a:normAutofit/>
          </a:bodyPr>
          <a:lstStyle/>
          <a:p>
            <a:pPr marL="0" indent="0">
              <a:buNone/>
            </a:pPr>
            <a:r>
              <a:rPr lang="en-IN" sz="1800" dirty="0"/>
              <a:t>Next Possible Move Generation:</a:t>
            </a:r>
            <a:endParaRPr lang="en-US" sz="1800" dirty="0"/>
          </a:p>
        </p:txBody>
      </p:sp>
      <p:sp>
        <p:nvSpPr>
          <p:cNvPr id="4" name="TextBox 3">
            <a:extLst>
              <a:ext uri="{FF2B5EF4-FFF2-40B4-BE49-F238E27FC236}">
                <a16:creationId xmlns:a16="http://schemas.microsoft.com/office/drawing/2014/main" id="{A70D7372-F948-6A52-5DAE-38228CBCB547}"/>
              </a:ext>
            </a:extLst>
          </p:cNvPr>
          <p:cNvSpPr txBox="1"/>
          <p:nvPr/>
        </p:nvSpPr>
        <p:spPr>
          <a:xfrm>
            <a:off x="6635183" y="1377577"/>
            <a:ext cx="4803588" cy="369332"/>
          </a:xfrm>
          <a:prstGeom prst="rect">
            <a:avLst/>
          </a:prstGeom>
          <a:noFill/>
        </p:spPr>
        <p:txBody>
          <a:bodyPr wrap="square" rtlCol="0">
            <a:spAutoFit/>
          </a:bodyPr>
          <a:lstStyle/>
          <a:p>
            <a:r>
              <a:rPr lang="en-IN" dirty="0"/>
              <a:t>Heuristic Function (Key Logic):</a:t>
            </a:r>
            <a:endParaRPr lang="en-US" dirty="0"/>
          </a:p>
        </p:txBody>
      </p:sp>
      <p:pic>
        <p:nvPicPr>
          <p:cNvPr id="8" name="Picture 7">
            <a:extLst>
              <a:ext uri="{FF2B5EF4-FFF2-40B4-BE49-F238E27FC236}">
                <a16:creationId xmlns:a16="http://schemas.microsoft.com/office/drawing/2014/main" id="{62329B70-3312-8E65-EC03-96C118B64CCD}"/>
              </a:ext>
            </a:extLst>
          </p:cNvPr>
          <p:cNvPicPr>
            <a:picLocks noChangeAspect="1"/>
          </p:cNvPicPr>
          <p:nvPr/>
        </p:nvPicPr>
        <p:blipFill>
          <a:blip r:embed="rId2">
            <a:extLst>
              <a:ext uri="{28A0092B-C50C-407E-A947-70E740481C1C}">
                <a14:useLocalDpi xmlns:a14="http://schemas.microsoft.com/office/drawing/2010/main" val="0"/>
              </a:ext>
            </a:extLst>
          </a:blip>
          <a:srcRect l="5900" t="9704" r="5502" b="9704"/>
          <a:stretch>
            <a:fillRect/>
          </a:stretch>
        </p:blipFill>
        <p:spPr>
          <a:xfrm>
            <a:off x="561789" y="2118426"/>
            <a:ext cx="5376343" cy="3014025"/>
          </a:xfrm>
          <a:prstGeom prst="rect">
            <a:avLst/>
          </a:prstGeom>
        </p:spPr>
      </p:pic>
      <p:pic>
        <p:nvPicPr>
          <p:cNvPr id="10" name="Picture 9">
            <a:extLst>
              <a:ext uri="{FF2B5EF4-FFF2-40B4-BE49-F238E27FC236}">
                <a16:creationId xmlns:a16="http://schemas.microsoft.com/office/drawing/2014/main" id="{64D690B1-DEEF-7CC2-6526-D447F808BF1A}"/>
              </a:ext>
            </a:extLst>
          </p:cNvPr>
          <p:cNvPicPr>
            <a:picLocks noChangeAspect="1"/>
          </p:cNvPicPr>
          <p:nvPr/>
        </p:nvPicPr>
        <p:blipFill>
          <a:blip r:embed="rId3">
            <a:extLst>
              <a:ext uri="{28A0092B-C50C-407E-A947-70E740481C1C}">
                <a14:useLocalDpi xmlns:a14="http://schemas.microsoft.com/office/drawing/2010/main" val="0"/>
              </a:ext>
            </a:extLst>
          </a:blip>
          <a:srcRect l="6455" t="7556" r="6865" b="7556"/>
          <a:stretch>
            <a:fillRect/>
          </a:stretch>
        </p:blipFill>
        <p:spPr>
          <a:xfrm>
            <a:off x="6717763" y="1984467"/>
            <a:ext cx="4983868" cy="4497254"/>
          </a:xfrm>
          <a:prstGeom prst="rect">
            <a:avLst/>
          </a:prstGeom>
        </p:spPr>
      </p:pic>
    </p:spTree>
    <p:extLst>
      <p:ext uri="{BB962C8B-B14F-4D97-AF65-F5344CB8AC3E}">
        <p14:creationId xmlns:p14="http://schemas.microsoft.com/office/powerpoint/2010/main" val="16479959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778F1-AC04-8DE9-0907-0103DA938FAD}"/>
              </a:ext>
            </a:extLst>
          </p:cNvPr>
          <p:cNvSpPr>
            <a:spLocks noGrp="1"/>
          </p:cNvSpPr>
          <p:nvPr>
            <p:ph type="title"/>
          </p:nvPr>
        </p:nvSpPr>
        <p:spPr>
          <a:xfrm>
            <a:off x="838200" y="366320"/>
            <a:ext cx="10515600" cy="674781"/>
          </a:xfrm>
        </p:spPr>
        <p:txBody>
          <a:bodyPr>
            <a:normAutofit/>
          </a:bodyPr>
          <a:lstStyle/>
          <a:p>
            <a:r>
              <a:rPr lang="en-IN" sz="3600" b="1" dirty="0"/>
              <a:t>Input and Output</a:t>
            </a:r>
            <a:endParaRPr lang="en-US" sz="3600" b="1" dirty="0"/>
          </a:p>
        </p:txBody>
      </p:sp>
      <p:sp>
        <p:nvSpPr>
          <p:cNvPr id="3" name="Content Placeholder 2">
            <a:extLst>
              <a:ext uri="{FF2B5EF4-FFF2-40B4-BE49-F238E27FC236}">
                <a16:creationId xmlns:a16="http://schemas.microsoft.com/office/drawing/2014/main" id="{406F06CF-004F-3B36-B4C4-42150B88A510}"/>
              </a:ext>
            </a:extLst>
          </p:cNvPr>
          <p:cNvSpPr>
            <a:spLocks noGrp="1"/>
          </p:cNvSpPr>
          <p:nvPr>
            <p:ph idx="1"/>
          </p:nvPr>
        </p:nvSpPr>
        <p:spPr>
          <a:xfrm>
            <a:off x="838200" y="1183341"/>
            <a:ext cx="10515600" cy="4858685"/>
          </a:xfrm>
        </p:spPr>
        <p:txBody>
          <a:bodyPr/>
          <a:lstStyle/>
          <a:p>
            <a:pPr marL="0" indent="0" rtl="0">
              <a:buNone/>
            </a:pPr>
            <a:r>
              <a:rPr lang="en-IN" sz="1800" b="0" i="0" u="none" strike="noStrike" dirty="0">
                <a:solidFill>
                  <a:srgbClr val="000000"/>
                </a:solidFill>
                <a:effectLst/>
                <a:latin typeface="Google Sans Text"/>
              </a:rPr>
              <a:t>Output/Solution Path</a:t>
            </a:r>
            <a:endParaRPr lang="en-IN" dirty="0">
              <a:effectLst/>
            </a:endParaRPr>
          </a:p>
          <a:p>
            <a:pPr marL="0" indent="0" rtl="0">
              <a:buNone/>
            </a:pPr>
            <a:r>
              <a:rPr lang="en-IN" sz="1800" b="0" i="0" u="none" strike="noStrike" dirty="0">
                <a:solidFill>
                  <a:srgbClr val="000000"/>
                </a:solidFill>
                <a:effectLst/>
                <a:latin typeface="Google Sans Text"/>
              </a:rPr>
              <a:t>The output shows the sequence of states found by GBFS, the heuristic value of the previous state, the action taken, and the piece placed.</a:t>
            </a:r>
            <a:br>
              <a:rPr lang="en-IN" dirty="0"/>
            </a:br>
            <a:r>
              <a:rPr lang="en-IN" sz="1800" b="0" i="0" u="none" strike="noStrike" dirty="0">
                <a:solidFill>
                  <a:srgbClr val="1B1C1D"/>
                </a:solidFill>
                <a:effectLst/>
                <a:latin typeface="Google Sans Text"/>
              </a:rPr>
              <a:t>[([['x', '-', '-', '-'], ['-', '-', '-', '-'], ['-', '-', '-', '-'], ['-', '-', '-', '-']]), </a:t>
            </a:r>
            <a:br>
              <a:rPr lang="en-IN" sz="1800" b="0" i="0" u="none" strike="noStrike" dirty="0">
                <a:solidFill>
                  <a:srgbClr val="1B1C1D"/>
                </a:solidFill>
                <a:effectLst/>
                <a:latin typeface="Google Sans Text"/>
              </a:rPr>
            </a:br>
            <a:r>
              <a:rPr lang="en-IN" sz="1800" b="0" i="0" u="none" strike="noStrike" dirty="0">
                <a:solidFill>
                  <a:srgbClr val="1B1C1D"/>
                </a:solidFill>
                <a:effectLst/>
                <a:latin typeface="Google Sans Text"/>
              </a:rPr>
              <a:t>([['x', '-', 'o', '-'], ['-', '-', '-', '-'], ['-', '-', '-', '-'], ['-', '-', '-', '-']]), </a:t>
            </a:r>
            <a:br>
              <a:rPr lang="en-IN" sz="1800" b="0" i="0" u="none" strike="noStrike" dirty="0">
                <a:solidFill>
                  <a:srgbClr val="1B1C1D"/>
                </a:solidFill>
                <a:effectLst/>
                <a:latin typeface="Google Sans Text"/>
              </a:rPr>
            </a:br>
            <a:r>
              <a:rPr lang="en-IN" sz="1800" b="0" i="0" u="none" strike="noStrike" dirty="0">
                <a:solidFill>
                  <a:srgbClr val="1B1C1D"/>
                </a:solidFill>
                <a:effectLst/>
                <a:latin typeface="Google Sans Text"/>
              </a:rPr>
              <a:t>([['x', '-', 'o', '-'], ['x', '-', '-', '-'], ['-', '-', '-', '-'], ['-', '-', '-', '-']]), </a:t>
            </a:r>
            <a:br>
              <a:rPr lang="en-IN" sz="1800" b="0" i="0" u="none" strike="noStrike" dirty="0">
                <a:solidFill>
                  <a:srgbClr val="1B1C1D"/>
                </a:solidFill>
                <a:effectLst/>
                <a:latin typeface="Google Sans Text"/>
              </a:rPr>
            </a:br>
            <a:r>
              <a:rPr lang="en-IN" sz="1800" b="0" i="0" u="none" strike="noStrike" dirty="0">
                <a:solidFill>
                  <a:srgbClr val="1B1C1D"/>
                </a:solidFill>
                <a:effectLst/>
                <a:latin typeface="Google Sans Text"/>
              </a:rPr>
              <a:t>([['x', 'o', 'o', '-'], ['x', '-', '-', '-'], ['-', '-', '-', '-'], ['-', '-', '-', '-']]), </a:t>
            </a:r>
            <a:br>
              <a:rPr lang="en-IN" sz="1800" b="0" i="0" u="none" strike="noStrike" dirty="0">
                <a:solidFill>
                  <a:srgbClr val="1B1C1D"/>
                </a:solidFill>
                <a:effectLst/>
                <a:latin typeface="Google Sans Text"/>
              </a:rPr>
            </a:br>
            <a:r>
              <a:rPr lang="en-IN" sz="1800" b="0" i="0" u="none" strike="noStrike" dirty="0">
                <a:solidFill>
                  <a:srgbClr val="1B1C1D"/>
                </a:solidFill>
                <a:effectLst/>
                <a:latin typeface="Google Sans Text"/>
              </a:rPr>
              <a:t>([['x', 'o', 'o', 'x'], ['x', '-', '-', '-'], ['-', '-', '-', '-'], ['-', '-', '-', '-']])]</a:t>
            </a:r>
          </a:p>
          <a:p>
            <a:pPr rtl="0"/>
            <a:endParaRPr lang="en-IN" sz="1800" dirty="0">
              <a:solidFill>
                <a:srgbClr val="1B1C1D"/>
              </a:solidFill>
              <a:latin typeface="Google Sans Text"/>
            </a:endParaRPr>
          </a:p>
          <a:p>
            <a:pPr rtl="0"/>
            <a:endParaRPr lang="en-US" dirty="0"/>
          </a:p>
        </p:txBody>
      </p:sp>
      <p:graphicFrame>
        <p:nvGraphicFramePr>
          <p:cNvPr id="9" name="Table 8">
            <a:extLst>
              <a:ext uri="{FF2B5EF4-FFF2-40B4-BE49-F238E27FC236}">
                <a16:creationId xmlns:a16="http://schemas.microsoft.com/office/drawing/2014/main" id="{4AADB115-2F4C-0EA0-EBAC-F790AE80B589}"/>
              </a:ext>
            </a:extLst>
          </p:cNvPr>
          <p:cNvGraphicFramePr/>
          <p:nvPr>
            <p:extLst>
              <p:ext uri="{D42A27DB-BD31-4B8C-83A1-F6EECF244321}">
                <p14:modId xmlns:p14="http://schemas.microsoft.com/office/powerpoint/2010/main" val="1752023799"/>
              </p:ext>
            </p:extLst>
          </p:nvPr>
        </p:nvGraphicFramePr>
        <p:xfrm>
          <a:off x="838200" y="3633695"/>
          <a:ext cx="10515600" cy="2104832"/>
        </p:xfrm>
        <a:graphic>
          <a:graphicData uri="http://schemas.openxmlformats.org/drawingml/2006/table">
            <a:tbl>
              <a:tblPr>
                <a:tableStyleId>{5C22544A-7EE6-4342-B048-85BDC9FD1C3A}</a:tableStyleId>
              </a:tblPr>
              <a:tblGrid>
                <a:gridCol w="5257800">
                  <a:extLst>
                    <a:ext uri="{9D8B030D-6E8A-4147-A177-3AD203B41FA5}">
                      <a16:colId xmlns:a16="http://schemas.microsoft.com/office/drawing/2014/main" val="1296325534"/>
                    </a:ext>
                  </a:extLst>
                </a:gridCol>
                <a:gridCol w="5257800">
                  <a:extLst>
                    <a:ext uri="{9D8B030D-6E8A-4147-A177-3AD203B41FA5}">
                      <a16:colId xmlns:a16="http://schemas.microsoft.com/office/drawing/2014/main" val="1082342872"/>
                    </a:ext>
                  </a:extLst>
                </a:gridCol>
              </a:tblGrid>
              <a:tr h="427576">
                <a:tc>
                  <a:txBody>
                    <a:bodyPr/>
                    <a:lstStyle/>
                    <a:p>
                      <a:pPr rtl="0" fontAlgn="t">
                        <a:spcBef>
                          <a:spcPts val="600"/>
                        </a:spcBef>
                        <a:spcAft>
                          <a:spcPts val="600"/>
                        </a:spcAft>
                        <a:buNone/>
                      </a:pPr>
                      <a:r>
                        <a:rPr lang="en-IN" sz="1800" u="none" strike="noStrike" dirty="0">
                          <a:effectLst/>
                        </a:rPr>
                        <a:t>Start State</a:t>
                      </a:r>
                      <a:endParaRPr lang="en-IN" sz="1800" dirty="0">
                        <a:effectLst/>
                      </a:endParaRPr>
                    </a:p>
                  </a:txBody>
                  <a:tcPr marL="114300" marR="114300" marT="76200" marB="76200"/>
                </a:tc>
                <a:tc>
                  <a:txBody>
                    <a:bodyPr/>
                    <a:lstStyle/>
                    <a:p>
                      <a:pPr rtl="0" fontAlgn="t">
                        <a:spcBef>
                          <a:spcPts val="600"/>
                        </a:spcBef>
                        <a:spcAft>
                          <a:spcPts val="600"/>
                        </a:spcAft>
                        <a:buNone/>
                      </a:pPr>
                      <a:r>
                        <a:rPr lang="en-IN" sz="1800" u="none" strike="noStrike" dirty="0">
                          <a:effectLst/>
                        </a:rPr>
                        <a:t>Goal State</a:t>
                      </a:r>
                      <a:endParaRPr lang="en-IN" sz="1800" dirty="0">
                        <a:effectLst/>
                      </a:endParaRPr>
                    </a:p>
                  </a:txBody>
                  <a:tcPr marL="114300" marR="114300" marT="76200" marB="76200"/>
                </a:tc>
                <a:extLst>
                  <a:ext uri="{0D108BD9-81ED-4DB2-BD59-A6C34878D82A}">
                    <a16:rowId xmlns:a16="http://schemas.microsoft.com/office/drawing/2014/main" val="2354042616"/>
                  </a:ext>
                </a:extLst>
              </a:tr>
              <a:tr h="427576">
                <a:tc>
                  <a:txBody>
                    <a:bodyPr/>
                    <a:lstStyle/>
                    <a:p>
                      <a:pPr rtl="0" fontAlgn="t">
                        <a:spcBef>
                          <a:spcPts val="600"/>
                        </a:spcBef>
                        <a:spcAft>
                          <a:spcPts val="600"/>
                        </a:spcAft>
                        <a:buNone/>
                      </a:pPr>
                      <a:r>
                        <a:rPr lang="en-IN" sz="1800" u="none" strike="noStrike" dirty="0">
                          <a:effectLst/>
                        </a:rPr>
                        <a:t>[['x', '-', '-', '-'], ['-', '-', '-', '-'], ['-', '-', '-', '-'], ['-', '-', '-', '-']]</a:t>
                      </a:r>
                      <a:endParaRPr lang="en-IN" sz="1800" dirty="0">
                        <a:effectLst/>
                      </a:endParaRPr>
                    </a:p>
                  </a:txBody>
                  <a:tcPr marL="114300" marR="114300" marT="76200" marB="76200"/>
                </a:tc>
                <a:tc>
                  <a:txBody>
                    <a:bodyPr/>
                    <a:lstStyle/>
                    <a:p>
                      <a:pPr rtl="0" fontAlgn="t">
                        <a:spcBef>
                          <a:spcPts val="600"/>
                        </a:spcBef>
                        <a:spcAft>
                          <a:spcPts val="600"/>
                        </a:spcAft>
                        <a:buNone/>
                      </a:pPr>
                      <a:r>
                        <a:rPr lang="en-IN" sz="1800" u="none" strike="noStrike" dirty="0">
                          <a:effectLst/>
                        </a:rPr>
                        <a:t>[['x', 'o', 'o', 'x'], ['x', '-', '-', '-'], ['-', '-', '-', '-'], ['-', '-', '-', '-']]</a:t>
                      </a:r>
                      <a:endParaRPr lang="en-IN" sz="1800" dirty="0">
                        <a:effectLst/>
                      </a:endParaRPr>
                    </a:p>
                  </a:txBody>
                  <a:tcPr marL="114300" marR="114300" marT="76200" marB="76200"/>
                </a:tc>
                <a:extLst>
                  <a:ext uri="{0D108BD9-81ED-4DB2-BD59-A6C34878D82A}">
                    <a16:rowId xmlns:a16="http://schemas.microsoft.com/office/drawing/2014/main" val="2610082715"/>
                  </a:ext>
                </a:extLst>
              </a:tr>
              <a:tr h="936595">
                <a:tc>
                  <a:txBody>
                    <a:bodyPr/>
                    <a:lstStyle/>
                    <a:p>
                      <a:pPr rtl="0" fontAlgn="t">
                        <a:spcBef>
                          <a:spcPts val="600"/>
                        </a:spcBef>
                        <a:spcAft>
                          <a:spcPts val="600"/>
                        </a:spcAft>
                        <a:buNone/>
                      </a:pPr>
                      <a:r>
                        <a:rPr lang="en-IN" sz="1800" u="none" strike="noStrike" dirty="0">
                          <a:effectLst/>
                        </a:rPr>
                        <a:t>Note: The problem code uses  but the heuristic function is defined for . The executed output is for the  size initialized by n=4 and a valid start/goal based on file reading.</a:t>
                      </a:r>
                      <a:endParaRPr lang="en-IN" sz="1800" dirty="0">
                        <a:effectLst/>
                      </a:endParaRPr>
                    </a:p>
                  </a:txBody>
                  <a:tcPr marL="114300" marR="114300" marT="76200" marB="76200"/>
                </a:tc>
                <a:tc>
                  <a:txBody>
                    <a:bodyPr/>
                    <a:lstStyle/>
                    <a:p>
                      <a:pPr fontAlgn="t">
                        <a:buNone/>
                      </a:pPr>
                      <a:br>
                        <a:rPr lang="en-IN" sz="1800" dirty="0">
                          <a:effectLst/>
                        </a:rPr>
                      </a:br>
                      <a:endParaRPr lang="en-IN" sz="1800" dirty="0">
                        <a:effectLst/>
                      </a:endParaRPr>
                    </a:p>
                  </a:txBody>
                  <a:tcPr marL="114300" marR="114300" marT="76200" marB="76200"/>
                </a:tc>
                <a:extLst>
                  <a:ext uri="{0D108BD9-81ED-4DB2-BD59-A6C34878D82A}">
                    <a16:rowId xmlns:a16="http://schemas.microsoft.com/office/drawing/2014/main" val="490220140"/>
                  </a:ext>
                </a:extLst>
              </a:tr>
            </a:tbl>
          </a:graphicData>
        </a:graphic>
      </p:graphicFrame>
    </p:spTree>
    <p:extLst>
      <p:ext uri="{BB962C8B-B14F-4D97-AF65-F5344CB8AC3E}">
        <p14:creationId xmlns:p14="http://schemas.microsoft.com/office/powerpoint/2010/main" val="19755160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7B7391-3FB3-DDEB-8CDC-DB97E5AF44ED}"/>
              </a:ext>
            </a:extLst>
          </p:cNvPr>
          <p:cNvSpPr>
            <a:spLocks noGrp="1"/>
          </p:cNvSpPr>
          <p:nvPr>
            <p:ph type="title"/>
          </p:nvPr>
        </p:nvSpPr>
        <p:spPr/>
        <p:txBody>
          <a:bodyPr>
            <a:normAutofit/>
          </a:bodyPr>
          <a:lstStyle/>
          <a:p>
            <a:r>
              <a:rPr lang="en-IN" sz="3600" b="1" dirty="0"/>
              <a:t>Analysis &amp; Conclusion</a:t>
            </a:r>
            <a:endParaRPr lang="en-US" sz="3600" b="1" dirty="0"/>
          </a:p>
        </p:txBody>
      </p:sp>
      <p:sp>
        <p:nvSpPr>
          <p:cNvPr id="3" name="Content Placeholder 2">
            <a:extLst>
              <a:ext uri="{FF2B5EF4-FFF2-40B4-BE49-F238E27FC236}">
                <a16:creationId xmlns:a16="http://schemas.microsoft.com/office/drawing/2014/main" id="{4C9C57E7-03CE-6E7A-2DF0-AE7712EE446F}"/>
              </a:ext>
            </a:extLst>
          </p:cNvPr>
          <p:cNvSpPr>
            <a:spLocks noGrp="1"/>
          </p:cNvSpPr>
          <p:nvPr>
            <p:ph idx="1"/>
          </p:nvPr>
        </p:nvSpPr>
        <p:spPr>
          <a:xfrm>
            <a:off x="838200" y="1690688"/>
            <a:ext cx="6787776" cy="4351338"/>
          </a:xfrm>
        </p:spPr>
        <p:txBody>
          <a:bodyPr/>
          <a:lstStyle/>
          <a:p>
            <a:pPr rtl="0" fontAlgn="base"/>
            <a:r>
              <a:rPr lang="en-IN" sz="1800" b="1" i="0" u="none" strike="noStrike" dirty="0">
                <a:solidFill>
                  <a:srgbClr val="1B1C1D"/>
                </a:solidFill>
                <a:effectLst/>
                <a:latin typeface="Google Sans Text"/>
              </a:rPr>
              <a:t>Algorithm Suitability:</a:t>
            </a:r>
            <a:r>
              <a:rPr lang="en-IN" sz="1800" b="0" i="0" u="none" strike="noStrike" dirty="0">
                <a:solidFill>
                  <a:srgbClr val="1B1C1D"/>
                </a:solidFill>
                <a:effectLst/>
                <a:latin typeface="Google Sans Text"/>
              </a:rPr>
              <a:t> </a:t>
            </a:r>
            <a:r>
              <a:rPr lang="en-IN" sz="1800" b="1" i="0" u="none" strike="noStrike" dirty="0">
                <a:solidFill>
                  <a:srgbClr val="1B1C1D"/>
                </a:solidFill>
                <a:effectLst/>
                <a:latin typeface="Google Sans Text"/>
              </a:rPr>
              <a:t>Best-First Search (Greedy)</a:t>
            </a:r>
            <a:r>
              <a:rPr lang="en-IN" sz="1800" b="0" i="0" u="none" strike="noStrike" dirty="0">
                <a:solidFill>
                  <a:srgbClr val="1B1C1D"/>
                </a:solidFill>
                <a:effectLst/>
                <a:latin typeface="Google Sans Text"/>
              </a:rPr>
              <a:t> is suitable for this problem as it prioritizes states that look 'closest' to the goal (fewer mismatches, more pieces placed correctly), aiming for a fast solution.</a:t>
            </a:r>
            <a:endParaRPr lang="en-IN" sz="1800" b="0" i="0" u="none" strike="noStrike" dirty="0">
              <a:solidFill>
                <a:srgbClr val="000000"/>
              </a:solidFill>
              <a:effectLst/>
              <a:latin typeface="Arial" panose="020B0604020202020204" pitchFamily="34" charset="0"/>
            </a:endParaRPr>
          </a:p>
          <a:p>
            <a:pPr rtl="0" fontAlgn="base"/>
            <a:r>
              <a:rPr lang="en-IN" sz="1800" b="1" i="0" u="none" strike="noStrike" dirty="0">
                <a:solidFill>
                  <a:srgbClr val="1B1C1D"/>
                </a:solidFill>
                <a:effectLst/>
                <a:latin typeface="Google Sans Text"/>
              </a:rPr>
              <a:t>Path Cost:</a:t>
            </a:r>
            <a:r>
              <a:rPr lang="en-IN" sz="1800" b="0" i="0" u="none" strike="noStrike" dirty="0">
                <a:solidFill>
                  <a:srgbClr val="1B1C1D"/>
                </a:solidFill>
                <a:effectLst/>
                <a:latin typeface="Google Sans Text"/>
              </a:rPr>
              <a:t> GBFS is </a:t>
            </a:r>
            <a:r>
              <a:rPr lang="en-IN" sz="1800" b="1" i="0" u="none" strike="noStrike" dirty="0">
                <a:solidFill>
                  <a:srgbClr val="1B1C1D"/>
                </a:solidFill>
                <a:effectLst/>
                <a:latin typeface="Google Sans Text"/>
              </a:rPr>
              <a:t>not optimal</a:t>
            </a:r>
            <a:r>
              <a:rPr lang="en-IN" sz="1800" b="0" i="0" u="none" strike="noStrike" dirty="0">
                <a:solidFill>
                  <a:srgbClr val="1B1C1D"/>
                </a:solidFill>
                <a:effectLst/>
                <a:latin typeface="Google Sans Text"/>
              </a:rPr>
              <a:t> (doesn't guarantee the shortest path/fewest moves), but the primary goal here is to </a:t>
            </a:r>
            <a:r>
              <a:rPr lang="en-IN" sz="1800" b="1" i="0" u="none" strike="noStrike" dirty="0">
                <a:solidFill>
                  <a:srgbClr val="1B1C1D"/>
                </a:solidFill>
                <a:effectLst/>
                <a:latin typeface="Google Sans Text"/>
              </a:rPr>
              <a:t>find </a:t>
            </a:r>
            <a:r>
              <a:rPr lang="en-IN" sz="1800" b="1" i="1" u="none" strike="noStrike" dirty="0">
                <a:solidFill>
                  <a:srgbClr val="1B1C1D"/>
                </a:solidFill>
                <a:effectLst/>
                <a:latin typeface="Google Sans Text"/>
              </a:rPr>
              <a:t>a</a:t>
            </a:r>
            <a:r>
              <a:rPr lang="en-IN" sz="1800" b="1" i="0" u="none" strike="noStrike" dirty="0">
                <a:solidFill>
                  <a:srgbClr val="1B1C1D"/>
                </a:solidFill>
                <a:effectLst/>
                <a:latin typeface="Google Sans Text"/>
              </a:rPr>
              <a:t> path</a:t>
            </a:r>
            <a:r>
              <a:rPr lang="en-IN" sz="1800" b="0" i="0" u="none" strike="noStrike" dirty="0">
                <a:solidFill>
                  <a:srgbClr val="1B1C1D"/>
                </a:solidFill>
                <a:effectLst/>
                <a:latin typeface="Google Sans Text"/>
              </a:rPr>
              <a:t> to the goal state efficiently, which  facilitates.</a:t>
            </a:r>
            <a:endParaRPr lang="en-IN" sz="1800" b="0" i="0" u="none" strike="noStrike" dirty="0">
              <a:solidFill>
                <a:srgbClr val="000000"/>
              </a:solidFill>
              <a:effectLst/>
              <a:latin typeface="Arial" panose="020B0604020202020204" pitchFamily="34" charset="0"/>
            </a:endParaRPr>
          </a:p>
          <a:p>
            <a:pPr rtl="0" fontAlgn="base"/>
            <a:r>
              <a:rPr lang="en-IN" sz="1800" b="1" i="0" u="none" strike="noStrike" dirty="0">
                <a:solidFill>
                  <a:srgbClr val="1B1C1D"/>
                </a:solidFill>
                <a:effectLst/>
                <a:latin typeface="Google Sans Text"/>
              </a:rPr>
              <a:t>Heuristic Effectiveness:</a:t>
            </a:r>
            <a:r>
              <a:rPr lang="en-IN" sz="1800" b="0" i="0" u="none" strike="noStrike" dirty="0">
                <a:solidFill>
                  <a:srgbClr val="1B1C1D"/>
                </a:solidFill>
                <a:effectLst/>
                <a:latin typeface="Google Sans Text"/>
              </a:rPr>
              <a:t> The heuristic successfully guides the search by heavily penalizing irreversible mistakes (wrong piece, filling an unwanted cell) and lightly penalizing incomplete but correct moves.</a:t>
            </a:r>
            <a:endParaRPr lang="en-IN" sz="1800" b="0" i="0" u="none" strike="noStrike" dirty="0">
              <a:solidFill>
                <a:srgbClr val="000000"/>
              </a:solidFill>
              <a:effectLst/>
              <a:latin typeface="Arial" panose="020B0604020202020204" pitchFamily="34" charset="0"/>
            </a:endParaRPr>
          </a:p>
          <a:p>
            <a:pPr rtl="0" fontAlgn="base"/>
            <a:r>
              <a:rPr lang="en-IN" sz="1800" b="1" i="0" u="none" strike="noStrike" dirty="0">
                <a:solidFill>
                  <a:srgbClr val="1B1C1D"/>
                </a:solidFill>
                <a:effectLst/>
                <a:latin typeface="Google Sans Text"/>
              </a:rPr>
              <a:t>State Representation:</a:t>
            </a:r>
            <a:r>
              <a:rPr lang="en-IN" sz="1800" b="0" i="0" u="none" strike="noStrike" dirty="0">
                <a:solidFill>
                  <a:srgbClr val="1B1C1D"/>
                </a:solidFill>
                <a:effectLst/>
                <a:latin typeface="Google Sans Text"/>
              </a:rPr>
              <a:t> The  list of lists is a clear and effective way to model the game board state.</a:t>
            </a:r>
            <a:endParaRPr lang="en-IN" sz="1800" b="0" i="0" u="none" strike="noStrike" dirty="0">
              <a:solidFill>
                <a:srgbClr val="000000"/>
              </a:solidFill>
              <a:effectLst/>
              <a:latin typeface="Arial" panose="020B0604020202020204" pitchFamily="34" charset="0"/>
            </a:endParaRPr>
          </a:p>
          <a:p>
            <a:pPr marL="0" indent="0">
              <a:buNone/>
            </a:pPr>
            <a:endParaRPr lang="en-US" dirty="0"/>
          </a:p>
        </p:txBody>
      </p:sp>
    </p:spTree>
    <p:extLst>
      <p:ext uri="{BB962C8B-B14F-4D97-AF65-F5344CB8AC3E}">
        <p14:creationId xmlns:p14="http://schemas.microsoft.com/office/powerpoint/2010/main" val="8738992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F4DAA5-3E1E-991D-5808-177F86735142}"/>
              </a:ext>
            </a:extLst>
          </p:cNvPr>
          <p:cNvSpPr>
            <a:spLocks noGrp="1"/>
          </p:cNvSpPr>
          <p:nvPr>
            <p:ph type="title"/>
          </p:nvPr>
        </p:nvSpPr>
        <p:spPr>
          <a:xfrm>
            <a:off x="838200" y="114114"/>
            <a:ext cx="10515600" cy="1325563"/>
          </a:xfrm>
        </p:spPr>
        <p:txBody>
          <a:bodyPr>
            <a:normAutofit/>
          </a:bodyPr>
          <a:lstStyle/>
          <a:p>
            <a:r>
              <a:rPr lang="en-IN" sz="3600" b="1" u="none" strike="noStrike" dirty="0">
                <a:solidFill>
                  <a:srgbClr val="1B1C1D"/>
                </a:solidFill>
                <a:effectLst/>
                <a:latin typeface="Google Sans"/>
              </a:rPr>
              <a:t>Using Single Pair Shortest Path Algorithm: Problem Formulation &amp; Transaction Format</a:t>
            </a:r>
            <a:endParaRPr lang="en-US" sz="3600" dirty="0"/>
          </a:p>
        </p:txBody>
      </p:sp>
      <p:sp>
        <p:nvSpPr>
          <p:cNvPr id="3" name="Content Placeholder 2">
            <a:extLst>
              <a:ext uri="{FF2B5EF4-FFF2-40B4-BE49-F238E27FC236}">
                <a16:creationId xmlns:a16="http://schemas.microsoft.com/office/drawing/2014/main" id="{E0379818-7CDA-4F0D-1D44-F64990B76D4F}"/>
              </a:ext>
            </a:extLst>
          </p:cNvPr>
          <p:cNvSpPr>
            <a:spLocks noGrp="1"/>
          </p:cNvSpPr>
          <p:nvPr>
            <p:ph idx="1"/>
          </p:nvPr>
        </p:nvSpPr>
        <p:spPr>
          <a:xfrm>
            <a:off x="838200" y="1439677"/>
            <a:ext cx="10515600" cy="4696963"/>
          </a:xfrm>
        </p:spPr>
        <p:txBody>
          <a:bodyPr>
            <a:normAutofit/>
          </a:bodyPr>
          <a:lstStyle/>
          <a:p>
            <a:pPr marL="0" indent="0" rtl="0">
              <a:buNone/>
            </a:pPr>
            <a:r>
              <a:rPr lang="en-IN" sz="1600" b="1" i="0" u="none" strike="noStrike" dirty="0">
                <a:solidFill>
                  <a:srgbClr val="1B1C1D"/>
                </a:solidFill>
                <a:effectLst/>
                <a:latin typeface="Google Sans Text"/>
              </a:rPr>
              <a:t>Goal:</a:t>
            </a:r>
            <a:r>
              <a:rPr lang="en-IN" sz="1600" b="0" i="0" u="none" strike="noStrike" dirty="0">
                <a:solidFill>
                  <a:srgbClr val="1B1C1D"/>
                </a:solidFill>
                <a:effectLst/>
                <a:latin typeface="Google Sans Text"/>
              </a:rPr>
              <a:t> </a:t>
            </a:r>
            <a:r>
              <a:rPr lang="en-IN" sz="1600" b="0" i="0" u="none" strike="noStrike" dirty="0" err="1">
                <a:solidFill>
                  <a:srgbClr val="1B1C1D"/>
                </a:solidFill>
                <a:effectLst/>
                <a:latin typeface="Google Sans Text"/>
              </a:rPr>
              <a:t>Analyze</a:t>
            </a:r>
            <a:r>
              <a:rPr lang="en-IN" sz="1600" b="0" i="0" u="none" strike="noStrike" dirty="0">
                <a:solidFill>
                  <a:srgbClr val="1B1C1D"/>
                </a:solidFill>
                <a:effectLst/>
                <a:latin typeface="Google Sans Text"/>
              </a:rPr>
              <a:t> a dataset of Indian dishes to find associations between attributes (like 'Place', '</a:t>
            </a:r>
            <a:r>
              <a:rPr lang="en-IN" sz="1600" b="0" i="0" u="none" strike="noStrike" dirty="0" err="1">
                <a:solidFill>
                  <a:srgbClr val="1B1C1D"/>
                </a:solidFill>
                <a:effectLst/>
                <a:latin typeface="Google Sans Text"/>
              </a:rPr>
              <a:t>IsVeg</a:t>
            </a:r>
            <a:r>
              <a:rPr lang="en-IN" sz="1600" b="0" i="0" u="none" strike="noStrike" dirty="0">
                <a:solidFill>
                  <a:srgbClr val="1B1C1D"/>
                </a:solidFill>
                <a:effectLst/>
                <a:latin typeface="Google Sans Text"/>
              </a:rPr>
              <a:t>', '</a:t>
            </a:r>
            <a:r>
              <a:rPr lang="en-IN" sz="1600" b="0" i="0" u="none" strike="noStrike" dirty="0" err="1">
                <a:solidFill>
                  <a:srgbClr val="1B1C1D"/>
                </a:solidFill>
                <a:effectLst/>
                <a:latin typeface="Google Sans Text"/>
              </a:rPr>
              <a:t>TypeOfDish</a:t>
            </a:r>
            <a:r>
              <a:rPr lang="en-IN" sz="1600" b="0" i="0" u="none" strike="noStrike" dirty="0">
                <a:solidFill>
                  <a:srgbClr val="1B1C1D"/>
                </a:solidFill>
                <a:effectLst/>
                <a:latin typeface="Google Sans Text"/>
              </a:rPr>
              <a:t>') and visualize the similarity between dishes as a </a:t>
            </a:r>
            <a:r>
              <a:rPr lang="en-IN" sz="1600" b="1" i="0" u="none" strike="noStrike" dirty="0">
                <a:solidFill>
                  <a:srgbClr val="1B1C1D"/>
                </a:solidFill>
                <a:effectLst/>
                <a:latin typeface="Google Sans Text"/>
              </a:rPr>
              <a:t>Graph</a:t>
            </a:r>
            <a:r>
              <a:rPr lang="en-IN" sz="1600" b="0" i="0" u="none" strike="noStrike" dirty="0">
                <a:solidFill>
                  <a:srgbClr val="1B1C1D"/>
                </a:solidFill>
                <a:effectLst/>
                <a:latin typeface="Google Sans Text"/>
              </a:rPr>
              <a:t>.</a:t>
            </a:r>
            <a:endParaRPr lang="en-IN" sz="1600" dirty="0">
              <a:effectLst/>
            </a:endParaRPr>
          </a:p>
          <a:p>
            <a:pPr marL="0" indent="0" rtl="0">
              <a:buNone/>
            </a:pPr>
            <a:r>
              <a:rPr lang="en-IN" sz="1600" b="0" i="0" u="none" strike="noStrike" dirty="0">
                <a:solidFill>
                  <a:srgbClr val="000000"/>
                </a:solidFill>
                <a:effectLst/>
                <a:latin typeface="Google Sans Text"/>
              </a:rPr>
              <a:t>Input Dataset (datafood.csv):</a:t>
            </a:r>
          </a:p>
          <a:p>
            <a:pPr marL="0" indent="0" rtl="0">
              <a:buNone/>
            </a:pPr>
            <a:endParaRPr lang="en-IN" sz="1600" dirty="0">
              <a:solidFill>
                <a:srgbClr val="000000"/>
              </a:solidFill>
              <a:latin typeface="Google Sans Text"/>
            </a:endParaRPr>
          </a:p>
          <a:p>
            <a:pPr marL="0" indent="0" rtl="0">
              <a:buNone/>
            </a:pPr>
            <a:endParaRPr lang="en-IN" sz="1600" dirty="0">
              <a:solidFill>
                <a:srgbClr val="000000"/>
              </a:solidFill>
              <a:effectLst/>
              <a:latin typeface="Google Sans Text"/>
            </a:endParaRPr>
          </a:p>
          <a:p>
            <a:pPr marL="0" indent="0" rtl="0">
              <a:buNone/>
            </a:pPr>
            <a:endParaRPr lang="en-IN" sz="1600" dirty="0">
              <a:effectLst/>
            </a:endParaRPr>
          </a:p>
          <a:p>
            <a:pPr marL="0" indent="0" rtl="0">
              <a:buNone/>
            </a:pPr>
            <a:endParaRPr lang="en-IN" sz="1600" b="1" i="0" u="none" strike="noStrike" dirty="0">
              <a:solidFill>
                <a:srgbClr val="000000"/>
              </a:solidFill>
              <a:effectLst/>
              <a:latin typeface="Google Sans Text"/>
            </a:endParaRPr>
          </a:p>
          <a:p>
            <a:pPr marL="0" indent="0" rtl="0">
              <a:buNone/>
            </a:pPr>
            <a:r>
              <a:rPr lang="en-IN" sz="1600" b="1" i="0" u="none" strike="noStrike" dirty="0">
                <a:solidFill>
                  <a:srgbClr val="000000"/>
                </a:solidFill>
                <a:effectLst/>
                <a:latin typeface="Google Sans Text"/>
              </a:rPr>
              <a:t>Step 1: Convert to Transactional Format</a:t>
            </a:r>
            <a:endParaRPr lang="en-IN" sz="1600" b="1" dirty="0">
              <a:effectLst/>
            </a:endParaRPr>
          </a:p>
          <a:p>
            <a:pPr rtl="0"/>
            <a:r>
              <a:rPr lang="en-IN" sz="1600" b="0" i="0" u="none" strike="noStrike" dirty="0">
                <a:solidFill>
                  <a:srgbClr val="000000"/>
                </a:solidFill>
                <a:effectLst/>
                <a:latin typeface="Google Sans Text"/>
              </a:rPr>
              <a:t>The dataset is converted into a list of transactions, where each transaction is a list of attribute-value pairs.</a:t>
            </a:r>
            <a:endParaRPr lang="en-IN" sz="1600" dirty="0">
              <a:effectLst/>
            </a:endParaRPr>
          </a:p>
          <a:p>
            <a:pPr rtl="0" fontAlgn="base"/>
            <a:r>
              <a:rPr lang="en-IN" sz="1600" b="1" i="0" u="none" strike="noStrike" dirty="0">
                <a:solidFill>
                  <a:srgbClr val="1B1C1D"/>
                </a:solidFill>
                <a:effectLst/>
                <a:latin typeface="Google Sans Text"/>
              </a:rPr>
              <a:t>Example Transaction (Dish 0):</a:t>
            </a:r>
            <a:r>
              <a:rPr lang="en-IN" sz="1600" b="0" i="0" u="none" strike="noStrike" dirty="0">
                <a:solidFill>
                  <a:srgbClr val="1B1C1D"/>
                </a:solidFill>
                <a:effectLst/>
                <a:latin typeface="Google Sans Text"/>
              </a:rPr>
              <a:t> ['Dish=Butter Chicken', 'Place=North', '</a:t>
            </a:r>
            <a:r>
              <a:rPr lang="en-IN" sz="1600" b="0" i="0" u="none" strike="noStrike" dirty="0" err="1">
                <a:solidFill>
                  <a:srgbClr val="1B1C1D"/>
                </a:solidFill>
                <a:effectLst/>
                <a:latin typeface="Google Sans Text"/>
              </a:rPr>
              <a:t>IsVeg</a:t>
            </a:r>
            <a:r>
              <a:rPr lang="en-IN" sz="1600" b="0" i="0" u="none" strike="noStrike" dirty="0">
                <a:solidFill>
                  <a:srgbClr val="1B1C1D"/>
                </a:solidFill>
                <a:effectLst/>
                <a:latin typeface="Google Sans Text"/>
              </a:rPr>
              <a:t>=No', '</a:t>
            </a:r>
            <a:r>
              <a:rPr lang="en-IN" sz="1600" b="0" i="0" u="none" strike="noStrike" dirty="0" err="1">
                <a:solidFill>
                  <a:srgbClr val="1B1C1D"/>
                </a:solidFill>
                <a:effectLst/>
                <a:latin typeface="Google Sans Text"/>
              </a:rPr>
              <a:t>TypeOfDish</a:t>
            </a:r>
            <a:r>
              <a:rPr lang="en-IN" sz="1600" b="0" i="0" u="none" strike="noStrike" dirty="0">
                <a:solidFill>
                  <a:srgbClr val="1B1C1D"/>
                </a:solidFill>
                <a:effectLst/>
                <a:latin typeface="Google Sans Text"/>
              </a:rPr>
              <a:t>=Main']</a:t>
            </a:r>
            <a:endParaRPr lang="en-IN" sz="1600" b="0" i="0" u="none" strike="noStrike" dirty="0">
              <a:solidFill>
                <a:srgbClr val="000000"/>
              </a:solidFill>
              <a:effectLst/>
              <a:latin typeface="Arial" panose="020B0604020202020204" pitchFamily="34" charset="0"/>
            </a:endParaRPr>
          </a:p>
          <a:p>
            <a:pPr marL="0" indent="0" rtl="0">
              <a:buNone/>
            </a:pPr>
            <a:r>
              <a:rPr lang="en-IN" sz="1600" b="1" i="0" u="none" strike="noStrike" dirty="0">
                <a:solidFill>
                  <a:srgbClr val="1B1C1D"/>
                </a:solidFill>
                <a:effectLst/>
                <a:latin typeface="Google Sans Text"/>
              </a:rPr>
              <a:t>Step 2: Create Binary Dataset</a:t>
            </a:r>
            <a:endParaRPr lang="en-IN" sz="1600" dirty="0">
              <a:effectLst/>
            </a:endParaRPr>
          </a:p>
          <a:p>
            <a:pPr rtl="0" fontAlgn="base"/>
            <a:r>
              <a:rPr lang="en-IN" sz="1600" b="0" i="0" u="none" strike="noStrike" dirty="0">
                <a:solidFill>
                  <a:srgbClr val="1B1C1D"/>
                </a:solidFill>
                <a:effectLst/>
                <a:latin typeface="Google Sans Text"/>
              </a:rPr>
              <a:t>Each unique attribute-value pair is assigned a code (e.g., Place=North , </a:t>
            </a:r>
            <a:r>
              <a:rPr lang="en-IN" sz="1600" b="0" i="0" u="none" strike="noStrike" dirty="0" err="1">
                <a:solidFill>
                  <a:srgbClr val="1B1C1D"/>
                </a:solidFill>
                <a:effectLst/>
                <a:latin typeface="Google Sans Text"/>
              </a:rPr>
              <a:t>IsVeg</a:t>
            </a:r>
            <a:r>
              <a:rPr lang="en-IN" sz="1600" b="0" i="0" u="none" strike="noStrike" dirty="0">
                <a:solidFill>
                  <a:srgbClr val="1B1C1D"/>
                </a:solidFill>
                <a:effectLst/>
                <a:latin typeface="Google Sans Text"/>
              </a:rPr>
              <a:t>=Yes , etc.).</a:t>
            </a:r>
            <a:endParaRPr lang="en-IN" sz="1600" b="0" i="0" u="none" strike="noStrike" dirty="0">
              <a:solidFill>
                <a:srgbClr val="000000"/>
              </a:solidFill>
              <a:effectLst/>
              <a:latin typeface="Arial" panose="020B0604020202020204" pitchFamily="34" charset="0"/>
            </a:endParaRPr>
          </a:p>
          <a:p>
            <a:pPr rtl="0" fontAlgn="base"/>
            <a:r>
              <a:rPr lang="en-IN" sz="1600" b="0" i="0" u="none" strike="noStrike" dirty="0">
                <a:solidFill>
                  <a:srgbClr val="1B1C1D"/>
                </a:solidFill>
                <a:effectLst/>
                <a:latin typeface="Google Sans Text"/>
              </a:rPr>
              <a:t>The data is converted into a </a:t>
            </a:r>
            <a:r>
              <a:rPr lang="en-IN" sz="1600" b="1" i="0" u="none" strike="noStrike" dirty="0">
                <a:solidFill>
                  <a:srgbClr val="1B1C1D"/>
                </a:solidFill>
                <a:effectLst/>
                <a:latin typeface="Google Sans Text"/>
              </a:rPr>
              <a:t>binary matrix</a:t>
            </a:r>
            <a:r>
              <a:rPr lang="en-IN" sz="1600" b="0" i="0" u="none" strike="noStrike" dirty="0">
                <a:solidFill>
                  <a:srgbClr val="1B1C1D"/>
                </a:solidFill>
                <a:effectLst/>
                <a:latin typeface="Google Sans Text"/>
              </a:rPr>
              <a:t>, where rows are transactions (dishes) and columns are all unique items (attribute-value pairs). A '1' indicates the item is present in the transaction.</a:t>
            </a:r>
            <a:endParaRPr lang="en-IN" sz="1600" b="0" i="0" u="none" strike="noStrike" dirty="0">
              <a:solidFill>
                <a:srgbClr val="000000"/>
              </a:solidFill>
              <a:effectLst/>
              <a:latin typeface="Arial" panose="020B0604020202020204" pitchFamily="34" charset="0"/>
            </a:endParaRPr>
          </a:p>
          <a:p>
            <a:pPr marL="0" indent="0">
              <a:buNone/>
            </a:pPr>
            <a:endParaRPr lang="en-IN" sz="1600" dirty="0"/>
          </a:p>
        </p:txBody>
      </p:sp>
      <p:graphicFrame>
        <p:nvGraphicFramePr>
          <p:cNvPr id="5" name="Table 4">
            <a:extLst>
              <a:ext uri="{FF2B5EF4-FFF2-40B4-BE49-F238E27FC236}">
                <a16:creationId xmlns:a16="http://schemas.microsoft.com/office/drawing/2014/main" id="{AB3256B8-4F3A-E079-FECA-CE73A524CF14}"/>
              </a:ext>
            </a:extLst>
          </p:cNvPr>
          <p:cNvGraphicFramePr>
            <a:graphicFrameLocks noGrp="1"/>
          </p:cNvGraphicFramePr>
          <p:nvPr>
            <p:extLst>
              <p:ext uri="{D42A27DB-BD31-4B8C-83A1-F6EECF244321}">
                <p14:modId xmlns:p14="http://schemas.microsoft.com/office/powerpoint/2010/main" val="3972446505"/>
              </p:ext>
            </p:extLst>
          </p:nvPr>
        </p:nvGraphicFramePr>
        <p:xfrm>
          <a:off x="909320" y="2308040"/>
          <a:ext cx="7970520" cy="1341120"/>
        </p:xfrm>
        <a:graphic>
          <a:graphicData uri="http://schemas.openxmlformats.org/drawingml/2006/table">
            <a:tbl>
              <a:tblPr firstRow="1" bandRow="1">
                <a:tableStyleId>{21E4AEA4-8DFA-4A89-87EB-49C32662AFE0}</a:tableStyleId>
              </a:tblPr>
              <a:tblGrid>
                <a:gridCol w="1992630">
                  <a:extLst>
                    <a:ext uri="{9D8B030D-6E8A-4147-A177-3AD203B41FA5}">
                      <a16:colId xmlns:a16="http://schemas.microsoft.com/office/drawing/2014/main" val="2902618965"/>
                    </a:ext>
                  </a:extLst>
                </a:gridCol>
                <a:gridCol w="1992630">
                  <a:extLst>
                    <a:ext uri="{9D8B030D-6E8A-4147-A177-3AD203B41FA5}">
                      <a16:colId xmlns:a16="http://schemas.microsoft.com/office/drawing/2014/main" val="3531634274"/>
                    </a:ext>
                  </a:extLst>
                </a:gridCol>
                <a:gridCol w="1992630">
                  <a:extLst>
                    <a:ext uri="{9D8B030D-6E8A-4147-A177-3AD203B41FA5}">
                      <a16:colId xmlns:a16="http://schemas.microsoft.com/office/drawing/2014/main" val="1562429680"/>
                    </a:ext>
                  </a:extLst>
                </a:gridCol>
                <a:gridCol w="1992630">
                  <a:extLst>
                    <a:ext uri="{9D8B030D-6E8A-4147-A177-3AD203B41FA5}">
                      <a16:colId xmlns:a16="http://schemas.microsoft.com/office/drawing/2014/main" val="2482925573"/>
                    </a:ext>
                  </a:extLst>
                </a:gridCol>
              </a:tblGrid>
              <a:tr h="309485">
                <a:tc>
                  <a:txBody>
                    <a:bodyPr/>
                    <a:lstStyle/>
                    <a:p>
                      <a:r>
                        <a:rPr lang="en-US" sz="1600" dirty="0"/>
                        <a:t>Dish</a:t>
                      </a:r>
                      <a:endParaRPr lang="en-IN" sz="1600" dirty="0"/>
                    </a:p>
                  </a:txBody>
                  <a:tcPr/>
                </a:tc>
                <a:tc>
                  <a:txBody>
                    <a:bodyPr/>
                    <a:lstStyle/>
                    <a:p>
                      <a:r>
                        <a:rPr lang="en-US" sz="1600" dirty="0"/>
                        <a:t>Place</a:t>
                      </a:r>
                      <a:endParaRPr lang="en-IN" sz="1600" dirty="0"/>
                    </a:p>
                  </a:txBody>
                  <a:tcPr/>
                </a:tc>
                <a:tc>
                  <a:txBody>
                    <a:bodyPr/>
                    <a:lstStyle/>
                    <a:p>
                      <a:r>
                        <a:rPr lang="en-US" sz="1600" dirty="0" err="1"/>
                        <a:t>IsVeg</a:t>
                      </a:r>
                      <a:endParaRPr lang="en-IN" sz="1600" dirty="0"/>
                    </a:p>
                  </a:txBody>
                  <a:tcPr/>
                </a:tc>
                <a:tc>
                  <a:txBody>
                    <a:bodyPr/>
                    <a:lstStyle/>
                    <a:p>
                      <a:r>
                        <a:rPr lang="en-US" sz="1600" dirty="0" err="1"/>
                        <a:t>TypeOfDish</a:t>
                      </a:r>
                      <a:endParaRPr lang="en-IN" sz="1600" dirty="0"/>
                    </a:p>
                  </a:txBody>
                  <a:tcPr/>
                </a:tc>
                <a:extLst>
                  <a:ext uri="{0D108BD9-81ED-4DB2-BD59-A6C34878D82A}">
                    <a16:rowId xmlns:a16="http://schemas.microsoft.com/office/drawing/2014/main" val="3532438417"/>
                  </a:ext>
                </a:extLst>
              </a:tr>
              <a:tr h="309485">
                <a:tc>
                  <a:txBody>
                    <a:bodyPr/>
                    <a:lstStyle/>
                    <a:p>
                      <a:r>
                        <a:rPr lang="en-US" sz="1600" dirty="0"/>
                        <a:t>Butter Chicken</a:t>
                      </a:r>
                      <a:endParaRPr lang="en-IN" sz="1600" dirty="0"/>
                    </a:p>
                  </a:txBody>
                  <a:tcPr/>
                </a:tc>
                <a:tc>
                  <a:txBody>
                    <a:bodyPr/>
                    <a:lstStyle/>
                    <a:p>
                      <a:r>
                        <a:rPr lang="en-US" sz="1600" dirty="0"/>
                        <a:t>North</a:t>
                      </a:r>
                      <a:endParaRPr lang="en-IN" sz="1600" dirty="0"/>
                    </a:p>
                  </a:txBody>
                  <a:tcPr/>
                </a:tc>
                <a:tc>
                  <a:txBody>
                    <a:bodyPr/>
                    <a:lstStyle/>
                    <a:p>
                      <a:r>
                        <a:rPr lang="en-US" sz="1600" dirty="0"/>
                        <a:t>No</a:t>
                      </a:r>
                      <a:endParaRPr lang="en-IN" sz="1600" dirty="0"/>
                    </a:p>
                  </a:txBody>
                  <a:tcPr/>
                </a:tc>
                <a:tc>
                  <a:txBody>
                    <a:bodyPr/>
                    <a:lstStyle/>
                    <a:p>
                      <a:r>
                        <a:rPr lang="en-US" sz="1600" dirty="0"/>
                        <a:t>Main</a:t>
                      </a:r>
                      <a:endParaRPr lang="en-IN" sz="1600" dirty="0"/>
                    </a:p>
                  </a:txBody>
                  <a:tcPr/>
                </a:tc>
                <a:extLst>
                  <a:ext uri="{0D108BD9-81ED-4DB2-BD59-A6C34878D82A}">
                    <a16:rowId xmlns:a16="http://schemas.microsoft.com/office/drawing/2014/main" val="4259582101"/>
                  </a:ext>
                </a:extLst>
              </a:tr>
              <a:tr h="309485">
                <a:tc>
                  <a:txBody>
                    <a:bodyPr/>
                    <a:lstStyle/>
                    <a:p>
                      <a:r>
                        <a:rPr lang="en-US" sz="1600" dirty="0" err="1"/>
                        <a:t>Idli</a:t>
                      </a:r>
                      <a:endParaRPr lang="en-IN" sz="1600" dirty="0"/>
                    </a:p>
                  </a:txBody>
                  <a:tcPr/>
                </a:tc>
                <a:tc>
                  <a:txBody>
                    <a:bodyPr/>
                    <a:lstStyle/>
                    <a:p>
                      <a:r>
                        <a:rPr lang="en-US" sz="1600" dirty="0"/>
                        <a:t>South</a:t>
                      </a:r>
                      <a:endParaRPr lang="en-IN" sz="1600" dirty="0"/>
                    </a:p>
                  </a:txBody>
                  <a:tcPr/>
                </a:tc>
                <a:tc>
                  <a:txBody>
                    <a:bodyPr/>
                    <a:lstStyle/>
                    <a:p>
                      <a:r>
                        <a:rPr lang="en-US" sz="1600" dirty="0"/>
                        <a:t>Yes</a:t>
                      </a:r>
                      <a:endParaRPr lang="en-IN" sz="1600" dirty="0"/>
                    </a:p>
                  </a:txBody>
                  <a:tcPr/>
                </a:tc>
                <a:tc>
                  <a:txBody>
                    <a:bodyPr/>
                    <a:lstStyle/>
                    <a:p>
                      <a:r>
                        <a:rPr lang="en-US" sz="1600" dirty="0"/>
                        <a:t>Main</a:t>
                      </a:r>
                      <a:endParaRPr lang="en-IN" sz="1600" dirty="0"/>
                    </a:p>
                  </a:txBody>
                  <a:tcPr/>
                </a:tc>
                <a:extLst>
                  <a:ext uri="{0D108BD9-81ED-4DB2-BD59-A6C34878D82A}">
                    <a16:rowId xmlns:a16="http://schemas.microsoft.com/office/drawing/2014/main" val="4122456564"/>
                  </a:ext>
                </a:extLst>
              </a:tr>
              <a:tr h="309485">
                <a:tc>
                  <a:txBody>
                    <a:bodyPr/>
                    <a:lstStyle/>
                    <a:p>
                      <a:r>
                        <a:rPr lang="en-US" sz="1600" dirty="0"/>
                        <a:t>…</a:t>
                      </a:r>
                      <a:endParaRPr lang="en-IN" sz="1600" dirty="0"/>
                    </a:p>
                  </a:txBody>
                  <a:tcPr/>
                </a:tc>
                <a:tc>
                  <a:txBody>
                    <a:bodyPr/>
                    <a:lstStyle/>
                    <a:p>
                      <a:r>
                        <a:rPr lang="en-US" sz="1600" dirty="0"/>
                        <a:t>…</a:t>
                      </a:r>
                      <a:endParaRPr lang="en-IN" sz="1600" dirty="0"/>
                    </a:p>
                  </a:txBody>
                  <a:tcPr/>
                </a:tc>
                <a:tc>
                  <a:txBody>
                    <a:bodyPr/>
                    <a:lstStyle/>
                    <a:p>
                      <a:r>
                        <a:rPr lang="en-US" sz="1600" dirty="0"/>
                        <a:t>…</a:t>
                      </a:r>
                      <a:endParaRPr lang="en-IN" sz="1600" dirty="0"/>
                    </a:p>
                  </a:txBody>
                  <a:tcPr/>
                </a:tc>
                <a:tc>
                  <a:txBody>
                    <a:bodyPr/>
                    <a:lstStyle/>
                    <a:p>
                      <a:r>
                        <a:rPr lang="en-US" sz="1600" dirty="0"/>
                        <a:t>…</a:t>
                      </a:r>
                      <a:endParaRPr lang="en-IN" sz="1600" dirty="0"/>
                    </a:p>
                  </a:txBody>
                  <a:tcPr/>
                </a:tc>
                <a:extLst>
                  <a:ext uri="{0D108BD9-81ED-4DB2-BD59-A6C34878D82A}">
                    <a16:rowId xmlns:a16="http://schemas.microsoft.com/office/drawing/2014/main" val="4027708947"/>
                  </a:ext>
                </a:extLst>
              </a:tr>
            </a:tbl>
          </a:graphicData>
        </a:graphic>
      </p:graphicFrame>
    </p:spTree>
    <p:extLst>
      <p:ext uri="{BB962C8B-B14F-4D97-AF65-F5344CB8AC3E}">
        <p14:creationId xmlns:p14="http://schemas.microsoft.com/office/powerpoint/2010/main" val="16044921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9C55A3-A4B5-B281-A1CC-3F9668865DFD}"/>
              </a:ext>
            </a:extLst>
          </p:cNvPr>
          <p:cNvSpPr>
            <a:spLocks noGrp="1"/>
          </p:cNvSpPr>
          <p:nvPr>
            <p:ph type="title"/>
          </p:nvPr>
        </p:nvSpPr>
        <p:spPr>
          <a:xfrm>
            <a:off x="838200" y="317313"/>
            <a:ext cx="10515600" cy="1325563"/>
          </a:xfrm>
        </p:spPr>
        <p:txBody>
          <a:bodyPr>
            <a:normAutofit/>
          </a:bodyPr>
          <a:lstStyle/>
          <a:p>
            <a:r>
              <a:rPr lang="en-IN" sz="3600" b="1" i="0" u="none" strike="noStrike" dirty="0">
                <a:solidFill>
                  <a:srgbClr val="1B1C1D"/>
                </a:solidFill>
                <a:effectLst/>
                <a:latin typeface="Google Sans"/>
              </a:rPr>
              <a:t>Graph Construction &amp; Similarity Metric</a:t>
            </a:r>
            <a:endParaRPr lang="en-US" sz="3600" dirty="0"/>
          </a:p>
        </p:txBody>
      </p:sp>
      <p:sp>
        <p:nvSpPr>
          <p:cNvPr id="3" name="Content Placeholder 2">
            <a:extLst>
              <a:ext uri="{FF2B5EF4-FFF2-40B4-BE49-F238E27FC236}">
                <a16:creationId xmlns:a16="http://schemas.microsoft.com/office/drawing/2014/main" id="{BCE05BB1-8EB7-4B96-8371-59C51F65BE5F}"/>
              </a:ext>
            </a:extLst>
          </p:cNvPr>
          <p:cNvSpPr>
            <a:spLocks noGrp="1"/>
          </p:cNvSpPr>
          <p:nvPr>
            <p:ph idx="1"/>
          </p:nvPr>
        </p:nvSpPr>
        <p:spPr>
          <a:xfrm>
            <a:off x="838200" y="1642876"/>
            <a:ext cx="10515600" cy="4351338"/>
          </a:xfrm>
        </p:spPr>
        <p:txBody>
          <a:bodyPr/>
          <a:lstStyle/>
          <a:p>
            <a:pPr rtl="0"/>
            <a:r>
              <a:rPr lang="en-IN" sz="1800" b="1" i="0" u="none" strike="noStrike" dirty="0">
                <a:solidFill>
                  <a:srgbClr val="1B1C1D"/>
                </a:solidFill>
                <a:effectLst/>
                <a:latin typeface="Google Sans Text"/>
              </a:rPr>
              <a:t>Core Concept:</a:t>
            </a:r>
            <a:r>
              <a:rPr lang="en-IN" sz="1800" b="0" i="0" u="none" strike="noStrike" dirty="0">
                <a:solidFill>
                  <a:srgbClr val="1B1C1D"/>
                </a:solidFill>
                <a:effectLst/>
                <a:latin typeface="Google Sans Text"/>
              </a:rPr>
              <a:t> Graph-based clustering/analysis using transaction similarity.</a:t>
            </a:r>
            <a:endParaRPr lang="en-IN" dirty="0">
              <a:effectLst/>
            </a:endParaRPr>
          </a:p>
          <a:p>
            <a:pPr rtl="0"/>
            <a:r>
              <a:rPr lang="en-IN" sz="1800" b="1" i="0" u="none" strike="noStrike" dirty="0">
                <a:solidFill>
                  <a:srgbClr val="1B1C1D"/>
                </a:solidFill>
                <a:effectLst/>
                <a:latin typeface="Google Sans Text"/>
              </a:rPr>
              <a:t>Graph Definition:</a:t>
            </a:r>
            <a:endParaRPr lang="en-IN" dirty="0">
              <a:effectLst/>
            </a:endParaRPr>
          </a:p>
          <a:p>
            <a:pPr rtl="0" fontAlgn="base"/>
            <a:r>
              <a:rPr lang="en-IN" sz="1800" b="1" i="0" u="none" strike="noStrike" dirty="0">
                <a:solidFill>
                  <a:srgbClr val="1B1C1D"/>
                </a:solidFill>
                <a:effectLst/>
                <a:latin typeface="Google Sans Text"/>
              </a:rPr>
              <a:t>Nodes:</a:t>
            </a:r>
            <a:r>
              <a:rPr lang="en-IN" sz="1800" b="0" i="0" u="none" strike="noStrike" dirty="0">
                <a:solidFill>
                  <a:srgbClr val="1B1C1D"/>
                </a:solidFill>
                <a:effectLst/>
                <a:latin typeface="Google Sans Text"/>
              </a:rPr>
              <a:t> Each transaction (i.e., each dish, indexed 0 to 10).</a:t>
            </a:r>
            <a:endParaRPr lang="en-IN" sz="1800" b="0" i="0" u="none" strike="noStrike" dirty="0">
              <a:solidFill>
                <a:srgbClr val="000000"/>
              </a:solidFill>
              <a:effectLst/>
              <a:latin typeface="Arial" panose="020B0604020202020204" pitchFamily="34" charset="0"/>
            </a:endParaRPr>
          </a:p>
          <a:p>
            <a:pPr rtl="0" fontAlgn="base"/>
            <a:r>
              <a:rPr lang="en-IN" sz="1800" b="1" i="0" u="none" strike="noStrike" dirty="0">
                <a:solidFill>
                  <a:srgbClr val="1B1C1D"/>
                </a:solidFill>
                <a:effectLst/>
                <a:latin typeface="Google Sans Text"/>
              </a:rPr>
              <a:t>Edges:</a:t>
            </a:r>
            <a:r>
              <a:rPr lang="en-IN" sz="1800" b="0" i="0" u="none" strike="noStrike" dirty="0">
                <a:solidFill>
                  <a:srgbClr val="1B1C1D"/>
                </a:solidFill>
                <a:effectLst/>
                <a:latin typeface="Google Sans Text"/>
              </a:rPr>
              <a:t> An edge exists between two nodes (transactions  and ) if their </a:t>
            </a:r>
            <a:r>
              <a:rPr lang="en-IN" sz="1800" b="1" i="0" u="none" strike="noStrike" dirty="0">
                <a:solidFill>
                  <a:srgbClr val="1B1C1D"/>
                </a:solidFill>
                <a:effectLst/>
                <a:latin typeface="Google Sans Text"/>
              </a:rPr>
              <a:t>similarity</a:t>
            </a:r>
            <a:r>
              <a:rPr lang="en-IN" sz="1800" b="0" i="0" u="none" strike="noStrike" dirty="0">
                <a:solidFill>
                  <a:srgbClr val="1B1C1D"/>
                </a:solidFill>
                <a:effectLst/>
                <a:latin typeface="Google Sans Text"/>
              </a:rPr>
              <a:t> meets a predefined threshold.</a:t>
            </a:r>
            <a:endParaRPr lang="en-IN" sz="1800" b="0" i="0" u="none" strike="noStrike" dirty="0">
              <a:solidFill>
                <a:srgbClr val="000000"/>
              </a:solidFill>
              <a:effectLst/>
              <a:latin typeface="Arial" panose="020B0604020202020204" pitchFamily="34" charset="0"/>
            </a:endParaRPr>
          </a:p>
          <a:p>
            <a:pPr rtl="0"/>
            <a:r>
              <a:rPr lang="en-IN" sz="1800" b="1" i="0" u="none" strike="noStrike" dirty="0">
                <a:solidFill>
                  <a:srgbClr val="1B1C1D"/>
                </a:solidFill>
                <a:effectLst/>
                <a:latin typeface="Google Sans Text"/>
              </a:rPr>
              <a:t>Similarity Metric:</a:t>
            </a:r>
            <a:endParaRPr lang="en-IN" dirty="0">
              <a:effectLst/>
            </a:endParaRPr>
          </a:p>
          <a:p>
            <a:pPr rtl="0" fontAlgn="base"/>
            <a:r>
              <a:rPr lang="en-IN" sz="1800" b="1" i="0" u="none" strike="noStrike" dirty="0">
                <a:solidFill>
                  <a:srgbClr val="1B1C1D"/>
                </a:solidFill>
                <a:effectLst/>
                <a:latin typeface="Google Sans Text"/>
              </a:rPr>
              <a:t>Metric:</a:t>
            </a:r>
            <a:r>
              <a:rPr lang="en-IN" sz="1800" b="0" i="0" u="none" strike="noStrike" dirty="0">
                <a:solidFill>
                  <a:srgbClr val="1B1C1D"/>
                </a:solidFill>
                <a:effectLst/>
                <a:latin typeface="Google Sans Text"/>
              </a:rPr>
              <a:t> The </a:t>
            </a:r>
            <a:r>
              <a:rPr lang="en-IN" sz="1800" b="1" i="0" u="none" strike="noStrike" dirty="0">
                <a:solidFill>
                  <a:srgbClr val="1B1C1D"/>
                </a:solidFill>
                <a:effectLst/>
                <a:latin typeface="Google Sans Text"/>
              </a:rPr>
              <a:t>number of shared attribute-value pairs</a:t>
            </a:r>
            <a:r>
              <a:rPr lang="en-IN" sz="1800" b="0" i="0" u="none" strike="noStrike" dirty="0">
                <a:solidFill>
                  <a:srgbClr val="1B1C1D"/>
                </a:solidFill>
                <a:effectLst/>
                <a:latin typeface="Google Sans Text"/>
              </a:rPr>
              <a:t> between two dishes.</a:t>
            </a:r>
            <a:endParaRPr lang="en-IN" sz="1800" b="0" i="0" u="none" strike="noStrike" dirty="0">
              <a:solidFill>
                <a:srgbClr val="000000"/>
              </a:solidFill>
              <a:effectLst/>
              <a:latin typeface="Arial" panose="020B0604020202020204" pitchFamily="34" charset="0"/>
            </a:endParaRPr>
          </a:p>
          <a:p>
            <a:pPr rtl="0" fontAlgn="base"/>
            <a:r>
              <a:rPr lang="en-IN" sz="1800" b="0" i="0" u="none" strike="noStrike" dirty="0">
                <a:solidFill>
                  <a:srgbClr val="1B1C1D"/>
                </a:solidFill>
                <a:effectLst/>
                <a:latin typeface="Google Sans Text"/>
              </a:rPr>
              <a:t>Calculated by performing a logical AND operation on the two binary vectors and summing the result.</a:t>
            </a:r>
            <a:endParaRPr lang="en-IN" sz="1800" b="0" i="0" u="none" strike="noStrike" dirty="0">
              <a:solidFill>
                <a:srgbClr val="000000"/>
              </a:solidFill>
              <a:effectLst/>
              <a:latin typeface="Arial" panose="020B0604020202020204" pitchFamily="34" charset="0"/>
            </a:endParaRPr>
          </a:p>
          <a:p>
            <a:pPr rtl="0"/>
            <a:r>
              <a:rPr lang="en-IN" sz="1800" b="0" i="0" u="none" strike="noStrike" dirty="0">
                <a:solidFill>
                  <a:srgbClr val="1B1C1D"/>
                </a:solidFill>
                <a:effectLst/>
                <a:latin typeface="Google Sans Text"/>
              </a:rPr>
              <a:t>where  is the binary vector for transaction .</a:t>
            </a:r>
            <a:endParaRPr lang="en-IN" dirty="0">
              <a:effectLst/>
            </a:endParaRPr>
          </a:p>
          <a:p>
            <a:pPr rtl="0"/>
            <a:r>
              <a:rPr lang="en-IN" sz="1800" b="1" i="0" u="none" strike="noStrike" dirty="0">
                <a:solidFill>
                  <a:srgbClr val="1B1C1D"/>
                </a:solidFill>
                <a:effectLst/>
                <a:latin typeface="Google Sans Text"/>
              </a:rPr>
              <a:t>Edge Threshold:</a:t>
            </a:r>
            <a:endParaRPr lang="en-IN" dirty="0">
              <a:effectLst/>
            </a:endParaRPr>
          </a:p>
          <a:p>
            <a:pPr rtl="0" fontAlgn="base"/>
            <a:r>
              <a:rPr lang="en-IN" sz="1800" b="0" i="0" u="none" strike="noStrike" dirty="0">
                <a:solidFill>
                  <a:srgbClr val="1B1C1D"/>
                </a:solidFill>
                <a:effectLst/>
                <a:latin typeface="Google Sans Text"/>
              </a:rPr>
              <a:t>An edge is added if the two dishes share at least 2 attribute-value pairs.</a:t>
            </a:r>
            <a:endParaRPr lang="en-IN" sz="1800" b="0" i="0" u="none" strike="noStrike" dirty="0">
              <a:solidFill>
                <a:srgbClr val="000000"/>
              </a:solidFill>
              <a:effectLst/>
              <a:latin typeface="Arial" panose="020B0604020202020204" pitchFamily="34" charset="0"/>
            </a:endParaRPr>
          </a:p>
        </p:txBody>
      </p:sp>
    </p:spTree>
    <p:extLst>
      <p:ext uri="{BB962C8B-B14F-4D97-AF65-F5344CB8AC3E}">
        <p14:creationId xmlns:p14="http://schemas.microsoft.com/office/powerpoint/2010/main" val="11034573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414559-B249-E65D-94F7-9CD23EF92E2A}"/>
              </a:ext>
            </a:extLst>
          </p:cNvPr>
          <p:cNvSpPr>
            <a:spLocks noGrp="1"/>
          </p:cNvSpPr>
          <p:nvPr>
            <p:ph type="title"/>
          </p:nvPr>
        </p:nvSpPr>
        <p:spPr/>
        <p:txBody>
          <a:bodyPr>
            <a:normAutofit/>
          </a:bodyPr>
          <a:lstStyle/>
          <a:p>
            <a:r>
              <a:rPr lang="en-IN" sz="3600" b="1" i="0" u="none" strike="noStrike" dirty="0">
                <a:solidFill>
                  <a:srgbClr val="1B1C1D"/>
                </a:solidFill>
                <a:effectLst/>
                <a:latin typeface="Google Sans"/>
              </a:rPr>
              <a:t>Code Snippets</a:t>
            </a:r>
            <a:endParaRPr lang="en-US" sz="3600" dirty="0"/>
          </a:p>
        </p:txBody>
      </p:sp>
      <p:sp>
        <p:nvSpPr>
          <p:cNvPr id="3" name="Content Placeholder 2">
            <a:extLst>
              <a:ext uri="{FF2B5EF4-FFF2-40B4-BE49-F238E27FC236}">
                <a16:creationId xmlns:a16="http://schemas.microsoft.com/office/drawing/2014/main" id="{A906E25E-FAEA-EDD9-1275-13E2E80884E2}"/>
              </a:ext>
            </a:extLst>
          </p:cNvPr>
          <p:cNvSpPr>
            <a:spLocks noGrp="1"/>
          </p:cNvSpPr>
          <p:nvPr>
            <p:ph idx="1"/>
          </p:nvPr>
        </p:nvSpPr>
        <p:spPr>
          <a:xfrm>
            <a:off x="838200" y="1495583"/>
            <a:ext cx="10515600" cy="4551363"/>
          </a:xfrm>
        </p:spPr>
        <p:txBody>
          <a:bodyPr>
            <a:normAutofit/>
          </a:bodyPr>
          <a:lstStyle/>
          <a:p>
            <a:pPr rtl="0"/>
            <a:r>
              <a:rPr lang="en-IN" sz="1800" b="1" i="0" u="none" strike="noStrike" dirty="0">
                <a:solidFill>
                  <a:srgbClr val="1B1C1D"/>
                </a:solidFill>
                <a:effectLst/>
                <a:latin typeface="Google Sans Text"/>
              </a:rPr>
              <a:t>Calculating Similarity &amp; Adding Edges:</a:t>
            </a:r>
          </a:p>
          <a:p>
            <a:pPr rtl="0"/>
            <a:endParaRPr lang="en-IN" sz="1800" b="1" dirty="0">
              <a:solidFill>
                <a:srgbClr val="1B1C1D"/>
              </a:solidFill>
              <a:latin typeface="Google Sans Text"/>
            </a:endParaRPr>
          </a:p>
          <a:p>
            <a:pPr rtl="0"/>
            <a:endParaRPr lang="en-IN" sz="1800" b="1" dirty="0">
              <a:solidFill>
                <a:srgbClr val="1B1C1D"/>
              </a:solidFill>
              <a:latin typeface="Google Sans Text"/>
            </a:endParaRPr>
          </a:p>
          <a:p>
            <a:pPr rtl="0"/>
            <a:endParaRPr lang="en-IN" sz="1800" b="1" dirty="0">
              <a:solidFill>
                <a:srgbClr val="1B1C1D"/>
              </a:solidFill>
              <a:latin typeface="Google Sans Text"/>
            </a:endParaRPr>
          </a:p>
          <a:p>
            <a:pPr rtl="0"/>
            <a:endParaRPr lang="en-IN" sz="1800" b="1" dirty="0">
              <a:solidFill>
                <a:srgbClr val="1B1C1D"/>
              </a:solidFill>
              <a:latin typeface="Google Sans Text"/>
            </a:endParaRPr>
          </a:p>
          <a:p>
            <a:pPr marL="0" indent="0" rtl="0">
              <a:buNone/>
            </a:pPr>
            <a:endParaRPr lang="en-IN" dirty="0"/>
          </a:p>
          <a:p>
            <a:pPr rtl="0"/>
            <a:r>
              <a:rPr lang="en-IN" sz="1800" b="1" i="0" u="none" strike="noStrike" dirty="0">
                <a:solidFill>
                  <a:srgbClr val="1B1C1D"/>
                </a:solidFill>
                <a:effectLst/>
                <a:latin typeface="Google Sans Text"/>
              </a:rPr>
              <a:t>Graph Visualization (</a:t>
            </a:r>
            <a:r>
              <a:rPr lang="en-IN" sz="1800" b="1" i="0" u="none" strike="noStrike" dirty="0" err="1">
                <a:solidFill>
                  <a:srgbClr val="1B1C1D"/>
                </a:solidFill>
                <a:effectLst/>
                <a:latin typeface="Google Sans Text"/>
              </a:rPr>
              <a:t>NetworkX</a:t>
            </a:r>
            <a:r>
              <a:rPr lang="en-IN" sz="1800" b="1" i="0" u="none" strike="noStrike" dirty="0">
                <a:solidFill>
                  <a:srgbClr val="1B1C1D"/>
                </a:solidFill>
                <a:effectLst/>
                <a:latin typeface="Google Sans Text"/>
              </a:rPr>
              <a:t>):</a:t>
            </a:r>
            <a:br>
              <a:rPr lang="en-IN" dirty="0"/>
            </a:br>
            <a:endParaRPr lang="en-US" dirty="0"/>
          </a:p>
        </p:txBody>
      </p:sp>
      <p:pic>
        <p:nvPicPr>
          <p:cNvPr id="5" name="Picture 4">
            <a:extLst>
              <a:ext uri="{FF2B5EF4-FFF2-40B4-BE49-F238E27FC236}">
                <a16:creationId xmlns:a16="http://schemas.microsoft.com/office/drawing/2014/main" id="{25B6EBA4-B5CA-82CC-7163-C300FCA17F11}"/>
              </a:ext>
            </a:extLst>
          </p:cNvPr>
          <p:cNvPicPr>
            <a:picLocks noChangeAspect="1"/>
          </p:cNvPicPr>
          <p:nvPr/>
        </p:nvPicPr>
        <p:blipFill>
          <a:blip r:embed="rId2">
            <a:extLst>
              <a:ext uri="{28A0092B-C50C-407E-A947-70E740481C1C}">
                <a14:useLocalDpi xmlns:a14="http://schemas.microsoft.com/office/drawing/2010/main" val="0"/>
              </a:ext>
            </a:extLst>
          </a:blip>
          <a:srcRect l="4333" t="12220" r="4167" b="12699"/>
          <a:stretch>
            <a:fillRect/>
          </a:stretch>
        </p:blipFill>
        <p:spPr>
          <a:xfrm>
            <a:off x="1107440" y="1865400"/>
            <a:ext cx="6614160" cy="1885457"/>
          </a:xfrm>
          <a:prstGeom prst="rect">
            <a:avLst/>
          </a:prstGeom>
        </p:spPr>
      </p:pic>
      <p:pic>
        <p:nvPicPr>
          <p:cNvPr id="7" name="Picture 6">
            <a:extLst>
              <a:ext uri="{FF2B5EF4-FFF2-40B4-BE49-F238E27FC236}">
                <a16:creationId xmlns:a16="http://schemas.microsoft.com/office/drawing/2014/main" id="{137BC8FA-385F-01BF-A1DB-844945BAAC4C}"/>
              </a:ext>
            </a:extLst>
          </p:cNvPr>
          <p:cNvPicPr>
            <a:picLocks noChangeAspect="1"/>
          </p:cNvPicPr>
          <p:nvPr/>
        </p:nvPicPr>
        <p:blipFill>
          <a:blip r:embed="rId3">
            <a:extLst>
              <a:ext uri="{28A0092B-C50C-407E-A947-70E740481C1C}">
                <a14:useLocalDpi xmlns:a14="http://schemas.microsoft.com/office/drawing/2010/main" val="0"/>
              </a:ext>
            </a:extLst>
          </a:blip>
          <a:srcRect l="4916" t="13902" r="6084" b="15234"/>
          <a:stretch>
            <a:fillRect/>
          </a:stretch>
        </p:blipFill>
        <p:spPr>
          <a:xfrm>
            <a:off x="1107440" y="4231240"/>
            <a:ext cx="7574280" cy="2262354"/>
          </a:xfrm>
          <a:prstGeom prst="rect">
            <a:avLst/>
          </a:prstGeom>
        </p:spPr>
      </p:pic>
    </p:spTree>
    <p:extLst>
      <p:ext uri="{BB962C8B-B14F-4D97-AF65-F5344CB8AC3E}">
        <p14:creationId xmlns:p14="http://schemas.microsoft.com/office/powerpoint/2010/main" val="15100292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F4110-9818-4709-B857-39BFF5327143}"/>
              </a:ext>
            </a:extLst>
          </p:cNvPr>
          <p:cNvSpPr>
            <a:spLocks noGrp="1"/>
          </p:cNvSpPr>
          <p:nvPr>
            <p:ph type="title"/>
          </p:nvPr>
        </p:nvSpPr>
        <p:spPr/>
        <p:txBody>
          <a:bodyPr>
            <a:normAutofit/>
          </a:bodyPr>
          <a:lstStyle/>
          <a:p>
            <a:r>
              <a:rPr lang="en-IN" sz="3600" b="1" i="0" u="none" strike="noStrike" dirty="0">
                <a:solidFill>
                  <a:srgbClr val="1B1C1D"/>
                </a:solidFill>
                <a:effectLst/>
                <a:latin typeface="Google Sans"/>
              </a:rPr>
              <a:t>Graph Output &amp; Shortest Path</a:t>
            </a:r>
            <a:endParaRPr lang="en-US" sz="3600" dirty="0"/>
          </a:p>
        </p:txBody>
      </p:sp>
      <p:sp>
        <p:nvSpPr>
          <p:cNvPr id="3" name="Content Placeholder 2">
            <a:extLst>
              <a:ext uri="{FF2B5EF4-FFF2-40B4-BE49-F238E27FC236}">
                <a16:creationId xmlns:a16="http://schemas.microsoft.com/office/drawing/2014/main" id="{F2FDBDDA-78E9-F933-CC20-373BCC1A67D1}"/>
              </a:ext>
            </a:extLst>
          </p:cNvPr>
          <p:cNvSpPr>
            <a:spLocks noGrp="1"/>
          </p:cNvSpPr>
          <p:nvPr>
            <p:ph idx="1"/>
          </p:nvPr>
        </p:nvSpPr>
        <p:spPr>
          <a:xfrm>
            <a:off x="838199" y="1690688"/>
            <a:ext cx="5158563" cy="4486275"/>
          </a:xfrm>
        </p:spPr>
        <p:txBody>
          <a:bodyPr/>
          <a:lstStyle/>
          <a:p>
            <a:pPr rtl="0"/>
            <a:r>
              <a:rPr lang="en-IN" sz="1800" b="1" i="0" u="none" strike="noStrike" dirty="0">
                <a:solidFill>
                  <a:srgbClr val="1B1C1D"/>
                </a:solidFill>
                <a:effectLst/>
                <a:latin typeface="Google Sans Text"/>
              </a:rPr>
              <a:t>Visualized Graph (Example):</a:t>
            </a:r>
            <a:endParaRPr lang="en-IN" dirty="0">
              <a:effectLst/>
            </a:endParaRPr>
          </a:p>
          <a:p>
            <a:pPr rtl="0"/>
            <a:r>
              <a:rPr lang="en-IN" sz="1800" b="0" i="0" u="none" strike="noStrike" dirty="0">
                <a:solidFill>
                  <a:srgbClr val="000000"/>
                </a:solidFill>
                <a:effectLst/>
                <a:latin typeface="Google Sans Text"/>
              </a:rPr>
              <a:t>Shortest Path Analysis (</a:t>
            </a:r>
            <a:r>
              <a:rPr lang="en-IN" sz="1800" b="0" i="0" u="none" strike="noStrike" dirty="0" err="1">
                <a:solidFill>
                  <a:srgbClr val="000000"/>
                </a:solidFill>
                <a:effectLst/>
                <a:latin typeface="Google Sans Text"/>
              </a:rPr>
              <a:t>Dijkstra's</a:t>
            </a:r>
            <a:r>
              <a:rPr lang="en-IN" sz="1800" b="0" i="0" u="none" strike="noStrike" dirty="0">
                <a:solidFill>
                  <a:srgbClr val="000000"/>
                </a:solidFill>
                <a:effectLst/>
                <a:latin typeface="Google Sans Text"/>
              </a:rPr>
              <a:t> Algorithm):</a:t>
            </a:r>
            <a:endParaRPr lang="en-IN" dirty="0">
              <a:effectLst/>
            </a:endParaRPr>
          </a:p>
          <a:p>
            <a:pPr rtl="0"/>
            <a:r>
              <a:rPr lang="en-IN" sz="1800" b="0" i="0" u="none" strike="noStrike" dirty="0">
                <a:solidFill>
                  <a:srgbClr val="000000"/>
                </a:solidFill>
                <a:effectLst/>
                <a:latin typeface="Google Sans Text"/>
              </a:rPr>
              <a:t>The code includes a function </a:t>
            </a:r>
            <a:r>
              <a:rPr lang="en-IN" sz="1800" b="0" i="0" u="none" strike="noStrike" dirty="0" err="1">
                <a:solidFill>
                  <a:srgbClr val="000000"/>
                </a:solidFill>
                <a:effectLst/>
                <a:latin typeface="Google Sans Text"/>
              </a:rPr>
              <a:t>djikstra</a:t>
            </a:r>
            <a:r>
              <a:rPr lang="en-IN" sz="1800" b="0" i="0" u="none" strike="noStrike" dirty="0">
                <a:solidFill>
                  <a:srgbClr val="000000"/>
                </a:solidFill>
                <a:effectLst/>
                <a:latin typeface="Google Sans Text"/>
              </a:rPr>
              <a:t>() to find the shortest path between two nodes (dishes) on the constructed graph, where edge weights are simply 1 (due to the ≥2 shared feature threshold).</a:t>
            </a:r>
            <a:endParaRPr lang="en-IN" dirty="0">
              <a:effectLst/>
            </a:endParaRPr>
          </a:p>
          <a:p>
            <a:pPr rtl="0" fontAlgn="base"/>
            <a:r>
              <a:rPr lang="en-IN" sz="1800" b="1" i="0" u="none" strike="noStrike" dirty="0">
                <a:solidFill>
                  <a:srgbClr val="1B1C1D"/>
                </a:solidFill>
                <a:effectLst/>
                <a:latin typeface="Google Sans Text"/>
              </a:rPr>
              <a:t>Example Input:</a:t>
            </a:r>
            <a:r>
              <a:rPr lang="en-IN" sz="1800" b="0" i="0" u="none" strike="noStrike" dirty="0">
                <a:solidFill>
                  <a:srgbClr val="1B1C1D"/>
                </a:solidFill>
                <a:effectLst/>
                <a:latin typeface="Google Sans Text"/>
              </a:rPr>
              <a:t> Start Node 4 (</a:t>
            </a:r>
            <a:r>
              <a:rPr lang="en-IN" sz="1800" b="0" i="0" u="none" strike="noStrike" dirty="0" err="1">
                <a:solidFill>
                  <a:srgbClr val="1B1C1D"/>
                </a:solidFill>
                <a:effectLst/>
                <a:latin typeface="Google Sans Text"/>
              </a:rPr>
              <a:t>Papad</a:t>
            </a:r>
            <a:r>
              <a:rPr lang="en-IN" sz="1800" b="0" i="0" u="none" strike="noStrike" dirty="0">
                <a:solidFill>
                  <a:srgbClr val="1B1C1D"/>
                </a:solidFill>
                <a:effectLst/>
                <a:latin typeface="Google Sans Text"/>
              </a:rPr>
              <a:t>), End Node 3 (Fish Curry)</a:t>
            </a:r>
            <a:endParaRPr lang="en-IN" sz="1800" b="0" i="0" u="none" strike="noStrike" dirty="0">
              <a:solidFill>
                <a:srgbClr val="000000"/>
              </a:solidFill>
              <a:effectLst/>
              <a:latin typeface="Arial" panose="020B0604020202020204" pitchFamily="34" charset="0"/>
            </a:endParaRPr>
          </a:p>
          <a:p>
            <a:pPr rtl="0" fontAlgn="base"/>
            <a:r>
              <a:rPr lang="en-IN" sz="1800" b="1" i="0" u="none" strike="noStrike" dirty="0">
                <a:solidFill>
                  <a:srgbClr val="1B1C1D"/>
                </a:solidFill>
                <a:effectLst/>
                <a:latin typeface="Google Sans Text"/>
              </a:rPr>
              <a:t>Example Output:</a:t>
            </a:r>
            <a:br>
              <a:rPr lang="en-IN" sz="1800" b="0" i="0" u="none" strike="noStrike" dirty="0">
                <a:solidFill>
                  <a:srgbClr val="000000"/>
                </a:solidFill>
                <a:effectLst/>
                <a:latin typeface="Arial" panose="020B0604020202020204" pitchFamily="34" charset="0"/>
              </a:rPr>
            </a:br>
            <a:r>
              <a:rPr lang="en-IN" sz="1800" b="0" i="0" u="none" strike="noStrike" dirty="0" err="1">
                <a:solidFill>
                  <a:srgbClr val="1B1C1D"/>
                </a:solidFill>
                <a:effectLst/>
                <a:latin typeface="Google Sans Text"/>
              </a:rPr>
              <a:t>Dijkstra's</a:t>
            </a:r>
            <a:r>
              <a:rPr lang="en-IN" sz="1800" b="0" i="0" u="none" strike="noStrike" dirty="0">
                <a:solidFill>
                  <a:srgbClr val="1B1C1D"/>
                </a:solidFill>
                <a:effectLst/>
                <a:latin typeface="Google Sans Text"/>
              </a:rPr>
              <a:t> Shortest Path: [4, 2, 5, 0, 3]</a:t>
            </a:r>
            <a:endParaRPr lang="en-IN" sz="1800" b="0" i="0" u="none" strike="noStrike" dirty="0">
              <a:solidFill>
                <a:srgbClr val="000000"/>
              </a:solidFill>
              <a:effectLst/>
              <a:latin typeface="Arial" panose="020B0604020202020204" pitchFamily="34" charset="0"/>
            </a:endParaRPr>
          </a:p>
          <a:p>
            <a:pPr rtl="0" fontAlgn="base"/>
            <a:r>
              <a:rPr lang="en-IN" sz="1800" b="1" i="0" u="none" strike="noStrike" dirty="0">
                <a:solidFill>
                  <a:srgbClr val="1B1C1D"/>
                </a:solidFill>
                <a:effectLst/>
                <a:latin typeface="Google Sans Text"/>
              </a:rPr>
              <a:t>Interpretation:</a:t>
            </a:r>
            <a:r>
              <a:rPr lang="en-IN" sz="1800" b="0" i="0" u="none" strike="noStrike" dirty="0">
                <a:solidFill>
                  <a:srgbClr val="1B1C1D"/>
                </a:solidFill>
                <a:effectLst/>
                <a:latin typeface="Google Sans Text"/>
              </a:rPr>
              <a:t> The shortest sequence of related dishes to go from Dish 4 to Dish 3 is through dishes 2, 5, and 0.</a:t>
            </a:r>
            <a:endParaRPr lang="en-IN" sz="1800" b="0" i="0" u="none" strike="noStrike" dirty="0">
              <a:solidFill>
                <a:srgbClr val="000000"/>
              </a:solidFill>
              <a:effectLst/>
              <a:latin typeface="Arial" panose="020B0604020202020204" pitchFamily="34" charset="0"/>
            </a:endParaRPr>
          </a:p>
          <a:p>
            <a:pPr marL="0" indent="0">
              <a:buNone/>
            </a:pPr>
            <a:endParaRPr lang="en-IN" dirty="0"/>
          </a:p>
        </p:txBody>
      </p:sp>
      <p:pic>
        <p:nvPicPr>
          <p:cNvPr id="7" name="Picture 6">
            <a:extLst>
              <a:ext uri="{FF2B5EF4-FFF2-40B4-BE49-F238E27FC236}">
                <a16:creationId xmlns:a16="http://schemas.microsoft.com/office/drawing/2014/main" id="{3335D6D1-23E4-CF51-A8A6-8F31939CCF0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96762" y="1446531"/>
            <a:ext cx="5981006" cy="4730432"/>
          </a:xfrm>
          <a:prstGeom prst="rect">
            <a:avLst/>
          </a:prstGeom>
        </p:spPr>
      </p:pic>
    </p:spTree>
    <p:extLst>
      <p:ext uri="{BB962C8B-B14F-4D97-AF65-F5344CB8AC3E}">
        <p14:creationId xmlns:p14="http://schemas.microsoft.com/office/powerpoint/2010/main" val="37784789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64750D-301B-D7A8-30D6-DF9DD3EEDF46}"/>
              </a:ext>
            </a:extLst>
          </p:cNvPr>
          <p:cNvSpPr>
            <a:spLocks noGrp="1"/>
          </p:cNvSpPr>
          <p:nvPr>
            <p:ph type="title"/>
          </p:nvPr>
        </p:nvSpPr>
        <p:spPr/>
        <p:txBody>
          <a:bodyPr>
            <a:normAutofit/>
          </a:bodyPr>
          <a:lstStyle/>
          <a:p>
            <a:r>
              <a:rPr lang="en-IN" sz="3600" b="1" dirty="0"/>
              <a:t>Analysis &amp; Conclusion</a:t>
            </a:r>
            <a:endParaRPr lang="en-US" sz="3600" b="1" dirty="0"/>
          </a:p>
        </p:txBody>
      </p:sp>
      <p:sp>
        <p:nvSpPr>
          <p:cNvPr id="3" name="Content Placeholder 2">
            <a:extLst>
              <a:ext uri="{FF2B5EF4-FFF2-40B4-BE49-F238E27FC236}">
                <a16:creationId xmlns:a16="http://schemas.microsoft.com/office/drawing/2014/main" id="{E17345F9-1FBE-8D45-DA7D-667948CB2B02}"/>
              </a:ext>
            </a:extLst>
          </p:cNvPr>
          <p:cNvSpPr>
            <a:spLocks noGrp="1"/>
          </p:cNvSpPr>
          <p:nvPr>
            <p:ph idx="1"/>
          </p:nvPr>
        </p:nvSpPr>
        <p:spPr>
          <a:xfrm>
            <a:off x="838200" y="1027906"/>
            <a:ext cx="9574306" cy="5127811"/>
          </a:xfrm>
        </p:spPr>
        <p:txBody>
          <a:bodyPr>
            <a:noAutofit/>
          </a:bodyPr>
          <a:lstStyle/>
          <a:p>
            <a:pPr marL="0" indent="0">
              <a:buNone/>
            </a:pPr>
            <a:r>
              <a:rPr lang="en-IN" sz="2400" dirty="0">
                <a:latin typeface="Calibri" panose="020F0502020204030204" pitchFamily="34" charset="0"/>
                <a:cs typeface="Arial" panose="020B0604020202020204" pitchFamily="34" charset="0"/>
              </a:rPr>
              <a:t>
AI Technique: The transformation of tabular data into a similarity graph is a form of data clustering/relation extraction, a core data mining technique.
Graph Utility: The graph reveals non-obvious relationships between dishes based on shared features. For example, two dishes are similar if they share the same Place and </a:t>
            </a:r>
            <a:r>
              <a:rPr lang="en-IN" sz="2400" dirty="0" err="1">
                <a:latin typeface="Calibri" panose="020F0502020204030204" pitchFamily="34" charset="0"/>
                <a:cs typeface="Arial" panose="020B0604020202020204" pitchFamily="34" charset="0"/>
              </a:rPr>
              <a:t>TypeOfDish</a:t>
            </a:r>
            <a:r>
              <a:rPr lang="en-IN" sz="2400" dirty="0">
                <a:latin typeface="Calibri" panose="020F0502020204030204" pitchFamily="34" charset="0"/>
                <a:cs typeface="Arial" panose="020B0604020202020204" pitchFamily="34" charset="0"/>
              </a:rPr>
              <a:t>, even if they are different Dishes.
Shortest Path: Using </a:t>
            </a:r>
            <a:r>
              <a:rPr lang="en-IN" sz="2400" dirty="0" err="1">
                <a:latin typeface="Calibri" panose="020F0502020204030204" pitchFamily="34" charset="0"/>
                <a:cs typeface="Arial" panose="020B0604020202020204" pitchFamily="34" charset="0"/>
              </a:rPr>
              <a:t>Dijkstra’s</a:t>
            </a:r>
            <a:r>
              <a:rPr lang="en-IN" sz="2400" dirty="0">
                <a:latin typeface="Calibri" panose="020F0502020204030204" pitchFamily="34" charset="0"/>
                <a:cs typeface="Arial" panose="020B0604020202020204" pitchFamily="34" charset="0"/>
              </a:rPr>
              <a:t> algorithm allows for measuring the relational distance between any two dishes, providing a basis for recommendations or grouping.
Weighting: Currently, all edges have a weight of 1. Future work could use the actual similarity value (number of shared features) as the edge weight to represent a stronger relationship, which would provide a more nuanced shortest path result (finding the path that passes through the most highly related </a:t>
            </a:r>
            <a:r>
              <a:rPr lang="en-IN" sz="2400">
                <a:latin typeface="Calibri" panose="020F0502020204030204" pitchFamily="34" charset="0"/>
                <a:cs typeface="Arial" panose="020B0604020202020204" pitchFamily="34" charset="0"/>
              </a:rPr>
              <a:t>dishes).</a:t>
            </a:r>
            <a:endParaRPr lang="en-US" sz="2400" dirty="0">
              <a:latin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10955394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D6D586-E7EB-1688-7A8E-A83288DD7EE1}"/>
              </a:ext>
            </a:extLst>
          </p:cNvPr>
          <p:cNvSpPr>
            <a:spLocks noGrp="1"/>
          </p:cNvSpPr>
          <p:nvPr>
            <p:ph type="title"/>
          </p:nvPr>
        </p:nvSpPr>
        <p:spPr/>
        <p:txBody>
          <a:bodyPr>
            <a:normAutofit/>
          </a:bodyPr>
          <a:lstStyle/>
          <a:p>
            <a:r>
              <a:rPr lang="en-IN" sz="3600" b="1" i="0" u="none" strike="noStrike" dirty="0">
                <a:solidFill>
                  <a:srgbClr val="1B1C1D"/>
                </a:solidFill>
                <a:effectLst/>
                <a:latin typeface="Google Sans"/>
              </a:rPr>
              <a:t>Tower of Hanoi - Problem Formulation &amp; State Space</a:t>
            </a:r>
            <a:endParaRPr lang="en-US" sz="3600" dirty="0"/>
          </a:p>
        </p:txBody>
      </p:sp>
      <p:sp>
        <p:nvSpPr>
          <p:cNvPr id="3" name="Content Placeholder 2">
            <a:extLst>
              <a:ext uri="{FF2B5EF4-FFF2-40B4-BE49-F238E27FC236}">
                <a16:creationId xmlns:a16="http://schemas.microsoft.com/office/drawing/2014/main" id="{BA0F526E-E766-FF52-7457-6EAEC688DFA4}"/>
              </a:ext>
            </a:extLst>
          </p:cNvPr>
          <p:cNvSpPr>
            <a:spLocks noGrp="1"/>
          </p:cNvSpPr>
          <p:nvPr>
            <p:ph idx="1"/>
          </p:nvPr>
        </p:nvSpPr>
        <p:spPr/>
        <p:txBody>
          <a:bodyPr>
            <a:normAutofit/>
          </a:bodyPr>
          <a:lstStyle/>
          <a:p>
            <a:pPr rtl="0"/>
            <a:r>
              <a:rPr lang="en-IN" sz="1800" b="1" i="0" u="none" strike="noStrike" dirty="0">
                <a:solidFill>
                  <a:srgbClr val="1B1C1D"/>
                </a:solidFill>
                <a:effectLst/>
                <a:latin typeface="Google Sans Text"/>
              </a:rPr>
              <a:t>Goal:</a:t>
            </a:r>
            <a:r>
              <a:rPr lang="en-IN" sz="1800" b="0" i="0" u="none" strike="noStrike" dirty="0">
                <a:solidFill>
                  <a:srgbClr val="1B1C1D"/>
                </a:solidFill>
                <a:effectLst/>
                <a:latin typeface="Google Sans Text"/>
              </a:rPr>
              <a:t> Transfer  disks from a </a:t>
            </a:r>
            <a:r>
              <a:rPr lang="en-IN" sz="1800" b="1" i="0" u="none" strike="noStrike" dirty="0">
                <a:solidFill>
                  <a:srgbClr val="1B1C1D"/>
                </a:solidFill>
                <a:effectLst/>
                <a:latin typeface="Google Sans Text"/>
              </a:rPr>
              <a:t>Source Rod</a:t>
            </a:r>
            <a:r>
              <a:rPr lang="en-IN" sz="1800" b="0" i="0" u="none" strike="noStrike" dirty="0">
                <a:solidFill>
                  <a:srgbClr val="1B1C1D"/>
                </a:solidFill>
                <a:effectLst/>
                <a:latin typeface="Google Sans Text"/>
              </a:rPr>
              <a:t> to a </a:t>
            </a:r>
            <a:r>
              <a:rPr lang="en-IN" sz="1800" b="1" i="0" u="none" strike="noStrike" dirty="0">
                <a:solidFill>
                  <a:srgbClr val="1B1C1D"/>
                </a:solidFill>
                <a:effectLst/>
                <a:latin typeface="Google Sans Text"/>
              </a:rPr>
              <a:t>Destination Rod</a:t>
            </a:r>
            <a:r>
              <a:rPr lang="en-IN" sz="1800" b="0" i="0" u="none" strike="noStrike" dirty="0">
                <a:solidFill>
                  <a:srgbClr val="1B1C1D"/>
                </a:solidFill>
                <a:effectLst/>
                <a:latin typeface="Google Sans Text"/>
              </a:rPr>
              <a:t>, using an </a:t>
            </a:r>
            <a:r>
              <a:rPr lang="en-IN" sz="1800" b="1" i="0" u="none" strike="noStrike" dirty="0">
                <a:solidFill>
                  <a:srgbClr val="1B1C1D"/>
                </a:solidFill>
                <a:effectLst/>
                <a:latin typeface="Google Sans Text"/>
              </a:rPr>
              <a:t>Auxiliary Rod</a:t>
            </a:r>
            <a:r>
              <a:rPr lang="en-IN" sz="1800" b="0" i="0" u="none" strike="noStrike" dirty="0">
                <a:solidFill>
                  <a:srgbClr val="1B1C1D"/>
                </a:solidFill>
                <a:effectLst/>
                <a:latin typeface="Google Sans Text"/>
              </a:rPr>
              <a:t>, following two rules:</a:t>
            </a:r>
            <a:endParaRPr lang="en-IN" dirty="0">
              <a:effectLst/>
            </a:endParaRPr>
          </a:p>
          <a:p>
            <a:pPr rtl="0" fontAlgn="base"/>
            <a:r>
              <a:rPr lang="en-IN" sz="1800" b="0" i="0" u="none" strike="noStrike" dirty="0">
                <a:solidFill>
                  <a:srgbClr val="1B1C1D"/>
                </a:solidFill>
                <a:effectLst/>
                <a:latin typeface="Google Sans Text"/>
              </a:rPr>
              <a:t>Only one disk can be moved at a time.</a:t>
            </a:r>
            <a:endParaRPr lang="en-IN" sz="1800" b="0" i="0" u="none" strike="noStrike" dirty="0">
              <a:solidFill>
                <a:srgbClr val="000000"/>
              </a:solidFill>
              <a:effectLst/>
              <a:latin typeface="Arial" panose="020B0604020202020204" pitchFamily="34" charset="0"/>
            </a:endParaRPr>
          </a:p>
          <a:p>
            <a:pPr rtl="0" fontAlgn="base"/>
            <a:r>
              <a:rPr lang="en-IN" sz="1800" b="0" i="0" u="none" strike="noStrike" dirty="0">
                <a:solidFill>
                  <a:srgbClr val="1B1C1D"/>
                </a:solidFill>
                <a:effectLst/>
                <a:latin typeface="Google Sans Text"/>
              </a:rPr>
              <a:t>A larger disk may never be placed on top of a smaller disk.</a:t>
            </a:r>
            <a:endParaRPr lang="en-IN" sz="1800" b="0" i="0" u="none" strike="noStrike" dirty="0">
              <a:solidFill>
                <a:srgbClr val="000000"/>
              </a:solidFill>
              <a:effectLst/>
              <a:latin typeface="Arial" panose="020B0604020202020204" pitchFamily="34" charset="0"/>
            </a:endParaRPr>
          </a:p>
          <a:p>
            <a:pPr rtl="0"/>
            <a:r>
              <a:rPr lang="en-IN" sz="1800" b="1" i="0" u="none" strike="noStrike" dirty="0">
                <a:solidFill>
                  <a:srgbClr val="1B1C1D"/>
                </a:solidFill>
                <a:effectLst/>
                <a:latin typeface="Google Sans Text"/>
              </a:rPr>
              <a:t>Core Concept:</a:t>
            </a:r>
            <a:r>
              <a:rPr lang="en-IN" sz="1800" b="0" i="0" u="none" strike="noStrike" dirty="0">
                <a:solidFill>
                  <a:srgbClr val="1B1C1D"/>
                </a:solidFill>
                <a:effectLst/>
                <a:latin typeface="Google Sans Text"/>
              </a:rPr>
              <a:t> Search and Recursive Problem Solving.</a:t>
            </a:r>
            <a:endParaRPr lang="en-IN" dirty="0">
              <a:effectLst/>
            </a:endParaRPr>
          </a:p>
          <a:p>
            <a:pPr rtl="0"/>
            <a:r>
              <a:rPr lang="en-IN" sz="1800" b="1" i="0" u="none" strike="noStrike" dirty="0">
                <a:solidFill>
                  <a:srgbClr val="1B1C1D"/>
                </a:solidFill>
                <a:effectLst/>
                <a:latin typeface="Google Sans Text"/>
              </a:rPr>
              <a:t>State Space:</a:t>
            </a:r>
            <a:r>
              <a:rPr lang="en-IN" sz="1800" b="0" i="0" u="none" strike="noStrike" dirty="0">
                <a:solidFill>
                  <a:srgbClr val="1B1C1D"/>
                </a:solidFill>
                <a:effectLst/>
                <a:latin typeface="Google Sans Text"/>
              </a:rPr>
              <a:t> Defined by the arrangement of disks across the three rods (A, B, C).</a:t>
            </a:r>
            <a:endParaRPr lang="en-IN" dirty="0">
              <a:effectLst/>
            </a:endParaRPr>
          </a:p>
          <a:p>
            <a:pPr rtl="0" fontAlgn="base"/>
            <a:r>
              <a:rPr lang="en-IN" sz="1800" b="1" i="0" u="none" strike="noStrike" dirty="0">
                <a:solidFill>
                  <a:srgbClr val="1B1C1D"/>
                </a:solidFill>
                <a:effectLst/>
                <a:latin typeface="Google Sans Text"/>
              </a:rPr>
              <a:t>Rods:</a:t>
            </a:r>
            <a:r>
              <a:rPr lang="en-IN" sz="1800" b="0" i="0" u="none" strike="noStrike" dirty="0">
                <a:solidFill>
                  <a:srgbClr val="1B1C1D"/>
                </a:solidFill>
                <a:effectLst/>
                <a:latin typeface="Google Sans Text"/>
              </a:rPr>
              <a:t> Defined by a stack.</a:t>
            </a:r>
            <a:endParaRPr lang="en-IN" sz="1800" b="0" i="0" u="none" strike="noStrike" dirty="0">
              <a:solidFill>
                <a:srgbClr val="000000"/>
              </a:solidFill>
              <a:effectLst/>
              <a:latin typeface="Arial" panose="020B0604020202020204" pitchFamily="34" charset="0"/>
            </a:endParaRPr>
          </a:p>
          <a:p>
            <a:pPr rtl="0" fontAlgn="base"/>
            <a:r>
              <a:rPr lang="en-IN" sz="1800" b="1" i="0" u="none" strike="noStrike" dirty="0">
                <a:solidFill>
                  <a:srgbClr val="1B1C1D"/>
                </a:solidFill>
                <a:effectLst/>
                <a:latin typeface="Google Sans Text"/>
              </a:rPr>
              <a:t>Disks:</a:t>
            </a:r>
            <a:r>
              <a:rPr lang="en-IN" sz="1800" b="0" i="0" u="none" strike="noStrike" dirty="0">
                <a:solidFill>
                  <a:srgbClr val="1B1C1D"/>
                </a:solidFill>
                <a:effectLst/>
                <a:latin typeface="Google Sans Text"/>
              </a:rPr>
              <a:t> Numbered  (smallest) to  (largest).</a:t>
            </a:r>
            <a:endParaRPr lang="en-IN" sz="1800" b="0" i="0" u="none" strike="noStrike" dirty="0">
              <a:solidFill>
                <a:srgbClr val="000000"/>
              </a:solidFill>
              <a:effectLst/>
              <a:latin typeface="Arial" panose="020B0604020202020204" pitchFamily="34" charset="0"/>
            </a:endParaRPr>
          </a:p>
          <a:p>
            <a:pPr rtl="0" fontAlgn="base"/>
            <a:r>
              <a:rPr lang="en-IN" sz="1800" b="1" i="0" u="none" strike="noStrike" dirty="0">
                <a:solidFill>
                  <a:srgbClr val="1B1C1D"/>
                </a:solidFill>
                <a:effectLst/>
                <a:latin typeface="Google Sans Text"/>
              </a:rPr>
              <a:t>State Representation:</a:t>
            </a:r>
            <a:r>
              <a:rPr lang="en-IN" sz="1800" b="0" i="0" u="none" strike="noStrike" dirty="0">
                <a:solidFill>
                  <a:srgbClr val="1B1C1D"/>
                </a:solidFill>
                <a:effectLst/>
                <a:latin typeface="Google Sans Text"/>
              </a:rPr>
              <a:t> A tuple/list of three stacks (tuples/lists), where each stack represents a rod, and the elements are the disks on that rod, from bottom to top.</a:t>
            </a:r>
            <a:endParaRPr lang="en-IN" sz="1800" b="0" i="0" u="none" strike="noStrike" dirty="0">
              <a:solidFill>
                <a:srgbClr val="000000"/>
              </a:solidFill>
              <a:effectLst/>
              <a:latin typeface="Arial" panose="020B0604020202020204" pitchFamily="34" charset="0"/>
            </a:endParaRPr>
          </a:p>
        </p:txBody>
      </p:sp>
    </p:spTree>
    <p:extLst>
      <p:ext uri="{BB962C8B-B14F-4D97-AF65-F5344CB8AC3E}">
        <p14:creationId xmlns:p14="http://schemas.microsoft.com/office/powerpoint/2010/main" val="39724952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39807C-D35A-E287-5767-502D9A4DB800}"/>
              </a:ext>
            </a:extLst>
          </p:cNvPr>
          <p:cNvSpPr>
            <a:spLocks noGrp="1"/>
          </p:cNvSpPr>
          <p:nvPr>
            <p:ph type="title"/>
          </p:nvPr>
        </p:nvSpPr>
        <p:spPr>
          <a:xfrm>
            <a:off x="838200" y="365126"/>
            <a:ext cx="10515600" cy="770404"/>
          </a:xfrm>
        </p:spPr>
        <p:txBody>
          <a:bodyPr>
            <a:normAutofit/>
          </a:bodyPr>
          <a:lstStyle/>
          <a:p>
            <a:r>
              <a:rPr lang="en-IN" sz="3600" b="1" i="0" u="none" strike="noStrike" dirty="0">
                <a:solidFill>
                  <a:srgbClr val="1B1C1D"/>
                </a:solidFill>
                <a:effectLst/>
                <a:latin typeface="Google Sans"/>
              </a:rPr>
              <a:t>Recursive Solution</a:t>
            </a:r>
            <a:endParaRPr lang="en-US" sz="3600" dirty="0"/>
          </a:p>
        </p:txBody>
      </p:sp>
      <p:sp>
        <p:nvSpPr>
          <p:cNvPr id="3" name="Content Placeholder 2">
            <a:extLst>
              <a:ext uri="{FF2B5EF4-FFF2-40B4-BE49-F238E27FC236}">
                <a16:creationId xmlns:a16="http://schemas.microsoft.com/office/drawing/2014/main" id="{138BD05F-C0FD-0F55-10A8-20A937C7706D}"/>
              </a:ext>
            </a:extLst>
          </p:cNvPr>
          <p:cNvSpPr>
            <a:spLocks noGrp="1"/>
          </p:cNvSpPr>
          <p:nvPr>
            <p:ph idx="1"/>
          </p:nvPr>
        </p:nvSpPr>
        <p:spPr>
          <a:xfrm>
            <a:off x="838200" y="1135530"/>
            <a:ext cx="10515600" cy="5041433"/>
          </a:xfrm>
        </p:spPr>
        <p:txBody>
          <a:bodyPr/>
          <a:lstStyle/>
          <a:p>
            <a:pPr rtl="0"/>
            <a:r>
              <a:rPr lang="en-IN" sz="1800" b="0" i="0" u="none" strike="noStrike" dirty="0">
                <a:solidFill>
                  <a:srgbClr val="1B1C1D"/>
                </a:solidFill>
                <a:effectLst/>
                <a:latin typeface="Google Sans Text"/>
              </a:rPr>
              <a:t>The canonical Towers of Hanoi solution is inherently </a:t>
            </a:r>
            <a:r>
              <a:rPr lang="en-IN" sz="1800" b="1" i="0" u="none" strike="noStrike" dirty="0">
                <a:solidFill>
                  <a:srgbClr val="1B1C1D"/>
                </a:solidFill>
                <a:effectLst/>
                <a:latin typeface="Google Sans Text"/>
              </a:rPr>
              <a:t>recursive</a:t>
            </a:r>
            <a:r>
              <a:rPr lang="en-IN" sz="1800" b="0" i="0" u="none" strike="noStrike" dirty="0">
                <a:solidFill>
                  <a:srgbClr val="1B1C1D"/>
                </a:solidFill>
                <a:effectLst/>
                <a:latin typeface="Google Sans Text"/>
              </a:rPr>
              <a:t>, following a Divide and Conquer strategy.</a:t>
            </a:r>
            <a:endParaRPr lang="en-IN" dirty="0">
              <a:effectLst/>
            </a:endParaRPr>
          </a:p>
          <a:p>
            <a:pPr rtl="0"/>
            <a:r>
              <a:rPr lang="en-IN" sz="1800" b="1" i="0" u="none" strike="noStrike" dirty="0" err="1">
                <a:solidFill>
                  <a:srgbClr val="1B1C1D"/>
                </a:solidFill>
                <a:effectLst/>
                <a:latin typeface="Google Sans Text"/>
              </a:rPr>
              <a:t>hanoi</a:t>
            </a:r>
            <a:r>
              <a:rPr lang="en-IN" sz="1800" b="1" i="0" u="none" strike="noStrike" dirty="0">
                <a:solidFill>
                  <a:srgbClr val="1B1C1D"/>
                </a:solidFill>
                <a:effectLst/>
                <a:latin typeface="Google Sans Text"/>
              </a:rPr>
              <a:t>(n, source, auxiliary, destination, pegs)</a:t>
            </a:r>
            <a:endParaRPr lang="en-IN" dirty="0">
              <a:effectLst/>
            </a:endParaRPr>
          </a:p>
          <a:p>
            <a:pPr rtl="0" fontAlgn="base"/>
            <a:r>
              <a:rPr lang="en-IN" sz="1800" b="1" i="0" u="none" strike="noStrike" dirty="0">
                <a:solidFill>
                  <a:srgbClr val="1B1C1D"/>
                </a:solidFill>
                <a:effectLst/>
                <a:latin typeface="Google Sans Text"/>
              </a:rPr>
              <a:t>Base Case:</a:t>
            </a:r>
            <a:r>
              <a:rPr lang="en-IN" sz="1800" b="0" i="0" u="none" strike="noStrike" dirty="0">
                <a:solidFill>
                  <a:srgbClr val="1B1C1D"/>
                </a:solidFill>
                <a:effectLst/>
                <a:latin typeface="Google Sans Text"/>
              </a:rPr>
              <a:t> If , move the single disk from source to destination.</a:t>
            </a:r>
            <a:endParaRPr lang="en-IN" sz="1800" b="0" i="0" u="none" strike="noStrike" dirty="0">
              <a:solidFill>
                <a:srgbClr val="000000"/>
              </a:solidFill>
              <a:effectLst/>
              <a:latin typeface="Arial" panose="020B0604020202020204" pitchFamily="34" charset="0"/>
            </a:endParaRPr>
          </a:p>
          <a:p>
            <a:pPr rtl="0" fontAlgn="base"/>
            <a:r>
              <a:rPr lang="en-IN" sz="1800" b="0" i="0" u="none" strike="noStrike" dirty="0">
                <a:solidFill>
                  <a:srgbClr val="1B1C1D"/>
                </a:solidFill>
                <a:effectLst/>
                <a:latin typeface="Google Sans Text"/>
              </a:rPr>
              <a:t>This is the simplest, terminal action.</a:t>
            </a:r>
            <a:endParaRPr lang="en-IN" sz="1800" b="0" i="0" u="none" strike="noStrike" dirty="0">
              <a:solidFill>
                <a:srgbClr val="000000"/>
              </a:solidFill>
              <a:effectLst/>
              <a:latin typeface="Arial" panose="020B0604020202020204" pitchFamily="34" charset="0"/>
            </a:endParaRPr>
          </a:p>
          <a:p>
            <a:pPr rtl="0" fontAlgn="base"/>
            <a:r>
              <a:rPr lang="en-IN" sz="1800" b="1" i="0" u="none" strike="noStrike" dirty="0">
                <a:solidFill>
                  <a:srgbClr val="1B1C1D"/>
                </a:solidFill>
                <a:effectLst/>
                <a:latin typeface="Google Sans Text"/>
              </a:rPr>
              <a:t>Recursive Step 1:</a:t>
            </a:r>
            <a:r>
              <a:rPr lang="en-IN" sz="1800" b="0" i="0" u="none" strike="noStrike" dirty="0">
                <a:solidFill>
                  <a:srgbClr val="1B1C1D"/>
                </a:solidFill>
                <a:effectLst/>
                <a:latin typeface="Google Sans Text"/>
              </a:rPr>
              <a:t> Move disks from source to auxiliary, using destination as the auxiliary rod.</a:t>
            </a:r>
            <a:endParaRPr lang="en-IN" sz="1800" b="0" i="0" u="none" strike="noStrike" dirty="0">
              <a:solidFill>
                <a:srgbClr val="000000"/>
              </a:solidFill>
              <a:effectLst/>
              <a:latin typeface="Arial" panose="020B0604020202020204" pitchFamily="34" charset="0"/>
            </a:endParaRPr>
          </a:p>
          <a:p>
            <a:pPr rtl="0" fontAlgn="base"/>
            <a:r>
              <a:rPr lang="en-IN" sz="1800" b="0" i="0" u="none" strike="noStrike" dirty="0" err="1">
                <a:solidFill>
                  <a:srgbClr val="1B1C1D"/>
                </a:solidFill>
                <a:effectLst/>
                <a:latin typeface="Google Sans Text"/>
              </a:rPr>
              <a:t>hanoi</a:t>
            </a:r>
            <a:r>
              <a:rPr lang="en-IN" sz="1800" b="0" i="0" u="none" strike="noStrike" dirty="0">
                <a:solidFill>
                  <a:srgbClr val="1B1C1D"/>
                </a:solidFill>
                <a:effectLst/>
                <a:latin typeface="Google Sans Text"/>
              </a:rPr>
              <a:t>(n - 1, source, destination, auxiliary, pegs)</a:t>
            </a:r>
            <a:endParaRPr lang="en-IN" sz="1800" b="0" i="0" u="none" strike="noStrike" dirty="0">
              <a:solidFill>
                <a:srgbClr val="000000"/>
              </a:solidFill>
              <a:effectLst/>
              <a:latin typeface="Arial" panose="020B0604020202020204" pitchFamily="34" charset="0"/>
            </a:endParaRPr>
          </a:p>
          <a:p>
            <a:pPr rtl="0" fontAlgn="base"/>
            <a:r>
              <a:rPr lang="en-IN" sz="1800" b="1" i="0" u="none" strike="noStrike" dirty="0">
                <a:solidFill>
                  <a:srgbClr val="1B1C1D"/>
                </a:solidFill>
                <a:effectLst/>
                <a:latin typeface="Google Sans Text"/>
              </a:rPr>
              <a:t>Recursive Step 2:</a:t>
            </a:r>
            <a:r>
              <a:rPr lang="en-IN" sz="1800" b="0" i="0" u="none" strike="noStrike" dirty="0">
                <a:solidFill>
                  <a:srgbClr val="1B1C1D"/>
                </a:solidFill>
                <a:effectLst/>
                <a:latin typeface="Google Sans Text"/>
              </a:rPr>
              <a:t> Move the (largest) disk from source to destination.</a:t>
            </a:r>
            <a:endParaRPr lang="en-IN" sz="1800" b="0" i="0" u="none" strike="noStrike" dirty="0">
              <a:solidFill>
                <a:srgbClr val="000000"/>
              </a:solidFill>
              <a:effectLst/>
              <a:latin typeface="Arial" panose="020B0604020202020204" pitchFamily="34" charset="0"/>
            </a:endParaRPr>
          </a:p>
          <a:p>
            <a:pPr rtl="0" fontAlgn="base"/>
            <a:r>
              <a:rPr lang="en-IN" sz="1800" b="0" i="0" u="none" strike="noStrike" dirty="0">
                <a:solidFill>
                  <a:srgbClr val="1B1C1D"/>
                </a:solidFill>
                <a:effectLst/>
                <a:latin typeface="Google Sans Text"/>
              </a:rPr>
              <a:t>This is the critical step, as the largest disk can only be moved when the destination rod is empty or has a larger disk (which, by this point, is guaranteed).</a:t>
            </a:r>
            <a:endParaRPr lang="en-IN" sz="1800" b="0" i="0" u="none" strike="noStrike" dirty="0">
              <a:solidFill>
                <a:srgbClr val="000000"/>
              </a:solidFill>
              <a:effectLst/>
              <a:latin typeface="Arial" panose="020B0604020202020204" pitchFamily="34" charset="0"/>
            </a:endParaRPr>
          </a:p>
          <a:p>
            <a:pPr rtl="0" fontAlgn="base"/>
            <a:r>
              <a:rPr lang="en-IN" sz="1800" b="1" i="0" u="none" strike="noStrike" dirty="0">
                <a:solidFill>
                  <a:srgbClr val="1B1C1D"/>
                </a:solidFill>
                <a:effectLst/>
                <a:latin typeface="Google Sans Text"/>
              </a:rPr>
              <a:t>Recursive Step 3:</a:t>
            </a:r>
            <a:r>
              <a:rPr lang="en-IN" sz="1800" b="0" i="0" u="none" strike="noStrike" dirty="0">
                <a:solidFill>
                  <a:srgbClr val="1B1C1D"/>
                </a:solidFill>
                <a:effectLst/>
                <a:latin typeface="Google Sans Text"/>
              </a:rPr>
              <a:t> Move the  disks from auxiliary to destination, using source as the auxiliary rod.</a:t>
            </a:r>
            <a:endParaRPr lang="en-IN" sz="1800" b="0" i="0" u="none" strike="noStrike" dirty="0">
              <a:solidFill>
                <a:srgbClr val="000000"/>
              </a:solidFill>
              <a:effectLst/>
              <a:latin typeface="Arial" panose="020B0604020202020204" pitchFamily="34" charset="0"/>
            </a:endParaRPr>
          </a:p>
          <a:p>
            <a:pPr rtl="0" fontAlgn="base"/>
            <a:r>
              <a:rPr lang="en-IN" sz="1800" b="0" i="0" u="none" strike="noStrike" dirty="0" err="1">
                <a:solidFill>
                  <a:srgbClr val="1B1C1D"/>
                </a:solidFill>
                <a:effectLst/>
                <a:latin typeface="Google Sans Text"/>
              </a:rPr>
              <a:t>hanoi</a:t>
            </a:r>
            <a:r>
              <a:rPr lang="en-IN" sz="1800" b="0" i="0" u="none" strike="noStrike" dirty="0">
                <a:solidFill>
                  <a:srgbClr val="1B1C1D"/>
                </a:solidFill>
                <a:effectLst/>
                <a:latin typeface="Google Sans Text"/>
              </a:rPr>
              <a:t>(n - 1, auxiliary, source, destination, pegs)</a:t>
            </a:r>
            <a:endParaRPr lang="en-IN" sz="1800" b="0" i="0" u="none" strike="noStrike" dirty="0">
              <a:solidFill>
                <a:srgbClr val="000000"/>
              </a:solidFill>
              <a:effectLst/>
              <a:latin typeface="Arial" panose="020B0604020202020204" pitchFamily="34" charset="0"/>
            </a:endParaRPr>
          </a:p>
        </p:txBody>
      </p:sp>
    </p:spTree>
    <p:extLst>
      <p:ext uri="{BB962C8B-B14F-4D97-AF65-F5344CB8AC3E}">
        <p14:creationId xmlns:p14="http://schemas.microsoft.com/office/powerpoint/2010/main" val="5959671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593CEB-AB0C-BC1F-6301-1235047CE760}"/>
              </a:ext>
            </a:extLst>
          </p:cNvPr>
          <p:cNvSpPr>
            <a:spLocks noGrp="1"/>
          </p:cNvSpPr>
          <p:nvPr>
            <p:ph type="title"/>
          </p:nvPr>
        </p:nvSpPr>
        <p:spPr>
          <a:xfrm>
            <a:off x="838200" y="365125"/>
            <a:ext cx="10515600" cy="973604"/>
          </a:xfrm>
        </p:spPr>
        <p:txBody>
          <a:bodyPr>
            <a:normAutofit/>
          </a:bodyPr>
          <a:lstStyle/>
          <a:p>
            <a:r>
              <a:rPr lang="en-IN" sz="3600" b="1" i="0" u="none" strike="noStrike" dirty="0">
                <a:solidFill>
                  <a:srgbClr val="1B1C1D"/>
                </a:solidFill>
                <a:effectLst/>
                <a:latin typeface="Google Sans"/>
              </a:rPr>
              <a:t>BFS Solution</a:t>
            </a:r>
            <a:endParaRPr lang="en-US" sz="3600" dirty="0"/>
          </a:p>
        </p:txBody>
      </p:sp>
      <p:sp>
        <p:nvSpPr>
          <p:cNvPr id="3" name="Content Placeholder 2">
            <a:extLst>
              <a:ext uri="{FF2B5EF4-FFF2-40B4-BE49-F238E27FC236}">
                <a16:creationId xmlns:a16="http://schemas.microsoft.com/office/drawing/2014/main" id="{687BB5D5-8AF2-852A-A13B-D2586CEE8C81}"/>
              </a:ext>
            </a:extLst>
          </p:cNvPr>
          <p:cNvSpPr>
            <a:spLocks noGrp="1"/>
          </p:cNvSpPr>
          <p:nvPr>
            <p:ph idx="1"/>
          </p:nvPr>
        </p:nvSpPr>
        <p:spPr>
          <a:xfrm>
            <a:off x="838200" y="1661458"/>
            <a:ext cx="10515600" cy="5068047"/>
          </a:xfrm>
        </p:spPr>
        <p:txBody>
          <a:bodyPr/>
          <a:lstStyle/>
          <a:p>
            <a:pPr rtl="0"/>
            <a:r>
              <a:rPr lang="en-IN" sz="1800" b="0" i="0" u="none" strike="noStrike" dirty="0">
                <a:solidFill>
                  <a:srgbClr val="1B1C1D"/>
                </a:solidFill>
                <a:effectLst/>
                <a:latin typeface="Google Sans Text"/>
              </a:rPr>
              <a:t>The second approach uses </a:t>
            </a:r>
            <a:r>
              <a:rPr lang="en-IN" sz="1800" b="1" i="0" u="none" strike="noStrike" dirty="0">
                <a:solidFill>
                  <a:srgbClr val="1B1C1D"/>
                </a:solidFill>
                <a:effectLst/>
                <a:latin typeface="Google Sans Text"/>
              </a:rPr>
              <a:t>Breadth-First Search (BFS)</a:t>
            </a:r>
            <a:r>
              <a:rPr lang="en-IN" sz="1800" b="0" i="0" u="none" strike="noStrike" dirty="0">
                <a:solidFill>
                  <a:srgbClr val="1B1C1D"/>
                </a:solidFill>
                <a:effectLst/>
                <a:latin typeface="Google Sans Text"/>
              </a:rPr>
              <a:t> to find the shortest sequence of moves, </a:t>
            </a:r>
            <a:r>
              <a:rPr lang="en-IN" sz="1800" b="0" i="0" u="none" strike="noStrike" dirty="0" err="1">
                <a:solidFill>
                  <a:srgbClr val="1B1C1D"/>
                </a:solidFill>
                <a:effectLst/>
                <a:latin typeface="Google Sans Text"/>
              </a:rPr>
              <a:t>modeling</a:t>
            </a:r>
            <a:r>
              <a:rPr lang="en-IN" sz="1800" b="0" i="0" u="none" strike="noStrike" dirty="0">
                <a:solidFill>
                  <a:srgbClr val="1B1C1D"/>
                </a:solidFill>
                <a:effectLst/>
                <a:latin typeface="Google Sans Text"/>
              </a:rPr>
              <a:t> the problem as a graph search.</a:t>
            </a:r>
            <a:endParaRPr lang="en-IN" dirty="0">
              <a:effectLst/>
            </a:endParaRPr>
          </a:p>
          <a:p>
            <a:pPr rtl="0"/>
            <a:r>
              <a:rPr lang="en-IN" sz="1800" b="1" i="0" u="none" strike="noStrike" dirty="0">
                <a:solidFill>
                  <a:srgbClr val="1B1C1D"/>
                </a:solidFill>
                <a:effectLst/>
                <a:latin typeface="Google Sans Text"/>
              </a:rPr>
              <a:t>BFS Implementation:</a:t>
            </a:r>
            <a:endParaRPr lang="en-IN" dirty="0">
              <a:effectLst/>
            </a:endParaRPr>
          </a:p>
          <a:p>
            <a:pPr rtl="0" fontAlgn="base"/>
            <a:r>
              <a:rPr lang="en-IN" sz="1800" b="1" i="0" u="none" strike="noStrike" dirty="0">
                <a:solidFill>
                  <a:srgbClr val="1B1C1D"/>
                </a:solidFill>
                <a:effectLst/>
                <a:latin typeface="Google Sans Text"/>
              </a:rPr>
              <a:t>State Representation:</a:t>
            </a:r>
            <a:r>
              <a:rPr lang="en-IN" sz="1800" b="0" i="0" u="none" strike="noStrike" dirty="0">
                <a:solidFill>
                  <a:srgbClr val="1B1C1D"/>
                </a:solidFill>
                <a:effectLst/>
                <a:latin typeface="Google Sans Text"/>
              </a:rPr>
              <a:t> A tuple of three tuples is used to ensure the state is </a:t>
            </a:r>
            <a:r>
              <a:rPr lang="en-IN" sz="1800" b="1" i="0" u="none" strike="noStrike" dirty="0" err="1">
                <a:solidFill>
                  <a:srgbClr val="1B1C1D"/>
                </a:solidFill>
                <a:effectLst/>
                <a:latin typeface="Google Sans Text"/>
              </a:rPr>
              <a:t>hashable</a:t>
            </a:r>
            <a:r>
              <a:rPr lang="en-IN" sz="1800" b="0" i="0" u="none" strike="noStrike" dirty="0">
                <a:solidFill>
                  <a:srgbClr val="1B1C1D"/>
                </a:solidFill>
                <a:effectLst/>
                <a:latin typeface="Google Sans Text"/>
              </a:rPr>
              <a:t> for the visited set.</a:t>
            </a:r>
            <a:endParaRPr lang="en-IN" sz="1800" b="0" i="0" u="none" strike="noStrike" dirty="0">
              <a:solidFill>
                <a:srgbClr val="000000"/>
              </a:solidFill>
              <a:effectLst/>
              <a:latin typeface="Arial" panose="020B0604020202020204" pitchFamily="34" charset="0"/>
            </a:endParaRPr>
          </a:p>
          <a:p>
            <a:pPr rtl="0" fontAlgn="base"/>
            <a:r>
              <a:rPr lang="en-IN" sz="1800" b="1" i="0" u="none" strike="noStrike" dirty="0">
                <a:solidFill>
                  <a:srgbClr val="1B1C1D"/>
                </a:solidFill>
                <a:effectLst/>
                <a:latin typeface="Google Sans Text"/>
              </a:rPr>
              <a:t>Queue &amp; Visited Set:</a:t>
            </a:r>
            <a:r>
              <a:rPr lang="en-IN" sz="1800" b="0" i="0" u="none" strike="noStrike" dirty="0">
                <a:solidFill>
                  <a:srgbClr val="1B1C1D"/>
                </a:solidFill>
                <a:effectLst/>
                <a:latin typeface="Google Sans Text"/>
              </a:rPr>
              <a:t> A queue stores (state, path) tuples for exploration. The visited set stores the tuple representation of all explored states.</a:t>
            </a:r>
            <a:endParaRPr lang="en-IN" sz="1800" b="0" i="0" u="none" strike="noStrike" dirty="0">
              <a:solidFill>
                <a:srgbClr val="000000"/>
              </a:solidFill>
              <a:effectLst/>
              <a:latin typeface="Arial" panose="020B0604020202020204" pitchFamily="34" charset="0"/>
            </a:endParaRPr>
          </a:p>
          <a:p>
            <a:pPr rtl="0" fontAlgn="base"/>
            <a:r>
              <a:rPr lang="en-IN" sz="1800" b="1" i="0" u="none" strike="noStrike" dirty="0" err="1">
                <a:solidFill>
                  <a:srgbClr val="1B1C1D"/>
                </a:solidFill>
                <a:effectLst/>
                <a:latin typeface="Google Sans Text"/>
              </a:rPr>
              <a:t>Neighbor</a:t>
            </a:r>
            <a:r>
              <a:rPr lang="en-IN" sz="1800" b="1" i="0" u="none" strike="noStrike" dirty="0">
                <a:solidFill>
                  <a:srgbClr val="1B1C1D"/>
                </a:solidFill>
                <a:effectLst/>
                <a:latin typeface="Google Sans Text"/>
              </a:rPr>
              <a:t> Generation (Actions):</a:t>
            </a:r>
            <a:r>
              <a:rPr lang="en-IN" sz="1800" b="0" i="0" u="none" strike="noStrike" dirty="0">
                <a:solidFill>
                  <a:srgbClr val="1B1C1D"/>
                </a:solidFill>
                <a:effectLst/>
                <a:latin typeface="Google Sans Text"/>
              </a:rPr>
              <a:t> At each step, the algorithm considers moving the top disk of </a:t>
            </a:r>
            <a:r>
              <a:rPr lang="en-IN" sz="1800" b="0" i="1" u="none" strike="noStrike" dirty="0">
                <a:solidFill>
                  <a:srgbClr val="1B1C1D"/>
                </a:solidFill>
                <a:effectLst/>
                <a:latin typeface="Google Sans Text"/>
              </a:rPr>
              <a:t>any</a:t>
            </a:r>
            <a:r>
              <a:rPr lang="en-IN" sz="1800" b="0" i="0" u="none" strike="noStrike" dirty="0">
                <a:solidFill>
                  <a:srgbClr val="1B1C1D"/>
                </a:solidFill>
                <a:effectLst/>
                <a:latin typeface="Google Sans Text"/>
              </a:rPr>
              <a:t> rod to </a:t>
            </a:r>
            <a:r>
              <a:rPr lang="en-IN" sz="1800" b="0" i="1" u="none" strike="noStrike" dirty="0">
                <a:solidFill>
                  <a:srgbClr val="1B1C1D"/>
                </a:solidFill>
                <a:effectLst/>
                <a:latin typeface="Google Sans Text"/>
              </a:rPr>
              <a:t>any other</a:t>
            </a:r>
            <a:r>
              <a:rPr lang="en-IN" sz="1800" b="0" i="0" u="none" strike="noStrike" dirty="0">
                <a:solidFill>
                  <a:srgbClr val="1B1C1D"/>
                </a:solidFill>
                <a:effectLst/>
                <a:latin typeface="Google Sans Text"/>
              </a:rPr>
              <a:t> rod, subject to the "no larger on smaller" rule.</a:t>
            </a:r>
            <a:endParaRPr lang="en-IN" sz="1800" b="0" i="0" u="none" strike="noStrike" dirty="0">
              <a:solidFill>
                <a:srgbClr val="000000"/>
              </a:solidFill>
              <a:effectLst/>
              <a:latin typeface="Arial" panose="020B0604020202020204" pitchFamily="34" charset="0"/>
            </a:endParaRPr>
          </a:p>
          <a:p>
            <a:pPr rtl="0" fontAlgn="base"/>
            <a:r>
              <a:rPr lang="en-IN" sz="1800" b="0" i="0" u="none" strike="noStrike" dirty="0">
                <a:solidFill>
                  <a:srgbClr val="1B1C1D"/>
                </a:solidFill>
                <a:effectLst/>
                <a:latin typeface="Google Sans Text"/>
              </a:rPr>
              <a:t>The code tracks the permissible moves (e.g., Rule 1: Move disk 1 from A to B).</a:t>
            </a:r>
            <a:endParaRPr lang="en-IN" sz="1800" b="0" i="0" u="none" strike="noStrike" dirty="0">
              <a:solidFill>
                <a:srgbClr val="000000"/>
              </a:solidFill>
              <a:effectLst/>
              <a:latin typeface="Arial" panose="020B0604020202020204" pitchFamily="34" charset="0"/>
            </a:endParaRPr>
          </a:p>
          <a:p>
            <a:pPr rtl="0" fontAlgn="base"/>
            <a:r>
              <a:rPr lang="en-IN" sz="1800" b="1" i="0" u="none" strike="noStrike" dirty="0">
                <a:solidFill>
                  <a:srgbClr val="1B1C1D"/>
                </a:solidFill>
                <a:effectLst/>
                <a:latin typeface="Google Sans Text"/>
              </a:rPr>
              <a:t>Can Place Check:</a:t>
            </a:r>
            <a:r>
              <a:rPr lang="en-IN" sz="1800" b="0" i="0" u="none" strike="noStrike" dirty="0">
                <a:solidFill>
                  <a:srgbClr val="1B1C1D"/>
                </a:solidFill>
                <a:effectLst/>
                <a:latin typeface="Google Sans Text"/>
              </a:rPr>
              <a:t> The _</a:t>
            </a:r>
            <a:r>
              <a:rPr lang="en-IN" sz="1800" b="0" i="0" u="none" strike="noStrike" dirty="0" err="1">
                <a:solidFill>
                  <a:srgbClr val="1B1C1D"/>
                </a:solidFill>
                <a:effectLst/>
                <a:latin typeface="Google Sans Text"/>
              </a:rPr>
              <a:t>can_place</a:t>
            </a:r>
            <a:r>
              <a:rPr lang="en-IN" sz="1800" b="0" i="0" u="none" strike="noStrike" dirty="0">
                <a:solidFill>
                  <a:srgbClr val="1B1C1D"/>
                </a:solidFill>
                <a:effectLst/>
                <a:latin typeface="Google Sans Text"/>
              </a:rPr>
              <a:t> function enforces the rule based on the order (increasing/decreasing) of the destination rod's stack.</a:t>
            </a:r>
            <a:endParaRPr lang="en-IN" sz="1800" b="0" i="0" u="none" strike="noStrike" dirty="0">
              <a:solidFill>
                <a:srgbClr val="000000"/>
              </a:solidFill>
              <a:effectLst/>
              <a:latin typeface="Arial" panose="020B0604020202020204" pitchFamily="34" charset="0"/>
            </a:endParaRPr>
          </a:p>
          <a:p>
            <a:pPr rtl="0" fontAlgn="base"/>
            <a:r>
              <a:rPr lang="en-IN" sz="1800" b="1" i="0" u="none" strike="noStrike" dirty="0">
                <a:solidFill>
                  <a:srgbClr val="1B1C1D"/>
                </a:solidFill>
                <a:effectLst/>
                <a:latin typeface="Google Sans Text"/>
              </a:rPr>
              <a:t>Termination:</a:t>
            </a:r>
            <a:r>
              <a:rPr lang="en-IN" sz="1800" b="0" i="0" u="none" strike="noStrike" dirty="0">
                <a:solidFill>
                  <a:srgbClr val="1B1C1D"/>
                </a:solidFill>
                <a:effectLst/>
                <a:latin typeface="Google Sans Text"/>
              </a:rPr>
              <a:t> The search stops when the </a:t>
            </a:r>
            <a:r>
              <a:rPr lang="en-IN" sz="1800" b="0" i="0" u="none" strike="noStrike" dirty="0" err="1">
                <a:solidFill>
                  <a:srgbClr val="1B1C1D"/>
                </a:solidFill>
                <a:effectLst/>
                <a:latin typeface="Google Sans Text"/>
              </a:rPr>
              <a:t>goal_state</a:t>
            </a:r>
            <a:r>
              <a:rPr lang="en-IN" sz="1800" b="0" i="0" u="none" strike="noStrike" dirty="0">
                <a:solidFill>
                  <a:srgbClr val="1B1C1D"/>
                </a:solidFill>
                <a:effectLst/>
                <a:latin typeface="Google Sans Text"/>
              </a:rPr>
              <a:t> is reached, and the path records the sequence of states and the rule number used.</a:t>
            </a:r>
            <a:endParaRPr lang="en-IN" sz="1800" b="0" i="0" u="none" strike="noStrike" dirty="0">
              <a:solidFill>
                <a:srgbClr val="000000"/>
              </a:solidFill>
              <a:effectLst/>
              <a:latin typeface="Arial" panose="020B0604020202020204" pitchFamily="34" charset="0"/>
            </a:endParaRPr>
          </a:p>
          <a:p>
            <a:pPr marL="0" indent="0">
              <a:buNone/>
            </a:pPr>
            <a:endParaRPr lang="en-IN" dirty="0"/>
          </a:p>
        </p:txBody>
      </p:sp>
    </p:spTree>
    <p:extLst>
      <p:ext uri="{BB962C8B-B14F-4D97-AF65-F5344CB8AC3E}">
        <p14:creationId xmlns:p14="http://schemas.microsoft.com/office/powerpoint/2010/main" val="25737300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89B160-8E8E-AB28-344F-10891A2EC89F}"/>
              </a:ext>
            </a:extLst>
          </p:cNvPr>
          <p:cNvSpPr>
            <a:spLocks noGrp="1"/>
          </p:cNvSpPr>
          <p:nvPr>
            <p:ph type="title"/>
          </p:nvPr>
        </p:nvSpPr>
        <p:spPr/>
        <p:txBody>
          <a:bodyPr>
            <a:normAutofit/>
          </a:bodyPr>
          <a:lstStyle/>
          <a:p>
            <a:r>
              <a:rPr lang="en-IN" sz="3600" b="1" i="0" u="none" strike="noStrike" dirty="0">
                <a:solidFill>
                  <a:srgbClr val="1B1C1D"/>
                </a:solidFill>
                <a:effectLst/>
                <a:latin typeface="Google Sans"/>
              </a:rPr>
              <a:t>Output &amp; Steps</a:t>
            </a:r>
            <a:endParaRPr lang="en-US" sz="3600" dirty="0"/>
          </a:p>
        </p:txBody>
      </p:sp>
      <p:sp>
        <p:nvSpPr>
          <p:cNvPr id="3" name="Content Placeholder 2">
            <a:extLst>
              <a:ext uri="{FF2B5EF4-FFF2-40B4-BE49-F238E27FC236}">
                <a16:creationId xmlns:a16="http://schemas.microsoft.com/office/drawing/2014/main" id="{9964E889-62AC-FD8F-C920-F0A325BB1897}"/>
              </a:ext>
            </a:extLst>
          </p:cNvPr>
          <p:cNvSpPr>
            <a:spLocks noGrp="1"/>
          </p:cNvSpPr>
          <p:nvPr>
            <p:ph idx="1"/>
          </p:nvPr>
        </p:nvSpPr>
        <p:spPr>
          <a:xfrm>
            <a:off x="838200" y="1541929"/>
            <a:ext cx="10515600" cy="4840942"/>
          </a:xfrm>
        </p:spPr>
        <p:txBody>
          <a:bodyPr>
            <a:normAutofit fontScale="92500" lnSpcReduction="20000"/>
          </a:bodyPr>
          <a:lstStyle/>
          <a:p>
            <a:pPr rtl="0"/>
            <a:r>
              <a:rPr lang="en-IN" sz="1800" b="1" i="0" u="none" strike="noStrike" dirty="0">
                <a:solidFill>
                  <a:srgbClr val="1B1C1D"/>
                </a:solidFill>
                <a:effectLst/>
                <a:latin typeface="Google Sans Text"/>
              </a:rPr>
              <a:t>Input/Example (3 Disks):</a:t>
            </a:r>
            <a:endParaRPr lang="en-IN" dirty="0">
              <a:effectLst/>
            </a:endParaRPr>
          </a:p>
          <a:p>
            <a:pPr rtl="0" fontAlgn="base"/>
            <a:r>
              <a:rPr lang="en-IN" sz="1800" b="1" i="0" u="none" strike="noStrike" dirty="0">
                <a:solidFill>
                  <a:srgbClr val="1B1C1D"/>
                </a:solidFill>
                <a:effectLst/>
                <a:latin typeface="Google Sans Text"/>
              </a:rPr>
              <a:t>n:</a:t>
            </a:r>
            <a:r>
              <a:rPr lang="en-IN" sz="1800" b="0" i="0" u="none" strike="noStrike" dirty="0">
                <a:solidFill>
                  <a:srgbClr val="1B1C1D"/>
                </a:solidFill>
                <a:effectLst/>
                <a:latin typeface="Google Sans Text"/>
              </a:rPr>
              <a:t> 3</a:t>
            </a:r>
            <a:endParaRPr lang="en-IN" sz="1800" b="0" i="0" u="none" strike="noStrike" dirty="0">
              <a:solidFill>
                <a:srgbClr val="000000"/>
              </a:solidFill>
              <a:effectLst/>
              <a:latin typeface="Arial" panose="020B0604020202020204" pitchFamily="34" charset="0"/>
            </a:endParaRPr>
          </a:p>
          <a:p>
            <a:pPr rtl="0" fontAlgn="base"/>
            <a:r>
              <a:rPr lang="en-IN" sz="1800" b="1" i="0" u="none" strike="noStrike" dirty="0">
                <a:solidFill>
                  <a:srgbClr val="1B1C1D"/>
                </a:solidFill>
                <a:effectLst/>
                <a:latin typeface="Google Sans Text"/>
              </a:rPr>
              <a:t>Initial Rod/Order:</a:t>
            </a:r>
            <a:r>
              <a:rPr lang="en-IN" sz="1800" b="0" i="0" u="none" strike="noStrike" dirty="0">
                <a:solidFill>
                  <a:srgbClr val="1B1C1D"/>
                </a:solidFill>
                <a:effectLst/>
                <a:latin typeface="Google Sans Text"/>
              </a:rPr>
              <a:t> A / decreasing ([3, 2, 1] on A)</a:t>
            </a:r>
            <a:endParaRPr lang="en-IN" sz="1800" b="0" i="0" u="none" strike="noStrike" dirty="0">
              <a:solidFill>
                <a:srgbClr val="000000"/>
              </a:solidFill>
              <a:effectLst/>
              <a:latin typeface="Arial" panose="020B0604020202020204" pitchFamily="34" charset="0"/>
            </a:endParaRPr>
          </a:p>
          <a:p>
            <a:pPr rtl="0" fontAlgn="base"/>
            <a:r>
              <a:rPr lang="en-IN" sz="1800" b="1" i="0" u="none" strike="noStrike" dirty="0">
                <a:solidFill>
                  <a:srgbClr val="1B1C1D"/>
                </a:solidFill>
                <a:effectLst/>
                <a:latin typeface="Google Sans Text"/>
              </a:rPr>
              <a:t>Final Rod/Order:</a:t>
            </a:r>
            <a:r>
              <a:rPr lang="en-IN" sz="1800" b="0" i="0" u="none" strike="noStrike" dirty="0">
                <a:solidFill>
                  <a:srgbClr val="1B1C1D"/>
                </a:solidFill>
                <a:effectLst/>
                <a:latin typeface="Google Sans Text"/>
              </a:rPr>
              <a:t> C / decreasing ([3, 2, 1] on C)</a:t>
            </a:r>
            <a:endParaRPr lang="en-IN" sz="1800" b="0" i="0" u="none" strike="noStrike" dirty="0">
              <a:solidFill>
                <a:srgbClr val="000000"/>
              </a:solidFill>
              <a:effectLst/>
              <a:latin typeface="Arial" panose="020B0604020202020204" pitchFamily="34" charset="0"/>
            </a:endParaRPr>
          </a:p>
          <a:p>
            <a:pPr rtl="0"/>
            <a:r>
              <a:rPr lang="en-IN" sz="1800" b="0" i="0" u="none" strike="noStrike" dirty="0">
                <a:solidFill>
                  <a:srgbClr val="000000"/>
                </a:solidFill>
                <a:effectLst/>
                <a:latin typeface="Google Sans Text"/>
              </a:rPr>
              <a:t>Output (Steps Table from BFS - Path to Goal):</a:t>
            </a:r>
            <a:endParaRPr lang="en-IN" dirty="0">
              <a:effectLst/>
            </a:endParaRPr>
          </a:p>
          <a:p>
            <a:pPr rtl="0"/>
            <a:r>
              <a:rPr lang="en-IN" sz="1800" b="0" i="0" u="none" strike="noStrike" dirty="0">
                <a:solidFill>
                  <a:srgbClr val="000000"/>
                </a:solidFill>
                <a:effectLst/>
                <a:latin typeface="Google Sans Text"/>
              </a:rPr>
              <a:t>| </a:t>
            </a:r>
            <a:r>
              <a:rPr lang="en-IN" sz="1800" b="0" i="0" u="none" strike="noStrike" dirty="0" err="1">
                <a:solidFill>
                  <a:srgbClr val="000000"/>
                </a:solidFill>
                <a:effectLst/>
                <a:latin typeface="Google Sans Text"/>
              </a:rPr>
              <a:t>S.No</a:t>
            </a:r>
            <a:r>
              <a:rPr lang="en-IN" sz="1800" b="0" i="0" u="none" strike="noStrike" dirty="0">
                <a:solidFill>
                  <a:srgbClr val="000000"/>
                </a:solidFill>
                <a:effectLst/>
                <a:latin typeface="Google Sans Text"/>
              </a:rPr>
              <a:t>. | Rod A | Rod B | Rod C | Rule no. |</a:t>
            </a:r>
            <a:endParaRPr lang="en-IN" dirty="0">
              <a:effectLst/>
            </a:endParaRPr>
          </a:p>
          <a:p>
            <a:pPr rtl="0"/>
            <a:r>
              <a:rPr lang="en-IN" sz="1800" b="0" i="0" u="none" strike="noStrike" dirty="0">
                <a:solidFill>
                  <a:srgbClr val="000000"/>
                </a:solidFill>
                <a:effectLst/>
                <a:latin typeface="Google Sans Text"/>
              </a:rPr>
              <a:t>| :---: | :---: | :---: | :---: | :---: |</a:t>
            </a:r>
            <a:endParaRPr lang="en-IN" dirty="0">
              <a:effectLst/>
            </a:endParaRPr>
          </a:p>
          <a:p>
            <a:pPr rtl="0"/>
            <a:r>
              <a:rPr lang="en-IN" sz="1800" b="0" i="0" u="none" strike="noStrike" dirty="0">
                <a:solidFill>
                  <a:srgbClr val="000000"/>
                </a:solidFill>
                <a:effectLst/>
                <a:latin typeface="Google Sans Text"/>
              </a:rPr>
              <a:t>| 1 | [3, 2, 1] | [] | [] | Initial state |</a:t>
            </a:r>
            <a:endParaRPr lang="en-IN" dirty="0">
              <a:effectLst/>
            </a:endParaRPr>
          </a:p>
          <a:p>
            <a:pPr rtl="0"/>
            <a:r>
              <a:rPr lang="en-IN" sz="1800" b="0" i="0" u="none" strike="noStrike" dirty="0">
                <a:solidFill>
                  <a:srgbClr val="000000"/>
                </a:solidFill>
                <a:effectLst/>
                <a:latin typeface="Google Sans Text"/>
              </a:rPr>
              <a:t>| 2 | [3, 2] | [] | [1] | 2 (Move disk 1 from A to C) |</a:t>
            </a:r>
            <a:endParaRPr lang="en-IN" dirty="0">
              <a:effectLst/>
            </a:endParaRPr>
          </a:p>
          <a:p>
            <a:pPr rtl="0"/>
            <a:r>
              <a:rPr lang="en-IN" sz="1800" b="0" i="0" u="none" strike="noStrike" dirty="0">
                <a:solidFill>
                  <a:srgbClr val="000000"/>
                </a:solidFill>
                <a:effectLst/>
                <a:latin typeface="Google Sans Text"/>
              </a:rPr>
              <a:t>| 3 | [3] | [2] | [1] | 7 (Move disk 2 from A to B) |</a:t>
            </a:r>
            <a:endParaRPr lang="en-IN" dirty="0">
              <a:effectLst/>
            </a:endParaRPr>
          </a:p>
          <a:p>
            <a:pPr rtl="0"/>
            <a:r>
              <a:rPr lang="en-IN" sz="1800" b="0" i="0" u="none" strike="noStrike" dirty="0">
                <a:solidFill>
                  <a:srgbClr val="000000"/>
                </a:solidFill>
                <a:effectLst/>
                <a:latin typeface="Google Sans Text"/>
              </a:rPr>
              <a:t>| 4 | [3] | [2, 1] | [] | 6 (Move disk 1 from C to B) |</a:t>
            </a:r>
            <a:endParaRPr lang="en-IN" dirty="0">
              <a:effectLst/>
            </a:endParaRPr>
          </a:p>
          <a:p>
            <a:pPr rtl="0"/>
            <a:r>
              <a:rPr lang="en-IN" sz="1800" b="0" i="0" u="none" strike="noStrike" dirty="0">
                <a:solidFill>
                  <a:srgbClr val="000000"/>
                </a:solidFill>
                <a:effectLst/>
                <a:latin typeface="Google Sans Text"/>
              </a:rPr>
              <a:t>| 5 | [] | [2, 1] | [3] | 14 (Move disk 3 from A to C) |</a:t>
            </a:r>
            <a:endParaRPr lang="en-IN" dirty="0">
              <a:effectLst/>
            </a:endParaRPr>
          </a:p>
          <a:p>
            <a:pPr rtl="0"/>
            <a:r>
              <a:rPr lang="en-IN" sz="1800" b="0" i="0" u="none" strike="noStrike" dirty="0">
                <a:solidFill>
                  <a:srgbClr val="000000"/>
                </a:solidFill>
                <a:effectLst/>
                <a:latin typeface="Google Sans Text"/>
              </a:rPr>
              <a:t>| 6 | [1] | [2] | [3] | 3 (Move disk 1 from B to A) |</a:t>
            </a:r>
            <a:endParaRPr lang="en-IN" dirty="0">
              <a:effectLst/>
            </a:endParaRPr>
          </a:p>
          <a:p>
            <a:pPr rtl="0"/>
            <a:r>
              <a:rPr lang="en-IN" sz="1800" b="0" i="0" u="none" strike="noStrike" dirty="0">
                <a:solidFill>
                  <a:srgbClr val="000000"/>
                </a:solidFill>
                <a:effectLst/>
                <a:latin typeface="Google Sans Text"/>
              </a:rPr>
              <a:t>| 7 | [1] | [] | [3, 2] | 10 (Move disk 2 from B to C) |</a:t>
            </a:r>
            <a:endParaRPr lang="en-IN" dirty="0">
              <a:effectLst/>
            </a:endParaRPr>
          </a:p>
          <a:p>
            <a:pPr rtl="0"/>
            <a:r>
              <a:rPr lang="en-IN" sz="1800" b="0" i="0" u="none" strike="noStrike" dirty="0">
                <a:solidFill>
                  <a:srgbClr val="000000"/>
                </a:solidFill>
                <a:effectLst/>
                <a:latin typeface="Google Sans Text"/>
              </a:rPr>
              <a:t>| 8 | [] | [] | [3, 2, 1] | 2 (Move disk 1 from A to C) |</a:t>
            </a:r>
            <a:endParaRPr lang="en-IN" dirty="0">
              <a:effectLst/>
            </a:endParaRPr>
          </a:p>
          <a:p>
            <a:pPr marL="0" indent="0">
              <a:buNone/>
            </a:pPr>
            <a:endParaRPr lang="en-US" dirty="0"/>
          </a:p>
        </p:txBody>
      </p:sp>
    </p:spTree>
    <p:extLst>
      <p:ext uri="{BB962C8B-B14F-4D97-AF65-F5344CB8AC3E}">
        <p14:creationId xmlns:p14="http://schemas.microsoft.com/office/powerpoint/2010/main" val="28827504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FB095B-0034-6576-9000-CA6ED8FF3C96}"/>
              </a:ext>
            </a:extLst>
          </p:cNvPr>
          <p:cNvSpPr>
            <a:spLocks noGrp="1"/>
          </p:cNvSpPr>
          <p:nvPr>
            <p:ph type="title"/>
          </p:nvPr>
        </p:nvSpPr>
        <p:spPr/>
        <p:txBody>
          <a:bodyPr>
            <a:normAutofit/>
          </a:bodyPr>
          <a:lstStyle/>
          <a:p>
            <a:r>
              <a:rPr lang="en-IN" sz="3600" b="1" dirty="0"/>
              <a:t>Analysis &amp; Conclusion</a:t>
            </a:r>
            <a:endParaRPr lang="en-US" sz="3600" b="1" dirty="0"/>
          </a:p>
        </p:txBody>
      </p:sp>
      <p:sp>
        <p:nvSpPr>
          <p:cNvPr id="3" name="Content Placeholder 2">
            <a:extLst>
              <a:ext uri="{FF2B5EF4-FFF2-40B4-BE49-F238E27FC236}">
                <a16:creationId xmlns:a16="http://schemas.microsoft.com/office/drawing/2014/main" id="{1D3CDAD8-CAA3-2818-B5FD-EF5C3EAD68AB}"/>
              </a:ext>
            </a:extLst>
          </p:cNvPr>
          <p:cNvSpPr>
            <a:spLocks noGrp="1"/>
          </p:cNvSpPr>
          <p:nvPr>
            <p:ph idx="1"/>
          </p:nvPr>
        </p:nvSpPr>
        <p:spPr/>
        <p:txBody>
          <a:bodyPr/>
          <a:lstStyle/>
          <a:p>
            <a:pPr rtl="0" fontAlgn="base"/>
            <a:r>
              <a:rPr lang="en-IN" sz="1800" b="1" i="0" u="none" strike="noStrike" dirty="0">
                <a:solidFill>
                  <a:srgbClr val="1B1C1D"/>
                </a:solidFill>
                <a:effectLst/>
                <a:latin typeface="Google Sans Text"/>
              </a:rPr>
              <a:t>Recursive vs. BFS:</a:t>
            </a:r>
            <a:endParaRPr lang="en-IN" sz="1800" b="0" i="0" u="none" strike="noStrike" dirty="0">
              <a:solidFill>
                <a:srgbClr val="000000"/>
              </a:solidFill>
              <a:effectLst/>
              <a:latin typeface="Arial" panose="020B0604020202020204" pitchFamily="34" charset="0"/>
            </a:endParaRPr>
          </a:p>
          <a:p>
            <a:pPr rtl="0" fontAlgn="base"/>
            <a:r>
              <a:rPr lang="en-IN" sz="1800" b="1" i="0" u="none" strike="noStrike" dirty="0">
                <a:solidFill>
                  <a:srgbClr val="1B1C1D"/>
                </a:solidFill>
                <a:effectLst/>
                <a:latin typeface="Google Sans Text"/>
              </a:rPr>
              <a:t>Recursive:</a:t>
            </a:r>
            <a:r>
              <a:rPr lang="en-IN" sz="1800" b="0" i="0" u="none" strike="noStrike" dirty="0">
                <a:solidFill>
                  <a:srgbClr val="1B1C1D"/>
                </a:solidFill>
                <a:effectLst/>
                <a:latin typeface="Google Sans Text"/>
              </a:rPr>
              <a:t> Provides the canonical, minimum-move solution ( moves). It's a </a:t>
            </a:r>
            <a:r>
              <a:rPr lang="en-IN" sz="1800" b="1" i="0" u="none" strike="noStrike" dirty="0">
                <a:solidFill>
                  <a:srgbClr val="1B1C1D"/>
                </a:solidFill>
                <a:effectLst/>
                <a:latin typeface="Google Sans Text"/>
              </a:rPr>
              <a:t>Depth-First-like</a:t>
            </a:r>
            <a:r>
              <a:rPr lang="en-IN" sz="1800" b="0" i="0" u="none" strike="noStrike" dirty="0">
                <a:solidFill>
                  <a:srgbClr val="1B1C1D"/>
                </a:solidFill>
                <a:effectLst/>
                <a:latin typeface="Google Sans Text"/>
              </a:rPr>
              <a:t> approach tailored to this specific problem structure.</a:t>
            </a:r>
            <a:endParaRPr lang="en-IN" sz="1800" b="0" i="0" u="none" strike="noStrike" dirty="0">
              <a:solidFill>
                <a:srgbClr val="000000"/>
              </a:solidFill>
              <a:effectLst/>
              <a:latin typeface="Arial" panose="020B0604020202020204" pitchFamily="34" charset="0"/>
            </a:endParaRPr>
          </a:p>
          <a:p>
            <a:pPr rtl="0" fontAlgn="base"/>
            <a:r>
              <a:rPr lang="en-IN" sz="1800" b="1" i="0" u="none" strike="noStrike" dirty="0">
                <a:solidFill>
                  <a:srgbClr val="1B1C1D"/>
                </a:solidFill>
                <a:effectLst/>
                <a:latin typeface="Google Sans Text"/>
              </a:rPr>
              <a:t>BFS:</a:t>
            </a:r>
            <a:r>
              <a:rPr lang="en-IN" sz="1800" b="0" i="0" u="none" strike="noStrike" dirty="0">
                <a:solidFill>
                  <a:srgbClr val="1B1C1D"/>
                </a:solidFill>
                <a:effectLst/>
                <a:latin typeface="Google Sans Text"/>
              </a:rPr>
              <a:t> Guarantees finding a </a:t>
            </a:r>
            <a:r>
              <a:rPr lang="en-IN" sz="1800" b="1" i="0" u="none" strike="noStrike" dirty="0">
                <a:solidFill>
                  <a:srgbClr val="1B1C1D"/>
                </a:solidFill>
                <a:effectLst/>
                <a:latin typeface="Google Sans Text"/>
              </a:rPr>
              <a:t>shortest path</a:t>
            </a:r>
            <a:r>
              <a:rPr lang="en-IN" sz="1800" b="0" i="0" u="none" strike="noStrike" dirty="0">
                <a:solidFill>
                  <a:srgbClr val="1B1C1D"/>
                </a:solidFill>
                <a:effectLst/>
                <a:latin typeface="Google Sans Text"/>
              </a:rPr>
              <a:t> in the general state space graph (minimal number of state transitions). For Hanoi, this </a:t>
            </a:r>
            <a:r>
              <a:rPr lang="en-IN" sz="1800" b="0" i="1" u="none" strike="noStrike" dirty="0">
                <a:solidFill>
                  <a:srgbClr val="1B1C1D"/>
                </a:solidFill>
                <a:effectLst/>
                <a:latin typeface="Google Sans Text"/>
              </a:rPr>
              <a:t>is</a:t>
            </a:r>
            <a:r>
              <a:rPr lang="en-IN" sz="1800" b="0" i="0" u="none" strike="noStrike" dirty="0">
                <a:solidFill>
                  <a:srgbClr val="1B1C1D"/>
                </a:solidFill>
                <a:effectLst/>
                <a:latin typeface="Google Sans Text"/>
              </a:rPr>
              <a:t> the  solution.</a:t>
            </a:r>
            <a:endParaRPr lang="en-IN" sz="1800" b="0" i="0" u="none" strike="noStrike" dirty="0">
              <a:solidFill>
                <a:srgbClr val="000000"/>
              </a:solidFill>
              <a:effectLst/>
              <a:latin typeface="Arial" panose="020B0604020202020204" pitchFamily="34" charset="0"/>
            </a:endParaRPr>
          </a:p>
          <a:p>
            <a:pPr rtl="0" fontAlgn="base"/>
            <a:r>
              <a:rPr lang="en-IN" sz="1800" b="1" i="0" u="none" strike="noStrike" dirty="0">
                <a:solidFill>
                  <a:srgbClr val="1B1C1D"/>
                </a:solidFill>
                <a:effectLst/>
                <a:latin typeface="Google Sans Text"/>
              </a:rPr>
              <a:t>Constraint Handling:</a:t>
            </a:r>
            <a:r>
              <a:rPr lang="en-IN" sz="1800" b="0" i="0" u="none" strike="noStrike" dirty="0">
                <a:solidFill>
                  <a:srgbClr val="1B1C1D"/>
                </a:solidFill>
                <a:effectLst/>
                <a:latin typeface="Google Sans Text"/>
              </a:rPr>
              <a:t> The complexity of the BFS approach lies in correctly </a:t>
            </a:r>
            <a:r>
              <a:rPr lang="en-IN" sz="1800" b="0" i="0" u="none" strike="noStrike" dirty="0" err="1">
                <a:solidFill>
                  <a:srgbClr val="1B1C1D"/>
                </a:solidFill>
                <a:effectLst/>
                <a:latin typeface="Google Sans Text"/>
              </a:rPr>
              <a:t>modeling</a:t>
            </a:r>
            <a:r>
              <a:rPr lang="en-IN" sz="1800" b="0" i="0" u="none" strike="noStrike" dirty="0">
                <a:solidFill>
                  <a:srgbClr val="1B1C1D"/>
                </a:solidFill>
                <a:effectLst/>
                <a:latin typeface="Google Sans Text"/>
              </a:rPr>
              <a:t> the problem constraints ("no larger on smaller") during </a:t>
            </a:r>
            <a:r>
              <a:rPr lang="en-IN" sz="1800" b="0" i="0" u="none" strike="noStrike" dirty="0" err="1">
                <a:solidFill>
                  <a:srgbClr val="1B1C1D"/>
                </a:solidFill>
                <a:effectLst/>
                <a:latin typeface="Google Sans Text"/>
              </a:rPr>
              <a:t>neighbor</a:t>
            </a:r>
            <a:r>
              <a:rPr lang="en-IN" sz="1800" b="0" i="0" u="none" strike="noStrike" dirty="0">
                <a:solidFill>
                  <a:srgbClr val="1B1C1D"/>
                </a:solidFill>
                <a:effectLst/>
                <a:latin typeface="Google Sans Text"/>
              </a:rPr>
              <a:t> generation via the _</a:t>
            </a:r>
            <a:r>
              <a:rPr lang="en-IN" sz="1800" b="0" i="0" u="none" strike="noStrike" dirty="0" err="1">
                <a:solidFill>
                  <a:srgbClr val="1B1C1D"/>
                </a:solidFill>
                <a:effectLst/>
                <a:latin typeface="Google Sans Text"/>
              </a:rPr>
              <a:t>can_place</a:t>
            </a:r>
            <a:r>
              <a:rPr lang="en-IN" sz="1800" b="0" i="0" u="none" strike="noStrike" dirty="0">
                <a:solidFill>
                  <a:srgbClr val="1B1C1D"/>
                </a:solidFill>
                <a:effectLst/>
                <a:latin typeface="Google Sans Text"/>
              </a:rPr>
              <a:t> check.</a:t>
            </a:r>
            <a:endParaRPr lang="en-IN" sz="1800" b="0" i="0" u="none" strike="noStrike" dirty="0">
              <a:solidFill>
                <a:srgbClr val="000000"/>
              </a:solidFill>
              <a:effectLst/>
              <a:latin typeface="Arial" panose="020B0604020202020204" pitchFamily="34" charset="0"/>
            </a:endParaRPr>
          </a:p>
          <a:p>
            <a:pPr rtl="0" fontAlgn="base"/>
            <a:r>
              <a:rPr lang="en-IN" sz="1800" b="1" i="0" u="none" strike="noStrike" dirty="0">
                <a:solidFill>
                  <a:srgbClr val="1B1C1D"/>
                </a:solidFill>
                <a:effectLst/>
                <a:latin typeface="Google Sans Text"/>
              </a:rPr>
              <a:t>Generality:</a:t>
            </a:r>
            <a:r>
              <a:rPr lang="en-IN" sz="1800" b="0" i="0" u="none" strike="noStrike" dirty="0">
                <a:solidFill>
                  <a:srgbClr val="1B1C1D"/>
                </a:solidFill>
                <a:effectLst/>
                <a:latin typeface="Google Sans Text"/>
              </a:rPr>
              <a:t> The BFS solution is more general as it can be adapted to variations where the disks must be stacked in an </a:t>
            </a:r>
            <a:r>
              <a:rPr lang="en-IN" sz="1800" b="0" i="1" u="none" strike="noStrike" dirty="0">
                <a:solidFill>
                  <a:srgbClr val="1B1C1D"/>
                </a:solidFill>
                <a:effectLst/>
                <a:latin typeface="Google Sans Text"/>
              </a:rPr>
              <a:t>increasing</a:t>
            </a:r>
            <a:r>
              <a:rPr lang="en-IN" sz="1800" b="0" i="0" u="none" strike="noStrike" dirty="0">
                <a:solidFill>
                  <a:srgbClr val="1B1C1D"/>
                </a:solidFill>
                <a:effectLst/>
                <a:latin typeface="Google Sans Text"/>
              </a:rPr>
              <a:t> (non-canonical) or </a:t>
            </a:r>
            <a:r>
              <a:rPr lang="en-IN" sz="1800" b="0" i="1" u="none" strike="noStrike" dirty="0">
                <a:solidFill>
                  <a:srgbClr val="1B1C1D"/>
                </a:solidFill>
                <a:effectLst/>
                <a:latin typeface="Google Sans Text"/>
              </a:rPr>
              <a:t>decreasing</a:t>
            </a:r>
            <a:r>
              <a:rPr lang="en-IN" sz="1800" b="0" i="0" u="none" strike="noStrike" dirty="0">
                <a:solidFill>
                  <a:srgbClr val="1B1C1D"/>
                </a:solidFill>
                <a:effectLst/>
                <a:latin typeface="Google Sans Text"/>
              </a:rPr>
              <a:t> (canonical) order on the destination rod.</a:t>
            </a:r>
          </a:p>
          <a:p>
            <a:pPr rtl="0" fontAlgn="base"/>
            <a:r>
              <a:rPr lang="en-IN" sz="1800" b="1" dirty="0">
                <a:solidFill>
                  <a:srgbClr val="1B1C1D"/>
                </a:solidFill>
                <a:latin typeface="Google Sans Text"/>
              </a:rPr>
              <a:t>Checks all possibilities</a:t>
            </a:r>
            <a:r>
              <a:rPr lang="en-IN" sz="1800" dirty="0">
                <a:solidFill>
                  <a:srgbClr val="1B1C1D"/>
                </a:solidFill>
                <a:latin typeface="Google Sans Text"/>
              </a:rPr>
              <a:t>: The BFS Solution tries for each and every possibility from one state whereas the recursive solution takes the best move.</a:t>
            </a:r>
            <a:endParaRPr lang="en-IN" sz="1800" b="0" i="0" u="none" strike="noStrike" dirty="0">
              <a:solidFill>
                <a:srgbClr val="000000"/>
              </a:solidFill>
              <a:effectLst/>
              <a:latin typeface="Arial" panose="020B0604020202020204" pitchFamily="34" charset="0"/>
            </a:endParaRPr>
          </a:p>
          <a:p>
            <a:pPr marL="0" indent="0">
              <a:buNone/>
            </a:pPr>
            <a:endParaRPr lang="en-IN" dirty="0"/>
          </a:p>
        </p:txBody>
      </p:sp>
    </p:spTree>
    <p:extLst>
      <p:ext uri="{BB962C8B-B14F-4D97-AF65-F5344CB8AC3E}">
        <p14:creationId xmlns:p14="http://schemas.microsoft.com/office/powerpoint/2010/main" val="17380184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C1ADEC-C56B-7FB4-6D88-6839015B61AA}"/>
              </a:ext>
            </a:extLst>
          </p:cNvPr>
          <p:cNvSpPr>
            <a:spLocks noGrp="1"/>
          </p:cNvSpPr>
          <p:nvPr>
            <p:ph type="title"/>
          </p:nvPr>
        </p:nvSpPr>
        <p:spPr>
          <a:xfrm>
            <a:off x="838200" y="365125"/>
            <a:ext cx="10515600" cy="2032635"/>
          </a:xfrm>
        </p:spPr>
        <p:txBody>
          <a:bodyPr>
            <a:noAutofit/>
          </a:bodyPr>
          <a:lstStyle/>
          <a:p>
            <a:r>
              <a:rPr lang="en-IN" sz="3600" b="1" i="0" u="none" strike="noStrike" dirty="0">
                <a:solidFill>
                  <a:srgbClr val="1B1C1D"/>
                </a:solidFill>
                <a:effectLst/>
                <a:latin typeface="Google Sans"/>
              </a:rPr>
              <a:t>Missionaries and Cannibals:</a:t>
            </a:r>
            <a:br>
              <a:rPr lang="en-IN" sz="3600" b="1" i="0" u="none" strike="noStrike" dirty="0">
                <a:solidFill>
                  <a:srgbClr val="1B1C1D"/>
                </a:solidFill>
                <a:effectLst/>
                <a:latin typeface="Google Sans"/>
              </a:rPr>
            </a:br>
            <a:r>
              <a:rPr lang="en-IN" sz="3600" b="1" i="0" u="none" strike="noStrike" dirty="0">
                <a:solidFill>
                  <a:srgbClr val="1B1C1D"/>
                </a:solidFill>
                <a:effectLst/>
                <a:latin typeface="Google Sans"/>
              </a:rPr>
              <a:t>Farmer-Wolf-Goat-Cabbage Problem</a:t>
            </a:r>
            <a:br>
              <a:rPr lang="en-IN" sz="3600" b="1" i="0" u="none" strike="noStrike" dirty="0">
                <a:solidFill>
                  <a:srgbClr val="1B1C1D"/>
                </a:solidFill>
                <a:latin typeface="Google Sans"/>
              </a:rPr>
            </a:br>
            <a:r>
              <a:rPr lang="en-IN" sz="2800" b="1" i="0" u="none" strike="noStrike" dirty="0">
                <a:solidFill>
                  <a:srgbClr val="1B1C1D"/>
                </a:solidFill>
                <a:effectLst/>
                <a:latin typeface="Google Sans"/>
              </a:rPr>
              <a:t>Formulation &amp; State Space</a:t>
            </a:r>
            <a:br>
              <a:rPr lang="en-IN" sz="3600" b="1" dirty="0">
                <a:effectLst/>
              </a:rPr>
            </a:br>
            <a:endParaRPr lang="en-US" sz="3600" b="1" dirty="0"/>
          </a:p>
        </p:txBody>
      </p:sp>
      <p:sp>
        <p:nvSpPr>
          <p:cNvPr id="3" name="Content Placeholder 2">
            <a:extLst>
              <a:ext uri="{FF2B5EF4-FFF2-40B4-BE49-F238E27FC236}">
                <a16:creationId xmlns:a16="http://schemas.microsoft.com/office/drawing/2014/main" id="{88A7E3AA-3025-517C-E4C6-FCF6D0C56A6E}"/>
              </a:ext>
            </a:extLst>
          </p:cNvPr>
          <p:cNvSpPr>
            <a:spLocks noGrp="1"/>
          </p:cNvSpPr>
          <p:nvPr>
            <p:ph idx="1"/>
          </p:nvPr>
        </p:nvSpPr>
        <p:spPr>
          <a:xfrm>
            <a:off x="838200" y="2141537"/>
            <a:ext cx="10515600" cy="4351338"/>
          </a:xfrm>
        </p:spPr>
        <p:txBody>
          <a:bodyPr>
            <a:normAutofit fontScale="92500" lnSpcReduction="20000"/>
          </a:bodyPr>
          <a:lstStyle/>
          <a:p>
            <a:pPr rtl="0"/>
            <a:r>
              <a:rPr lang="en-IN" sz="1800" b="1" i="0" u="none" strike="noStrike" dirty="0">
                <a:solidFill>
                  <a:srgbClr val="1B1C1D"/>
                </a:solidFill>
                <a:effectLst/>
                <a:latin typeface="Google Sans Text"/>
              </a:rPr>
              <a:t>Goal:</a:t>
            </a:r>
            <a:r>
              <a:rPr lang="en-IN" sz="1800" b="0" i="0" u="none" strike="noStrike" dirty="0">
                <a:solidFill>
                  <a:srgbClr val="1B1C1D"/>
                </a:solidFill>
                <a:effectLst/>
                <a:latin typeface="Google Sans Text"/>
              </a:rPr>
              <a:t> Transport a farmer (F), wolf (W), goat (G), and cabbage (C) across a river, given the constraint that:</a:t>
            </a:r>
            <a:endParaRPr lang="en-IN" dirty="0">
              <a:effectLst/>
            </a:endParaRPr>
          </a:p>
          <a:p>
            <a:pPr rtl="0" fontAlgn="base"/>
            <a:r>
              <a:rPr lang="en-IN" sz="1800" b="0" i="0" u="none" strike="noStrike" dirty="0">
                <a:solidFill>
                  <a:srgbClr val="1B1C1D"/>
                </a:solidFill>
                <a:effectLst/>
                <a:latin typeface="Google Sans Text"/>
              </a:rPr>
              <a:t>The wolf will eat the goat if the farmer is absent.</a:t>
            </a:r>
            <a:endParaRPr lang="en-IN" sz="1800" b="0" i="0" u="none" strike="noStrike" dirty="0">
              <a:solidFill>
                <a:srgbClr val="000000"/>
              </a:solidFill>
              <a:effectLst/>
              <a:latin typeface="Arial" panose="020B0604020202020204" pitchFamily="34" charset="0"/>
            </a:endParaRPr>
          </a:p>
          <a:p>
            <a:pPr rtl="0" fontAlgn="base"/>
            <a:r>
              <a:rPr lang="en-IN" sz="1800" b="0" i="0" u="none" strike="noStrike" dirty="0">
                <a:solidFill>
                  <a:srgbClr val="1B1C1D"/>
                </a:solidFill>
                <a:effectLst/>
                <a:latin typeface="Google Sans Text"/>
              </a:rPr>
              <a:t>The goat will eat the cabbage if the farmer is absent.</a:t>
            </a:r>
            <a:endParaRPr lang="en-IN" sz="1800" b="0" i="0" u="none" strike="noStrike" dirty="0">
              <a:solidFill>
                <a:srgbClr val="000000"/>
              </a:solidFill>
              <a:effectLst/>
              <a:latin typeface="Arial" panose="020B0604020202020204" pitchFamily="34" charset="0"/>
            </a:endParaRPr>
          </a:p>
          <a:p>
            <a:pPr rtl="0"/>
            <a:r>
              <a:rPr lang="en-IN" sz="1800" b="1" i="0" u="none" strike="noStrike" dirty="0">
                <a:solidFill>
                  <a:srgbClr val="1B1C1D"/>
                </a:solidFill>
                <a:effectLst/>
                <a:latin typeface="Google Sans Text"/>
              </a:rPr>
              <a:t>Core Concept:</a:t>
            </a:r>
            <a:r>
              <a:rPr lang="en-IN" sz="1800" b="0" i="0" u="none" strike="noStrike" dirty="0">
                <a:solidFill>
                  <a:srgbClr val="1B1C1D"/>
                </a:solidFill>
                <a:effectLst/>
                <a:latin typeface="Google Sans Text"/>
              </a:rPr>
              <a:t> Uninformed Search / State Space Traversal.</a:t>
            </a:r>
            <a:endParaRPr lang="en-IN" dirty="0">
              <a:effectLst/>
            </a:endParaRPr>
          </a:p>
          <a:p>
            <a:pPr rtl="0"/>
            <a:r>
              <a:rPr lang="en-IN" sz="1800" b="1" i="0" u="none" strike="noStrike" dirty="0">
                <a:solidFill>
                  <a:srgbClr val="1B1C1D"/>
                </a:solidFill>
                <a:effectLst/>
                <a:latin typeface="Google Sans Text"/>
              </a:rPr>
              <a:t>State Representation:</a:t>
            </a:r>
            <a:r>
              <a:rPr lang="en-IN" sz="1800" b="0" i="0" u="none" strike="noStrike" dirty="0">
                <a:solidFill>
                  <a:srgbClr val="1B1C1D"/>
                </a:solidFill>
                <a:effectLst/>
                <a:latin typeface="Google Sans Text"/>
              </a:rPr>
              <a:t> A 1D list of 4 binary elements: .</a:t>
            </a:r>
            <a:endParaRPr lang="en-US" sz="1800" b="1" i="0" u="none" strike="noStrike" dirty="0">
              <a:solidFill>
                <a:srgbClr val="1B1C1D"/>
              </a:solidFill>
              <a:effectLst/>
              <a:latin typeface="Google Sans Text"/>
            </a:endParaRPr>
          </a:p>
          <a:p>
            <a:pPr rtl="0"/>
            <a:r>
              <a:rPr lang="en-US" sz="1800" b="1" i="0" u="none" strike="noStrike" dirty="0">
                <a:solidFill>
                  <a:srgbClr val="1B1C1D"/>
                </a:solidFill>
                <a:effectLst/>
                <a:latin typeface="Google Sans Text"/>
              </a:rPr>
              <a:t>State - A 1D list of 4 elements [F, C, G, W] where each is 0 (left bank) or 1 (right bank).</a:t>
            </a:r>
          </a:p>
          <a:p>
            <a:pPr rtl="0"/>
            <a:r>
              <a:rPr lang="en-US" sz="1800" b="1" i="0" u="none" strike="noStrike" dirty="0">
                <a:solidFill>
                  <a:srgbClr val="1B1C1D"/>
                </a:solidFill>
                <a:effectLst/>
                <a:latin typeface="Google Sans Text"/>
              </a:rPr>
              <a:t>F = farmer</a:t>
            </a:r>
          </a:p>
          <a:p>
            <a:pPr rtl="0"/>
            <a:r>
              <a:rPr lang="en-US" sz="1800" b="1" i="0" u="none" strike="noStrike" dirty="0">
                <a:solidFill>
                  <a:srgbClr val="1B1C1D"/>
                </a:solidFill>
                <a:effectLst/>
                <a:latin typeface="Google Sans Text"/>
              </a:rPr>
              <a:t>W = wolf</a:t>
            </a:r>
          </a:p>
          <a:p>
            <a:pPr rtl="0"/>
            <a:r>
              <a:rPr lang="en-US" sz="1800" b="1" i="0" u="none" strike="noStrike" dirty="0">
                <a:solidFill>
                  <a:srgbClr val="1B1C1D"/>
                </a:solidFill>
                <a:effectLst/>
                <a:latin typeface="Google Sans Text"/>
              </a:rPr>
              <a:t>G = goat</a:t>
            </a:r>
          </a:p>
          <a:p>
            <a:pPr rtl="0"/>
            <a:r>
              <a:rPr lang="en-US" sz="1800" b="1" i="0" u="none" strike="noStrike" dirty="0">
                <a:solidFill>
                  <a:srgbClr val="1B1C1D"/>
                </a:solidFill>
                <a:effectLst/>
                <a:latin typeface="Google Sans Text"/>
              </a:rPr>
              <a:t>C = cabbage</a:t>
            </a:r>
          </a:p>
          <a:p>
            <a:pPr rtl="0"/>
            <a:r>
              <a:rPr lang="en-US" sz="1800" b="1" i="0" u="none" strike="noStrike" dirty="0">
                <a:solidFill>
                  <a:srgbClr val="1B1C1D"/>
                </a:solidFill>
                <a:effectLst/>
                <a:latin typeface="Google Sans Text"/>
              </a:rPr>
              <a:t>So initial = (0,0,0,0) and goal = (1,1,1,1).</a:t>
            </a:r>
            <a:endParaRPr lang="en-IN" sz="1800" b="1" i="0" u="none" strike="noStrike" dirty="0">
              <a:solidFill>
                <a:srgbClr val="1B1C1D"/>
              </a:solidFill>
              <a:effectLst/>
              <a:latin typeface="Google Sans Text"/>
            </a:endParaRPr>
          </a:p>
          <a:p>
            <a:pPr rtl="0"/>
            <a:r>
              <a:rPr lang="en-IN" sz="1800" b="1" i="0" u="none" strike="noStrike" dirty="0">
                <a:solidFill>
                  <a:srgbClr val="1B1C1D"/>
                </a:solidFill>
                <a:effectLst/>
                <a:latin typeface="Google Sans Text"/>
              </a:rPr>
              <a:t>Failure States (if farmer is not with the pair):</a:t>
            </a:r>
            <a:endParaRPr lang="en-IN" dirty="0">
              <a:effectLst/>
            </a:endParaRPr>
          </a:p>
          <a:p>
            <a:pPr rtl="0" fontAlgn="base"/>
            <a:r>
              <a:rPr lang="en-IN" sz="1800" b="0" i="0" u="none" strike="noStrike" dirty="0">
                <a:solidFill>
                  <a:srgbClr val="1B1C1D"/>
                </a:solidFill>
                <a:effectLst/>
                <a:latin typeface="Google Sans Text"/>
              </a:rPr>
              <a:t>Wolf and Goat on the same bank () AND Farmer is on the opposite bank ().</a:t>
            </a:r>
            <a:endParaRPr lang="en-IN" sz="1800" b="0" i="0" u="none" strike="noStrike" dirty="0">
              <a:solidFill>
                <a:srgbClr val="000000"/>
              </a:solidFill>
              <a:effectLst/>
              <a:latin typeface="Arial" panose="020B0604020202020204" pitchFamily="34" charset="0"/>
            </a:endParaRPr>
          </a:p>
          <a:p>
            <a:pPr rtl="0" fontAlgn="base"/>
            <a:r>
              <a:rPr lang="en-IN" sz="1800" b="0" i="0" u="none" strike="noStrike" dirty="0">
                <a:solidFill>
                  <a:srgbClr val="1B1C1D"/>
                </a:solidFill>
                <a:effectLst/>
                <a:latin typeface="Google Sans Text"/>
              </a:rPr>
              <a:t>Goat and Cabbage on the same bank () AND Farmer is on the opposite bank ().</a:t>
            </a:r>
            <a:endParaRPr lang="en-IN" sz="1800" b="0" i="0" u="none" strike="noStrike" dirty="0">
              <a:solidFill>
                <a:srgbClr val="000000"/>
              </a:solidFill>
              <a:effectLst/>
              <a:latin typeface="Arial" panose="020B0604020202020204" pitchFamily="34" charset="0"/>
            </a:endParaRPr>
          </a:p>
          <a:p>
            <a:endParaRPr lang="en-IN" dirty="0"/>
          </a:p>
        </p:txBody>
      </p:sp>
    </p:spTree>
    <p:extLst>
      <p:ext uri="{BB962C8B-B14F-4D97-AF65-F5344CB8AC3E}">
        <p14:creationId xmlns:p14="http://schemas.microsoft.com/office/powerpoint/2010/main" val="10833903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2F9E7D-CEDC-B07D-5999-45B28B5AD88C}"/>
              </a:ext>
            </a:extLst>
          </p:cNvPr>
          <p:cNvSpPr>
            <a:spLocks noGrp="1"/>
          </p:cNvSpPr>
          <p:nvPr>
            <p:ph type="title"/>
          </p:nvPr>
        </p:nvSpPr>
        <p:spPr/>
        <p:txBody>
          <a:bodyPr>
            <a:normAutofit/>
          </a:bodyPr>
          <a:lstStyle/>
          <a:p>
            <a:r>
              <a:rPr lang="en-IN" sz="3600" b="1" dirty="0"/>
              <a:t>Uninformed Search Algorithms Implemented</a:t>
            </a:r>
            <a:endParaRPr lang="en-US" sz="3600" b="1" dirty="0"/>
          </a:p>
        </p:txBody>
      </p:sp>
      <p:sp>
        <p:nvSpPr>
          <p:cNvPr id="3" name="Content Placeholder 2">
            <a:extLst>
              <a:ext uri="{FF2B5EF4-FFF2-40B4-BE49-F238E27FC236}">
                <a16:creationId xmlns:a16="http://schemas.microsoft.com/office/drawing/2014/main" id="{5802E423-D874-AC18-8548-FE629BAABF88}"/>
              </a:ext>
            </a:extLst>
          </p:cNvPr>
          <p:cNvSpPr>
            <a:spLocks noGrp="1"/>
          </p:cNvSpPr>
          <p:nvPr>
            <p:ph idx="1"/>
          </p:nvPr>
        </p:nvSpPr>
        <p:spPr/>
        <p:txBody>
          <a:bodyPr/>
          <a:lstStyle/>
          <a:p>
            <a:pPr marL="0" indent="0">
              <a:buNone/>
            </a:pPr>
            <a:r>
              <a:rPr lang="en-IN" dirty="0"/>
              <a:t>The problem is solved using several Uninformed Search strategies, comparing their path, time, and memory usage.</a:t>
            </a:r>
            <a:endParaRPr lang="en-US" dirty="0"/>
          </a:p>
        </p:txBody>
      </p:sp>
      <p:graphicFrame>
        <p:nvGraphicFramePr>
          <p:cNvPr id="5" name="Table 4">
            <a:extLst>
              <a:ext uri="{FF2B5EF4-FFF2-40B4-BE49-F238E27FC236}">
                <a16:creationId xmlns:a16="http://schemas.microsoft.com/office/drawing/2014/main" id="{59EA5BF7-2F4E-2FA3-618A-653DB03FBEE5}"/>
              </a:ext>
            </a:extLst>
          </p:cNvPr>
          <p:cNvGraphicFramePr/>
          <p:nvPr>
            <p:extLst>
              <p:ext uri="{D42A27DB-BD31-4B8C-83A1-F6EECF244321}">
                <p14:modId xmlns:p14="http://schemas.microsoft.com/office/powerpoint/2010/main" val="3228934422"/>
              </p:ext>
            </p:extLst>
          </p:nvPr>
        </p:nvGraphicFramePr>
        <p:xfrm>
          <a:off x="909320" y="2733293"/>
          <a:ext cx="10764520" cy="3532205"/>
        </p:xfrm>
        <a:graphic>
          <a:graphicData uri="http://schemas.openxmlformats.org/drawingml/2006/table">
            <a:tbl>
              <a:tblPr>
                <a:tableStyleId>{5C22544A-7EE6-4342-B048-85BDC9FD1C3A}</a:tableStyleId>
              </a:tblPr>
              <a:tblGrid>
                <a:gridCol w="1061720">
                  <a:extLst>
                    <a:ext uri="{9D8B030D-6E8A-4147-A177-3AD203B41FA5}">
                      <a16:colId xmlns:a16="http://schemas.microsoft.com/office/drawing/2014/main" val="837826929"/>
                    </a:ext>
                  </a:extLst>
                </a:gridCol>
                <a:gridCol w="1584960">
                  <a:extLst>
                    <a:ext uri="{9D8B030D-6E8A-4147-A177-3AD203B41FA5}">
                      <a16:colId xmlns:a16="http://schemas.microsoft.com/office/drawing/2014/main" val="3005052708"/>
                    </a:ext>
                  </a:extLst>
                </a:gridCol>
                <a:gridCol w="4521200">
                  <a:extLst>
                    <a:ext uri="{9D8B030D-6E8A-4147-A177-3AD203B41FA5}">
                      <a16:colId xmlns:a16="http://schemas.microsoft.com/office/drawing/2014/main" val="3334742105"/>
                    </a:ext>
                  </a:extLst>
                </a:gridCol>
                <a:gridCol w="3596640">
                  <a:extLst>
                    <a:ext uri="{9D8B030D-6E8A-4147-A177-3AD203B41FA5}">
                      <a16:colId xmlns:a16="http://schemas.microsoft.com/office/drawing/2014/main" val="1013387742"/>
                    </a:ext>
                  </a:extLst>
                </a:gridCol>
              </a:tblGrid>
              <a:tr h="387234">
                <a:tc>
                  <a:txBody>
                    <a:bodyPr/>
                    <a:lstStyle/>
                    <a:p>
                      <a:pPr rtl="0" fontAlgn="t">
                        <a:spcBef>
                          <a:spcPts val="600"/>
                        </a:spcBef>
                        <a:spcAft>
                          <a:spcPts val="600"/>
                        </a:spcAft>
                        <a:buNone/>
                      </a:pPr>
                      <a:r>
                        <a:rPr lang="en-IN" sz="1600" u="none" strike="noStrike">
                          <a:effectLst/>
                        </a:rPr>
                        <a:t>Algorithm</a:t>
                      </a:r>
                      <a:endParaRPr lang="en-IN" sz="1600">
                        <a:effectLst/>
                      </a:endParaRPr>
                    </a:p>
                  </a:txBody>
                  <a:tcPr marL="49023" marR="49023" marT="32682" marB="32682"/>
                </a:tc>
                <a:tc>
                  <a:txBody>
                    <a:bodyPr/>
                    <a:lstStyle/>
                    <a:p>
                      <a:pPr rtl="0" fontAlgn="t">
                        <a:spcBef>
                          <a:spcPts val="600"/>
                        </a:spcBef>
                        <a:spcAft>
                          <a:spcPts val="600"/>
                        </a:spcAft>
                        <a:buNone/>
                      </a:pPr>
                      <a:r>
                        <a:rPr lang="en-IN" sz="1600" u="none" strike="noStrike" dirty="0">
                          <a:effectLst/>
                        </a:rPr>
                        <a:t>Type</a:t>
                      </a:r>
                      <a:endParaRPr lang="en-IN" sz="1600" dirty="0">
                        <a:effectLst/>
                      </a:endParaRPr>
                    </a:p>
                  </a:txBody>
                  <a:tcPr marL="49023" marR="49023" marT="32682" marB="32682"/>
                </a:tc>
                <a:tc>
                  <a:txBody>
                    <a:bodyPr/>
                    <a:lstStyle/>
                    <a:p>
                      <a:pPr rtl="0" fontAlgn="t">
                        <a:spcBef>
                          <a:spcPts val="600"/>
                        </a:spcBef>
                        <a:spcAft>
                          <a:spcPts val="600"/>
                        </a:spcAft>
                        <a:buNone/>
                      </a:pPr>
                      <a:r>
                        <a:rPr lang="en-IN" sz="1600" u="none" strike="noStrike">
                          <a:effectLst/>
                        </a:rPr>
                        <a:t>Strategy</a:t>
                      </a:r>
                      <a:endParaRPr lang="en-IN" sz="1600">
                        <a:effectLst/>
                      </a:endParaRPr>
                    </a:p>
                  </a:txBody>
                  <a:tcPr marL="49023" marR="49023" marT="32682" marB="32682"/>
                </a:tc>
                <a:tc>
                  <a:txBody>
                    <a:bodyPr/>
                    <a:lstStyle/>
                    <a:p>
                      <a:pPr rtl="0" fontAlgn="t">
                        <a:spcBef>
                          <a:spcPts val="600"/>
                        </a:spcBef>
                        <a:spcAft>
                          <a:spcPts val="600"/>
                        </a:spcAft>
                        <a:buNone/>
                      </a:pPr>
                      <a:r>
                        <a:rPr lang="en-IN" sz="1600" u="none" strike="noStrike">
                          <a:effectLst/>
                        </a:rPr>
                        <a:t>Completeness &amp; Optimality</a:t>
                      </a:r>
                      <a:endParaRPr lang="en-IN" sz="1600">
                        <a:effectLst/>
                      </a:endParaRPr>
                    </a:p>
                  </a:txBody>
                  <a:tcPr marL="49023" marR="49023" marT="32682" marB="32682"/>
                </a:tc>
                <a:extLst>
                  <a:ext uri="{0D108BD9-81ED-4DB2-BD59-A6C34878D82A}">
                    <a16:rowId xmlns:a16="http://schemas.microsoft.com/office/drawing/2014/main" val="2535120267"/>
                  </a:ext>
                </a:extLst>
              </a:tr>
              <a:tr h="474669">
                <a:tc>
                  <a:txBody>
                    <a:bodyPr/>
                    <a:lstStyle/>
                    <a:p>
                      <a:pPr rtl="0" fontAlgn="t">
                        <a:spcBef>
                          <a:spcPts val="600"/>
                        </a:spcBef>
                        <a:spcAft>
                          <a:spcPts val="600"/>
                        </a:spcAft>
                        <a:buNone/>
                      </a:pPr>
                      <a:r>
                        <a:rPr lang="en-IN" sz="1600" u="none" strike="noStrike">
                          <a:effectLst/>
                        </a:rPr>
                        <a:t>BFS</a:t>
                      </a:r>
                      <a:endParaRPr lang="en-IN" sz="1600">
                        <a:effectLst/>
                      </a:endParaRPr>
                    </a:p>
                  </a:txBody>
                  <a:tcPr marL="49023" marR="49023" marT="32682" marB="32682"/>
                </a:tc>
                <a:tc>
                  <a:txBody>
                    <a:bodyPr/>
                    <a:lstStyle/>
                    <a:p>
                      <a:pPr rtl="0" fontAlgn="t">
                        <a:spcBef>
                          <a:spcPts val="600"/>
                        </a:spcBef>
                        <a:spcAft>
                          <a:spcPts val="600"/>
                        </a:spcAft>
                        <a:buNone/>
                      </a:pPr>
                      <a:r>
                        <a:rPr lang="en-IN" sz="1600" u="none" strike="noStrike">
                          <a:effectLst/>
                        </a:rPr>
                        <a:t>Graph Search</a:t>
                      </a:r>
                      <a:endParaRPr lang="en-IN" sz="1600">
                        <a:effectLst/>
                      </a:endParaRPr>
                    </a:p>
                  </a:txBody>
                  <a:tcPr marL="49023" marR="49023" marT="32682" marB="32682"/>
                </a:tc>
                <a:tc>
                  <a:txBody>
                    <a:bodyPr/>
                    <a:lstStyle/>
                    <a:p>
                      <a:pPr rtl="0" fontAlgn="t">
                        <a:spcBef>
                          <a:spcPts val="600"/>
                        </a:spcBef>
                        <a:spcAft>
                          <a:spcPts val="600"/>
                        </a:spcAft>
                        <a:buNone/>
                      </a:pPr>
                      <a:r>
                        <a:rPr lang="en-IN" sz="1600" u="none" strike="noStrike">
                          <a:effectLst/>
                        </a:rPr>
                        <a:t>Explores level by level.</a:t>
                      </a:r>
                      <a:endParaRPr lang="en-IN" sz="1600">
                        <a:effectLst/>
                      </a:endParaRPr>
                    </a:p>
                  </a:txBody>
                  <a:tcPr marL="49023" marR="49023" marT="32682" marB="32682"/>
                </a:tc>
                <a:tc>
                  <a:txBody>
                    <a:bodyPr/>
                    <a:lstStyle/>
                    <a:p>
                      <a:pPr rtl="0" fontAlgn="t">
                        <a:spcBef>
                          <a:spcPts val="600"/>
                        </a:spcBef>
                        <a:spcAft>
                          <a:spcPts val="600"/>
                        </a:spcAft>
                        <a:buNone/>
                      </a:pPr>
                      <a:r>
                        <a:rPr lang="en-IN" sz="1600" u="none" strike="noStrike">
                          <a:effectLst/>
                        </a:rPr>
                        <a:t>Complete &amp; Optimal (shortest path).</a:t>
                      </a:r>
                      <a:endParaRPr lang="en-IN" sz="1600">
                        <a:effectLst/>
                      </a:endParaRPr>
                    </a:p>
                  </a:txBody>
                  <a:tcPr marL="49023" marR="49023" marT="32682" marB="32682"/>
                </a:tc>
                <a:extLst>
                  <a:ext uri="{0D108BD9-81ED-4DB2-BD59-A6C34878D82A}">
                    <a16:rowId xmlns:a16="http://schemas.microsoft.com/office/drawing/2014/main" val="2102416765"/>
                  </a:ext>
                </a:extLst>
              </a:tr>
              <a:tr h="562102">
                <a:tc>
                  <a:txBody>
                    <a:bodyPr/>
                    <a:lstStyle/>
                    <a:p>
                      <a:pPr rtl="0" fontAlgn="t">
                        <a:spcBef>
                          <a:spcPts val="600"/>
                        </a:spcBef>
                        <a:spcAft>
                          <a:spcPts val="600"/>
                        </a:spcAft>
                        <a:buNone/>
                      </a:pPr>
                      <a:r>
                        <a:rPr lang="en-IN" sz="1600" u="none" strike="noStrike">
                          <a:effectLst/>
                        </a:rPr>
                        <a:t>DFS</a:t>
                      </a:r>
                      <a:endParaRPr lang="en-IN" sz="1600">
                        <a:effectLst/>
                      </a:endParaRPr>
                    </a:p>
                  </a:txBody>
                  <a:tcPr marL="49023" marR="49023" marT="32682" marB="32682"/>
                </a:tc>
                <a:tc>
                  <a:txBody>
                    <a:bodyPr/>
                    <a:lstStyle/>
                    <a:p>
                      <a:pPr rtl="0" fontAlgn="t">
                        <a:spcBef>
                          <a:spcPts val="600"/>
                        </a:spcBef>
                        <a:spcAft>
                          <a:spcPts val="600"/>
                        </a:spcAft>
                        <a:buNone/>
                      </a:pPr>
                      <a:r>
                        <a:rPr lang="en-IN" sz="1600" u="none" strike="noStrike">
                          <a:effectLst/>
                        </a:rPr>
                        <a:t>Graph Search</a:t>
                      </a:r>
                      <a:endParaRPr lang="en-IN" sz="1600">
                        <a:effectLst/>
                      </a:endParaRPr>
                    </a:p>
                  </a:txBody>
                  <a:tcPr marL="49023" marR="49023" marT="32682" marB="32682"/>
                </a:tc>
                <a:tc>
                  <a:txBody>
                    <a:bodyPr/>
                    <a:lstStyle/>
                    <a:p>
                      <a:pPr rtl="0" fontAlgn="t">
                        <a:spcBef>
                          <a:spcPts val="600"/>
                        </a:spcBef>
                        <a:spcAft>
                          <a:spcPts val="600"/>
                        </a:spcAft>
                        <a:buNone/>
                      </a:pPr>
                      <a:r>
                        <a:rPr lang="en-IN" sz="1600" u="none" strike="noStrike">
                          <a:effectLst/>
                        </a:rPr>
                        <a:t>Explores to the deepest node first.</a:t>
                      </a:r>
                      <a:endParaRPr lang="en-IN" sz="1600">
                        <a:effectLst/>
                      </a:endParaRPr>
                    </a:p>
                  </a:txBody>
                  <a:tcPr marL="49023" marR="49023" marT="32682" marB="32682"/>
                </a:tc>
                <a:tc>
                  <a:txBody>
                    <a:bodyPr/>
                    <a:lstStyle/>
                    <a:p>
                      <a:pPr rtl="0" fontAlgn="t">
                        <a:spcBef>
                          <a:spcPts val="600"/>
                        </a:spcBef>
                        <a:spcAft>
                          <a:spcPts val="600"/>
                        </a:spcAft>
                        <a:buNone/>
                      </a:pPr>
                      <a:r>
                        <a:rPr lang="en-IN" sz="1600" u="none" strike="noStrike">
                          <a:effectLst/>
                        </a:rPr>
                        <a:t>Complete (for finite spaces), Not Optimal.</a:t>
                      </a:r>
                      <a:endParaRPr lang="en-IN" sz="1600">
                        <a:effectLst/>
                      </a:endParaRPr>
                    </a:p>
                  </a:txBody>
                  <a:tcPr marL="49023" marR="49023" marT="32682" marB="32682"/>
                </a:tc>
                <a:extLst>
                  <a:ext uri="{0D108BD9-81ED-4DB2-BD59-A6C34878D82A}">
                    <a16:rowId xmlns:a16="http://schemas.microsoft.com/office/drawing/2014/main" val="2886755275"/>
                  </a:ext>
                </a:extLst>
              </a:tr>
              <a:tr h="474669">
                <a:tc>
                  <a:txBody>
                    <a:bodyPr/>
                    <a:lstStyle/>
                    <a:p>
                      <a:pPr rtl="0" fontAlgn="t">
                        <a:spcBef>
                          <a:spcPts val="600"/>
                        </a:spcBef>
                        <a:spcAft>
                          <a:spcPts val="600"/>
                        </a:spcAft>
                        <a:buNone/>
                      </a:pPr>
                      <a:r>
                        <a:rPr lang="en-IN" sz="1600" u="none" strike="noStrike">
                          <a:effectLst/>
                        </a:rPr>
                        <a:t>DLS</a:t>
                      </a:r>
                      <a:endParaRPr lang="en-IN" sz="1600">
                        <a:effectLst/>
                      </a:endParaRPr>
                    </a:p>
                  </a:txBody>
                  <a:tcPr marL="49023" marR="49023" marT="32682" marB="32682"/>
                </a:tc>
                <a:tc>
                  <a:txBody>
                    <a:bodyPr/>
                    <a:lstStyle/>
                    <a:p>
                      <a:pPr rtl="0" fontAlgn="t">
                        <a:spcBef>
                          <a:spcPts val="600"/>
                        </a:spcBef>
                        <a:spcAft>
                          <a:spcPts val="600"/>
                        </a:spcAft>
                        <a:buNone/>
                      </a:pPr>
                      <a:r>
                        <a:rPr lang="en-IN" sz="1600" u="none" strike="noStrike">
                          <a:effectLst/>
                        </a:rPr>
                        <a:t>Graph Search</a:t>
                      </a:r>
                      <a:endParaRPr lang="en-IN" sz="1600">
                        <a:effectLst/>
                      </a:endParaRPr>
                    </a:p>
                  </a:txBody>
                  <a:tcPr marL="49023" marR="49023" marT="32682" marB="32682"/>
                </a:tc>
                <a:tc>
                  <a:txBody>
                    <a:bodyPr/>
                    <a:lstStyle/>
                    <a:p>
                      <a:pPr rtl="0" fontAlgn="t">
                        <a:spcBef>
                          <a:spcPts val="600"/>
                        </a:spcBef>
                        <a:spcAft>
                          <a:spcPts val="600"/>
                        </a:spcAft>
                        <a:buNone/>
                      </a:pPr>
                      <a:r>
                        <a:rPr lang="en-IN" sz="1600" u="none" strike="noStrike">
                          <a:effectLst/>
                        </a:rPr>
                        <a:t>DFS with a predefined depth limit ().</a:t>
                      </a:r>
                      <a:endParaRPr lang="en-IN" sz="1600">
                        <a:effectLst/>
                      </a:endParaRPr>
                    </a:p>
                  </a:txBody>
                  <a:tcPr marL="49023" marR="49023" marT="32682" marB="32682"/>
                </a:tc>
                <a:tc>
                  <a:txBody>
                    <a:bodyPr/>
                    <a:lstStyle/>
                    <a:p>
                      <a:pPr rtl="0" fontAlgn="t">
                        <a:spcBef>
                          <a:spcPts val="600"/>
                        </a:spcBef>
                        <a:spcAft>
                          <a:spcPts val="600"/>
                        </a:spcAft>
                        <a:buNone/>
                      </a:pPr>
                      <a:r>
                        <a:rPr lang="en-IN" sz="1600" u="none" strike="noStrike" dirty="0">
                          <a:effectLst/>
                        </a:rPr>
                        <a:t>Incomplete (if  is too small), Not Optimal.</a:t>
                      </a:r>
                      <a:endParaRPr lang="en-IN" sz="1600" dirty="0">
                        <a:effectLst/>
                      </a:endParaRPr>
                    </a:p>
                  </a:txBody>
                  <a:tcPr marL="49023" marR="49023" marT="32682" marB="32682"/>
                </a:tc>
                <a:extLst>
                  <a:ext uri="{0D108BD9-81ED-4DB2-BD59-A6C34878D82A}">
                    <a16:rowId xmlns:a16="http://schemas.microsoft.com/office/drawing/2014/main" val="1146743704"/>
                  </a:ext>
                </a:extLst>
              </a:tr>
              <a:tr h="474669">
                <a:tc>
                  <a:txBody>
                    <a:bodyPr/>
                    <a:lstStyle/>
                    <a:p>
                      <a:pPr rtl="0" fontAlgn="t">
                        <a:spcBef>
                          <a:spcPts val="600"/>
                        </a:spcBef>
                        <a:spcAft>
                          <a:spcPts val="600"/>
                        </a:spcAft>
                        <a:buNone/>
                      </a:pPr>
                      <a:r>
                        <a:rPr lang="en-IN" sz="1600" u="none" strike="noStrike">
                          <a:effectLst/>
                        </a:rPr>
                        <a:t>IDS</a:t>
                      </a:r>
                      <a:endParaRPr lang="en-IN" sz="1600">
                        <a:effectLst/>
                      </a:endParaRPr>
                    </a:p>
                  </a:txBody>
                  <a:tcPr marL="49023" marR="49023" marT="32682" marB="32682"/>
                </a:tc>
                <a:tc>
                  <a:txBody>
                    <a:bodyPr/>
                    <a:lstStyle/>
                    <a:p>
                      <a:pPr rtl="0" fontAlgn="t">
                        <a:spcBef>
                          <a:spcPts val="600"/>
                        </a:spcBef>
                        <a:spcAft>
                          <a:spcPts val="600"/>
                        </a:spcAft>
                        <a:buNone/>
                      </a:pPr>
                      <a:r>
                        <a:rPr lang="en-IN" sz="1600" u="none" strike="noStrike">
                          <a:effectLst/>
                        </a:rPr>
                        <a:t>Graph Search</a:t>
                      </a:r>
                      <a:endParaRPr lang="en-IN" sz="1600">
                        <a:effectLst/>
                      </a:endParaRPr>
                    </a:p>
                  </a:txBody>
                  <a:tcPr marL="49023" marR="49023" marT="32682" marB="32682"/>
                </a:tc>
                <a:tc>
                  <a:txBody>
                    <a:bodyPr/>
                    <a:lstStyle/>
                    <a:p>
                      <a:pPr rtl="0" fontAlgn="t">
                        <a:spcBef>
                          <a:spcPts val="600"/>
                        </a:spcBef>
                        <a:spcAft>
                          <a:spcPts val="600"/>
                        </a:spcAft>
                        <a:buNone/>
                      </a:pPr>
                      <a:r>
                        <a:rPr lang="en-IN" sz="1600" u="none" strike="noStrike">
                          <a:effectLst/>
                        </a:rPr>
                        <a:t>Repeated DLS with increasing limits ().</a:t>
                      </a:r>
                      <a:endParaRPr lang="en-IN" sz="1600">
                        <a:effectLst/>
                      </a:endParaRPr>
                    </a:p>
                  </a:txBody>
                  <a:tcPr marL="49023" marR="49023" marT="32682" marB="32682"/>
                </a:tc>
                <a:tc>
                  <a:txBody>
                    <a:bodyPr/>
                    <a:lstStyle/>
                    <a:p>
                      <a:pPr rtl="0" fontAlgn="t">
                        <a:spcBef>
                          <a:spcPts val="600"/>
                        </a:spcBef>
                        <a:spcAft>
                          <a:spcPts val="600"/>
                        </a:spcAft>
                        <a:buNone/>
                      </a:pPr>
                      <a:r>
                        <a:rPr lang="en-IN" sz="1600" u="none" strike="noStrike" dirty="0">
                          <a:effectLst/>
                        </a:rPr>
                        <a:t>Complete &amp; Optimal (shortest path).</a:t>
                      </a:r>
                      <a:endParaRPr lang="en-IN" sz="1600" dirty="0">
                        <a:effectLst/>
                      </a:endParaRPr>
                    </a:p>
                  </a:txBody>
                  <a:tcPr marL="49023" marR="49023" marT="32682" marB="32682"/>
                </a:tc>
                <a:extLst>
                  <a:ext uri="{0D108BD9-81ED-4DB2-BD59-A6C34878D82A}">
                    <a16:rowId xmlns:a16="http://schemas.microsoft.com/office/drawing/2014/main" val="770647076"/>
                  </a:ext>
                </a:extLst>
              </a:tr>
              <a:tr h="518385">
                <a:tc>
                  <a:txBody>
                    <a:bodyPr/>
                    <a:lstStyle/>
                    <a:p>
                      <a:pPr rtl="0" fontAlgn="t">
                        <a:spcBef>
                          <a:spcPts val="600"/>
                        </a:spcBef>
                        <a:spcAft>
                          <a:spcPts val="600"/>
                        </a:spcAft>
                        <a:buNone/>
                      </a:pPr>
                      <a:r>
                        <a:rPr lang="en-IN" sz="1600" u="none" strike="noStrike">
                          <a:effectLst/>
                        </a:rPr>
                        <a:t>UCS</a:t>
                      </a:r>
                      <a:endParaRPr lang="en-IN" sz="1600">
                        <a:effectLst/>
                      </a:endParaRPr>
                    </a:p>
                  </a:txBody>
                  <a:tcPr marL="49023" marR="49023" marT="32682" marB="32682"/>
                </a:tc>
                <a:tc>
                  <a:txBody>
                    <a:bodyPr/>
                    <a:lstStyle/>
                    <a:p>
                      <a:pPr rtl="0" fontAlgn="t">
                        <a:spcBef>
                          <a:spcPts val="600"/>
                        </a:spcBef>
                        <a:spcAft>
                          <a:spcPts val="600"/>
                        </a:spcAft>
                        <a:buNone/>
                      </a:pPr>
                      <a:r>
                        <a:rPr lang="en-IN" sz="1600" u="none" strike="noStrike">
                          <a:effectLst/>
                        </a:rPr>
                        <a:t>Graph Search</a:t>
                      </a:r>
                      <a:endParaRPr lang="en-IN" sz="1600">
                        <a:effectLst/>
                      </a:endParaRPr>
                    </a:p>
                  </a:txBody>
                  <a:tcPr marL="49023" marR="49023" marT="32682" marB="32682"/>
                </a:tc>
                <a:tc>
                  <a:txBody>
                    <a:bodyPr/>
                    <a:lstStyle/>
                    <a:p>
                      <a:pPr rtl="0" fontAlgn="t">
                        <a:spcBef>
                          <a:spcPts val="600"/>
                        </a:spcBef>
                        <a:spcAft>
                          <a:spcPts val="600"/>
                        </a:spcAft>
                        <a:buNone/>
                      </a:pPr>
                      <a:r>
                        <a:rPr lang="en-IN" sz="1600" u="none" strike="noStrike">
                          <a:effectLst/>
                        </a:rPr>
                        <a:t>Explores based on lowest path cost ().</a:t>
                      </a:r>
                      <a:endParaRPr lang="en-IN" sz="1600">
                        <a:effectLst/>
                      </a:endParaRPr>
                    </a:p>
                  </a:txBody>
                  <a:tcPr marL="49023" marR="49023" marT="32682" marB="32682"/>
                </a:tc>
                <a:tc>
                  <a:txBody>
                    <a:bodyPr/>
                    <a:lstStyle/>
                    <a:p>
                      <a:pPr rtl="0" fontAlgn="t">
                        <a:spcBef>
                          <a:spcPts val="600"/>
                        </a:spcBef>
                        <a:spcAft>
                          <a:spcPts val="600"/>
                        </a:spcAft>
                        <a:buNone/>
                      </a:pPr>
                      <a:r>
                        <a:rPr lang="en-IN" sz="1600" u="none" strike="noStrike">
                          <a:effectLst/>
                        </a:rPr>
                        <a:t>Complete &amp; Optimal (lowest cost path).</a:t>
                      </a:r>
                      <a:endParaRPr lang="en-IN" sz="1600">
                        <a:effectLst/>
                      </a:endParaRPr>
                    </a:p>
                  </a:txBody>
                  <a:tcPr marL="49023" marR="49023" marT="32682" marB="32682"/>
                </a:tc>
                <a:extLst>
                  <a:ext uri="{0D108BD9-81ED-4DB2-BD59-A6C34878D82A}">
                    <a16:rowId xmlns:a16="http://schemas.microsoft.com/office/drawing/2014/main" val="949684499"/>
                  </a:ext>
                </a:extLst>
              </a:tr>
              <a:tr h="562102">
                <a:tc>
                  <a:txBody>
                    <a:bodyPr/>
                    <a:lstStyle/>
                    <a:p>
                      <a:pPr rtl="0" fontAlgn="t">
                        <a:spcBef>
                          <a:spcPts val="600"/>
                        </a:spcBef>
                        <a:spcAft>
                          <a:spcPts val="600"/>
                        </a:spcAft>
                        <a:buNone/>
                      </a:pPr>
                      <a:r>
                        <a:rPr lang="en-IN" sz="1600" u="none" strike="noStrike">
                          <a:effectLst/>
                        </a:rPr>
                        <a:t>ILS</a:t>
                      </a:r>
                      <a:endParaRPr lang="en-IN" sz="1600">
                        <a:effectLst/>
                      </a:endParaRPr>
                    </a:p>
                  </a:txBody>
                  <a:tcPr marL="49023" marR="49023" marT="32682" marB="32682"/>
                </a:tc>
                <a:tc>
                  <a:txBody>
                    <a:bodyPr/>
                    <a:lstStyle/>
                    <a:p>
                      <a:pPr rtl="0" fontAlgn="t">
                        <a:spcBef>
                          <a:spcPts val="600"/>
                        </a:spcBef>
                        <a:spcAft>
                          <a:spcPts val="600"/>
                        </a:spcAft>
                        <a:buNone/>
                      </a:pPr>
                      <a:r>
                        <a:rPr lang="en-IN" sz="1600" u="none" strike="noStrike">
                          <a:effectLst/>
                        </a:rPr>
                        <a:t>Graph Search</a:t>
                      </a:r>
                      <a:endParaRPr lang="en-IN" sz="1600">
                        <a:effectLst/>
                      </a:endParaRPr>
                    </a:p>
                  </a:txBody>
                  <a:tcPr marL="49023" marR="49023" marT="32682" marB="32682"/>
                </a:tc>
                <a:tc>
                  <a:txBody>
                    <a:bodyPr/>
                    <a:lstStyle/>
                    <a:p>
                      <a:pPr rtl="0" fontAlgn="t">
                        <a:spcBef>
                          <a:spcPts val="600"/>
                        </a:spcBef>
                        <a:spcAft>
                          <a:spcPts val="600"/>
                        </a:spcAft>
                        <a:buNone/>
                      </a:pPr>
                      <a:r>
                        <a:rPr lang="en-IN" sz="1600" u="none" strike="noStrike">
                          <a:effectLst/>
                        </a:rPr>
                        <a:t>Repeated DFS/A* with increasing cost limit ().</a:t>
                      </a:r>
                      <a:endParaRPr lang="en-IN" sz="1600">
                        <a:effectLst/>
                      </a:endParaRPr>
                    </a:p>
                  </a:txBody>
                  <a:tcPr marL="49023" marR="49023" marT="32682" marB="32682"/>
                </a:tc>
                <a:tc>
                  <a:txBody>
                    <a:bodyPr/>
                    <a:lstStyle/>
                    <a:p>
                      <a:pPr rtl="0" fontAlgn="t">
                        <a:spcBef>
                          <a:spcPts val="600"/>
                        </a:spcBef>
                        <a:spcAft>
                          <a:spcPts val="600"/>
                        </a:spcAft>
                        <a:buNone/>
                      </a:pPr>
                      <a:r>
                        <a:rPr lang="en-IN" sz="1600" u="none" strike="noStrike" dirty="0">
                          <a:effectLst/>
                        </a:rPr>
                        <a:t>Complete &amp; Optimal (lowest cost path).</a:t>
                      </a:r>
                      <a:endParaRPr lang="en-IN" sz="1600" dirty="0">
                        <a:effectLst/>
                      </a:endParaRPr>
                    </a:p>
                  </a:txBody>
                  <a:tcPr marL="49023" marR="49023" marT="32682" marB="32682"/>
                </a:tc>
                <a:extLst>
                  <a:ext uri="{0D108BD9-81ED-4DB2-BD59-A6C34878D82A}">
                    <a16:rowId xmlns:a16="http://schemas.microsoft.com/office/drawing/2014/main" val="3932379225"/>
                  </a:ext>
                </a:extLst>
              </a:tr>
            </a:tbl>
          </a:graphicData>
        </a:graphic>
      </p:graphicFrame>
    </p:spTree>
    <p:extLst>
      <p:ext uri="{BB962C8B-B14F-4D97-AF65-F5344CB8AC3E}">
        <p14:creationId xmlns:p14="http://schemas.microsoft.com/office/powerpoint/2010/main" val="27836019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80990D-D36E-7409-28CC-7EF82EE19BB6}"/>
              </a:ext>
            </a:extLst>
          </p:cNvPr>
          <p:cNvSpPr>
            <a:spLocks noGrp="1"/>
          </p:cNvSpPr>
          <p:nvPr>
            <p:ph type="title"/>
          </p:nvPr>
        </p:nvSpPr>
        <p:spPr/>
        <p:txBody>
          <a:bodyPr>
            <a:normAutofit/>
          </a:bodyPr>
          <a:lstStyle/>
          <a:p>
            <a:r>
              <a:rPr lang="en-IN" sz="3600" b="1" i="0" u="none" strike="noStrike" dirty="0">
                <a:solidFill>
                  <a:srgbClr val="1B1C1D"/>
                </a:solidFill>
                <a:effectLst/>
                <a:latin typeface="Google Sans"/>
              </a:rPr>
              <a:t>Key Code &amp; Output Metrics</a:t>
            </a:r>
            <a:endParaRPr lang="en-US" sz="3600" dirty="0"/>
          </a:p>
        </p:txBody>
      </p:sp>
      <p:sp>
        <p:nvSpPr>
          <p:cNvPr id="3" name="Content Placeholder 2">
            <a:extLst>
              <a:ext uri="{FF2B5EF4-FFF2-40B4-BE49-F238E27FC236}">
                <a16:creationId xmlns:a16="http://schemas.microsoft.com/office/drawing/2014/main" id="{9B3F11A2-BBBF-763F-DDE7-6F436E2DDC23}"/>
              </a:ext>
            </a:extLst>
          </p:cNvPr>
          <p:cNvSpPr>
            <a:spLocks noGrp="1"/>
          </p:cNvSpPr>
          <p:nvPr>
            <p:ph idx="1"/>
          </p:nvPr>
        </p:nvSpPr>
        <p:spPr/>
        <p:txBody>
          <a:bodyPr>
            <a:normAutofit fontScale="77500" lnSpcReduction="20000"/>
          </a:bodyPr>
          <a:lstStyle/>
          <a:p>
            <a:pPr rtl="0"/>
            <a:r>
              <a:rPr lang="en-IN" sz="1800" b="0" i="0" u="none" strike="noStrike" dirty="0">
                <a:solidFill>
                  <a:srgbClr val="000000"/>
                </a:solidFill>
                <a:effectLst/>
                <a:latin typeface="Google Sans Text"/>
              </a:rPr>
              <a:t>Next Possible Moves (</a:t>
            </a:r>
            <a:r>
              <a:rPr lang="en-IN" sz="1800" b="0" i="0" u="none" strike="noStrike" dirty="0" err="1">
                <a:solidFill>
                  <a:srgbClr val="000000"/>
                </a:solidFill>
                <a:effectLst/>
                <a:latin typeface="Google Sans Text"/>
              </a:rPr>
              <a:t>next_possible_move</a:t>
            </a:r>
            <a:r>
              <a:rPr lang="en-IN" sz="1800" b="0" i="0" u="none" strike="noStrike" dirty="0">
                <a:solidFill>
                  <a:srgbClr val="000000"/>
                </a:solidFill>
                <a:effectLst/>
                <a:latin typeface="Google Sans Text"/>
              </a:rPr>
              <a:t>):</a:t>
            </a:r>
            <a:endParaRPr lang="en-IN" dirty="0">
              <a:effectLst/>
            </a:endParaRPr>
          </a:p>
          <a:p>
            <a:pPr rtl="0"/>
            <a:r>
              <a:rPr lang="en-IN" sz="1800" b="0" i="0" u="none" strike="noStrike" dirty="0">
                <a:solidFill>
                  <a:srgbClr val="000000"/>
                </a:solidFill>
                <a:effectLst/>
                <a:latin typeface="Google Sans Text"/>
              </a:rPr>
              <a:t>The farmer moves alone or takes one passenger (W, G, or C) if they are on the same bank. Crucially, a move is only added if the resulting state is not a failure state.</a:t>
            </a:r>
            <a:endParaRPr lang="en-IN" dirty="0">
              <a:effectLst/>
            </a:endParaRPr>
          </a:p>
          <a:p>
            <a:pPr rtl="0"/>
            <a:r>
              <a:rPr lang="en-IN" sz="1800" b="0" i="0" u="none" strike="noStrike" dirty="0">
                <a:solidFill>
                  <a:srgbClr val="000000"/>
                </a:solidFill>
                <a:effectLst/>
                <a:latin typeface="Google Sans Text"/>
              </a:rPr>
              <a:t>Cost Function (UCS/ILS - step_cost1):</a:t>
            </a:r>
            <a:endParaRPr lang="en-IN" dirty="0">
              <a:effectLst/>
            </a:endParaRPr>
          </a:p>
          <a:p>
            <a:pPr rtl="0"/>
            <a:r>
              <a:rPr lang="en-IN" sz="1800" b="0" i="0" u="none" strike="noStrike" dirty="0">
                <a:solidFill>
                  <a:srgbClr val="000000"/>
                </a:solidFill>
                <a:effectLst/>
                <a:latin typeface="Google Sans Text"/>
              </a:rPr>
              <a:t>h(n) is the number of different bits (elements) between the current state and the goal state. This makes UCS/ILS function like an A with a simple, admissible heuristic*, as it prefers states closer to the goal configuration.</a:t>
            </a:r>
          </a:p>
          <a:p>
            <a:pPr rtl="0"/>
            <a:r>
              <a:rPr lang="en-IN" sz="1800" i="0" u="none" strike="noStrike" dirty="0" err="1">
                <a:solidFill>
                  <a:srgbClr val="8430CE"/>
                </a:solidFill>
                <a:effectLst/>
                <a:latin typeface="Google Sans Text"/>
              </a:rPr>
              <a:t>def</a:t>
            </a:r>
            <a:r>
              <a:rPr lang="en-IN" sz="1800" i="0" u="none" strike="noStrike" dirty="0">
                <a:solidFill>
                  <a:srgbClr val="575B5F"/>
                </a:solidFill>
                <a:effectLst/>
                <a:latin typeface="Google Sans Text"/>
              </a:rPr>
              <a:t> </a:t>
            </a:r>
            <a:r>
              <a:rPr lang="en-IN" sz="1800" i="0" u="none" strike="noStrike" dirty="0">
                <a:solidFill>
                  <a:srgbClr val="996900"/>
                </a:solidFill>
                <a:effectLst/>
                <a:latin typeface="Google Sans Text"/>
              </a:rPr>
              <a:t>step_cost1</a:t>
            </a:r>
            <a:r>
              <a:rPr lang="en-IN" sz="1800" i="0" u="none" strike="noStrike" dirty="0">
                <a:solidFill>
                  <a:srgbClr val="575B5F"/>
                </a:solidFill>
                <a:effectLst/>
                <a:latin typeface="Google Sans Text"/>
              </a:rPr>
              <a:t>(</a:t>
            </a:r>
            <a:r>
              <a:rPr lang="en-IN" sz="1800" i="0" u="none" strike="noStrike" dirty="0" err="1">
                <a:solidFill>
                  <a:srgbClr val="575B5F"/>
                </a:solidFill>
                <a:effectLst/>
                <a:latin typeface="Google Sans Text"/>
              </a:rPr>
              <a:t>curr</a:t>
            </a:r>
            <a:r>
              <a:rPr lang="en-IN" sz="1800" i="0" u="none" strike="noStrike" dirty="0">
                <a:solidFill>
                  <a:srgbClr val="575B5F"/>
                </a:solidFill>
                <a:effectLst/>
                <a:latin typeface="Google Sans Text"/>
              </a:rPr>
              <a:t>, </a:t>
            </a:r>
            <a:r>
              <a:rPr lang="en-IN" sz="1800" i="0" u="none" strike="noStrike" dirty="0" err="1">
                <a:solidFill>
                  <a:srgbClr val="575B5F"/>
                </a:solidFill>
                <a:effectLst/>
                <a:latin typeface="Google Sans Text"/>
              </a:rPr>
              <a:t>next_state</a:t>
            </a:r>
            <a:r>
              <a:rPr lang="en-IN" sz="1800" i="0" u="none" strike="noStrike" dirty="0">
                <a:solidFill>
                  <a:srgbClr val="575B5F"/>
                </a:solidFill>
                <a:effectLst/>
                <a:latin typeface="Google Sans Text"/>
              </a:rPr>
              <a:t>, goal):</a:t>
            </a:r>
            <a:br>
              <a:rPr lang="en-IN" sz="1800" i="0" u="none" strike="noStrike" dirty="0">
                <a:solidFill>
                  <a:srgbClr val="1B1C1D"/>
                </a:solidFill>
                <a:effectLst/>
                <a:latin typeface="Google Sans Text"/>
              </a:rPr>
            </a:br>
            <a:r>
              <a:rPr lang="en-IN" sz="1800" i="0" u="none" strike="noStrike" dirty="0">
                <a:solidFill>
                  <a:srgbClr val="1B1C1D"/>
                </a:solidFill>
                <a:effectLst/>
                <a:latin typeface="Google Sans Text"/>
              </a:rPr>
              <a:t>    </a:t>
            </a:r>
            <a:r>
              <a:rPr lang="en-IN" sz="1800" i="0" u="none" strike="noStrike" dirty="0">
                <a:solidFill>
                  <a:srgbClr val="5F6368"/>
                </a:solidFill>
                <a:effectLst/>
                <a:latin typeface="Google Sans Text"/>
              </a:rPr>
              <a:t># Cost = number of different bits between </a:t>
            </a:r>
            <a:r>
              <a:rPr lang="en-IN" sz="1800" i="0" u="none" strike="noStrike" dirty="0" err="1">
                <a:solidFill>
                  <a:srgbClr val="5F6368"/>
                </a:solidFill>
                <a:effectLst/>
                <a:latin typeface="Google Sans Text"/>
              </a:rPr>
              <a:t>next_state</a:t>
            </a:r>
            <a:r>
              <a:rPr lang="en-IN" sz="1800" i="0" u="none" strike="noStrike" dirty="0">
                <a:solidFill>
                  <a:srgbClr val="5F6368"/>
                </a:solidFill>
                <a:effectLst/>
                <a:latin typeface="Google Sans Text"/>
              </a:rPr>
              <a:t> and goal</a:t>
            </a:r>
            <a:br>
              <a:rPr lang="en-IN" sz="1800" i="0" u="none" strike="noStrike" dirty="0">
                <a:solidFill>
                  <a:srgbClr val="1B1C1D"/>
                </a:solidFill>
                <a:effectLst/>
                <a:latin typeface="Google Sans Text"/>
              </a:rPr>
            </a:br>
            <a:r>
              <a:rPr lang="en-IN" sz="1800" i="0" u="none" strike="noStrike" dirty="0">
                <a:solidFill>
                  <a:srgbClr val="1B1C1D"/>
                </a:solidFill>
                <a:effectLst/>
                <a:latin typeface="Google Sans Text"/>
              </a:rPr>
              <a:t>    </a:t>
            </a:r>
            <a:r>
              <a:rPr lang="en-IN" sz="1800" i="0" u="none" strike="noStrike" dirty="0">
                <a:solidFill>
                  <a:srgbClr val="1967D2"/>
                </a:solidFill>
                <a:effectLst/>
                <a:latin typeface="Google Sans Text"/>
              </a:rPr>
              <a:t>sum</a:t>
            </a:r>
            <a:r>
              <a:rPr lang="en-IN" sz="1800" i="0" u="none" strike="noStrike" dirty="0">
                <a:solidFill>
                  <a:srgbClr val="1B1C1D"/>
                </a:solidFill>
                <a:effectLst/>
                <a:latin typeface="Google Sans Text"/>
              </a:rPr>
              <a:t>=</a:t>
            </a:r>
            <a:r>
              <a:rPr lang="en-IN" sz="1800" i="0" u="none" strike="noStrike" dirty="0">
                <a:solidFill>
                  <a:srgbClr val="B55908"/>
                </a:solidFill>
                <a:effectLst/>
                <a:latin typeface="Google Sans Text"/>
              </a:rPr>
              <a:t>0</a:t>
            </a:r>
            <a:br>
              <a:rPr lang="en-IN" sz="1800" i="0" u="none" strike="noStrike" dirty="0">
                <a:solidFill>
                  <a:srgbClr val="1B1C1D"/>
                </a:solidFill>
                <a:effectLst/>
                <a:latin typeface="Google Sans Text"/>
              </a:rPr>
            </a:br>
            <a:r>
              <a:rPr lang="en-IN" sz="1800" i="0" u="none" strike="noStrike" dirty="0">
                <a:solidFill>
                  <a:srgbClr val="1B1C1D"/>
                </a:solidFill>
                <a:effectLst/>
                <a:latin typeface="Google Sans Text"/>
              </a:rPr>
              <a:t>    </a:t>
            </a:r>
            <a:r>
              <a:rPr lang="en-IN" sz="1800" i="0" u="none" strike="noStrike" dirty="0">
                <a:solidFill>
                  <a:srgbClr val="8430CE"/>
                </a:solidFill>
                <a:effectLst/>
                <a:latin typeface="Google Sans Text"/>
              </a:rPr>
              <a:t>for</a:t>
            </a:r>
            <a:r>
              <a:rPr lang="en-IN" sz="1800" i="0" u="none" strike="noStrike" dirty="0">
                <a:solidFill>
                  <a:srgbClr val="1B1C1D"/>
                </a:solidFill>
                <a:effectLst/>
                <a:latin typeface="Google Sans Text"/>
              </a:rPr>
              <a:t> i </a:t>
            </a:r>
            <a:r>
              <a:rPr lang="en-IN" sz="1800" i="0" u="none" strike="noStrike" dirty="0">
                <a:solidFill>
                  <a:srgbClr val="8430CE"/>
                </a:solidFill>
                <a:effectLst/>
                <a:latin typeface="Google Sans Text"/>
              </a:rPr>
              <a:t>in</a:t>
            </a:r>
            <a:r>
              <a:rPr lang="en-IN" sz="1800" i="0" u="none" strike="noStrike" dirty="0">
                <a:solidFill>
                  <a:srgbClr val="1B1C1D"/>
                </a:solidFill>
                <a:effectLst/>
                <a:latin typeface="Google Sans Text"/>
              </a:rPr>
              <a:t> </a:t>
            </a:r>
            <a:r>
              <a:rPr lang="en-IN" sz="1800" i="0" u="none" strike="noStrike" dirty="0">
                <a:solidFill>
                  <a:srgbClr val="1967D2"/>
                </a:solidFill>
                <a:effectLst/>
                <a:latin typeface="Google Sans Text"/>
              </a:rPr>
              <a:t>range</a:t>
            </a:r>
            <a:r>
              <a:rPr lang="en-IN" sz="1800" i="0" u="none" strike="noStrike" dirty="0">
                <a:solidFill>
                  <a:srgbClr val="1B1C1D"/>
                </a:solidFill>
                <a:effectLst/>
                <a:latin typeface="Google Sans Text"/>
              </a:rPr>
              <a:t>(</a:t>
            </a:r>
            <a:r>
              <a:rPr lang="en-IN" sz="1800" i="0" u="none" strike="noStrike" dirty="0" err="1">
                <a:solidFill>
                  <a:srgbClr val="1967D2"/>
                </a:solidFill>
                <a:effectLst/>
                <a:latin typeface="Google Sans Text"/>
              </a:rPr>
              <a:t>len</a:t>
            </a:r>
            <a:r>
              <a:rPr lang="en-IN" sz="1800" i="0" u="none" strike="noStrike" dirty="0">
                <a:solidFill>
                  <a:srgbClr val="1B1C1D"/>
                </a:solidFill>
                <a:effectLst/>
                <a:latin typeface="Google Sans Text"/>
              </a:rPr>
              <a:t>(goal)):</a:t>
            </a:r>
            <a:br>
              <a:rPr lang="en-IN" sz="1800" i="0" u="none" strike="noStrike" dirty="0">
                <a:solidFill>
                  <a:srgbClr val="1B1C1D"/>
                </a:solidFill>
                <a:effectLst/>
                <a:latin typeface="Google Sans Text"/>
              </a:rPr>
            </a:br>
            <a:r>
              <a:rPr lang="en-IN" sz="1800" i="0" u="none" strike="noStrike" dirty="0">
                <a:solidFill>
                  <a:srgbClr val="1B1C1D"/>
                </a:solidFill>
                <a:effectLst/>
                <a:latin typeface="Google Sans Text"/>
              </a:rPr>
              <a:t>      </a:t>
            </a:r>
            <a:r>
              <a:rPr lang="en-IN" sz="1800" i="0" u="none" strike="noStrike" dirty="0">
                <a:solidFill>
                  <a:srgbClr val="8430CE"/>
                </a:solidFill>
                <a:effectLst/>
                <a:latin typeface="Google Sans Text"/>
              </a:rPr>
              <a:t>if</a:t>
            </a:r>
            <a:r>
              <a:rPr lang="en-IN" sz="1800" i="0" u="none" strike="noStrike" dirty="0">
                <a:solidFill>
                  <a:srgbClr val="1B1C1D"/>
                </a:solidFill>
                <a:effectLst/>
                <a:latin typeface="Google Sans Text"/>
              </a:rPr>
              <a:t> </a:t>
            </a:r>
            <a:r>
              <a:rPr lang="en-IN" sz="1800" i="0" u="none" strike="noStrike" dirty="0" err="1">
                <a:solidFill>
                  <a:srgbClr val="1B1C1D"/>
                </a:solidFill>
                <a:effectLst/>
                <a:latin typeface="Google Sans Text"/>
              </a:rPr>
              <a:t>next_state</a:t>
            </a:r>
            <a:r>
              <a:rPr lang="en-IN" sz="1800" i="0" u="none" strike="noStrike" dirty="0">
                <a:solidFill>
                  <a:srgbClr val="1B1C1D"/>
                </a:solidFill>
                <a:effectLst/>
                <a:latin typeface="Google Sans Text"/>
              </a:rPr>
              <a:t>[i] != goal[i]:</a:t>
            </a:r>
            <a:br>
              <a:rPr lang="en-IN" sz="1800" i="0" u="none" strike="noStrike" dirty="0">
                <a:solidFill>
                  <a:srgbClr val="1B1C1D"/>
                </a:solidFill>
                <a:effectLst/>
                <a:latin typeface="Google Sans Text"/>
              </a:rPr>
            </a:br>
            <a:r>
              <a:rPr lang="en-IN" sz="1800" i="0" u="none" strike="noStrike" dirty="0">
                <a:solidFill>
                  <a:srgbClr val="1B1C1D"/>
                </a:solidFill>
                <a:effectLst/>
                <a:latin typeface="Google Sans Text"/>
              </a:rPr>
              <a:t>        </a:t>
            </a:r>
            <a:r>
              <a:rPr lang="en-IN" sz="1800" i="0" u="none" strike="noStrike" dirty="0">
                <a:solidFill>
                  <a:srgbClr val="1967D2"/>
                </a:solidFill>
                <a:effectLst/>
                <a:latin typeface="Google Sans Text"/>
              </a:rPr>
              <a:t>sum</a:t>
            </a:r>
            <a:r>
              <a:rPr lang="en-IN" sz="1800" i="0" u="none" strike="noStrike" dirty="0">
                <a:solidFill>
                  <a:srgbClr val="1B1C1D"/>
                </a:solidFill>
                <a:effectLst/>
                <a:latin typeface="Google Sans Text"/>
              </a:rPr>
              <a:t>=</a:t>
            </a:r>
            <a:r>
              <a:rPr lang="en-IN" sz="1800" i="0" u="none" strike="noStrike" dirty="0">
                <a:solidFill>
                  <a:srgbClr val="1967D2"/>
                </a:solidFill>
                <a:effectLst/>
                <a:latin typeface="Google Sans Text"/>
              </a:rPr>
              <a:t>sum</a:t>
            </a:r>
            <a:r>
              <a:rPr lang="en-IN" sz="1800" i="0" u="none" strike="noStrike" dirty="0">
                <a:solidFill>
                  <a:srgbClr val="1B1C1D"/>
                </a:solidFill>
                <a:effectLst/>
                <a:latin typeface="Google Sans Text"/>
              </a:rPr>
              <a:t>+</a:t>
            </a:r>
            <a:r>
              <a:rPr lang="en-IN" sz="1800" i="0" u="none" strike="noStrike" dirty="0">
                <a:solidFill>
                  <a:srgbClr val="B55908"/>
                </a:solidFill>
                <a:effectLst/>
                <a:latin typeface="Google Sans Text"/>
              </a:rPr>
              <a:t>1</a:t>
            </a:r>
            <a:br>
              <a:rPr lang="en-IN" sz="1800" i="0" u="none" strike="noStrike" dirty="0">
                <a:solidFill>
                  <a:srgbClr val="1B1C1D"/>
                </a:solidFill>
                <a:effectLst/>
                <a:latin typeface="Google Sans Text"/>
              </a:rPr>
            </a:br>
            <a:r>
              <a:rPr lang="en-IN" sz="1800" i="0" u="none" strike="noStrike" dirty="0">
                <a:solidFill>
                  <a:srgbClr val="1B1C1D"/>
                </a:solidFill>
                <a:effectLst/>
                <a:latin typeface="Google Sans Text"/>
              </a:rPr>
              <a:t>    </a:t>
            </a:r>
            <a:r>
              <a:rPr lang="en-IN" sz="1800" i="0" u="none" strike="noStrike" dirty="0">
                <a:solidFill>
                  <a:srgbClr val="8430CE"/>
                </a:solidFill>
                <a:effectLst/>
                <a:latin typeface="Google Sans Text"/>
              </a:rPr>
              <a:t>return</a:t>
            </a:r>
            <a:r>
              <a:rPr lang="en-IN" sz="1800" i="0" u="none" strike="noStrike" dirty="0">
                <a:solidFill>
                  <a:srgbClr val="1B1C1D"/>
                </a:solidFill>
                <a:effectLst/>
                <a:latin typeface="Google Sans Text"/>
              </a:rPr>
              <a:t> </a:t>
            </a:r>
            <a:r>
              <a:rPr lang="en-IN" sz="1800" i="0" u="none" strike="noStrike" dirty="0">
                <a:solidFill>
                  <a:srgbClr val="1967D2"/>
                </a:solidFill>
                <a:effectLst/>
                <a:latin typeface="Google Sans Text"/>
              </a:rPr>
              <a:t>sum</a:t>
            </a:r>
            <a:br>
              <a:rPr lang="en-IN" sz="1800" b="0" i="0" u="none" strike="noStrike" dirty="0">
                <a:solidFill>
                  <a:srgbClr val="1B1C1D"/>
                </a:solidFill>
                <a:effectLst/>
                <a:latin typeface="Google Sans Text"/>
              </a:rPr>
            </a:br>
            <a:br>
              <a:rPr lang="en-IN" sz="1800" b="0" i="0" u="none" strike="noStrike" dirty="0">
                <a:solidFill>
                  <a:srgbClr val="1B1C1D"/>
                </a:solidFill>
                <a:effectLst/>
                <a:latin typeface="Google Sans Text"/>
              </a:rPr>
            </a:br>
            <a:endParaRPr lang="en-IN" dirty="0">
              <a:effectLst/>
            </a:endParaRPr>
          </a:p>
          <a:p>
            <a:pPr rtl="0"/>
            <a:r>
              <a:rPr lang="en-IN" sz="1800" b="1" i="0" u="none" strike="noStrike" dirty="0">
                <a:solidFill>
                  <a:srgbClr val="1B1C1D"/>
                </a:solidFill>
                <a:effectLst/>
                <a:latin typeface="Google Sans Text"/>
              </a:rPr>
              <a:t>Output Metrics Measured:</a:t>
            </a:r>
            <a:endParaRPr lang="en-IN" dirty="0">
              <a:effectLst/>
            </a:endParaRPr>
          </a:p>
          <a:p>
            <a:pPr rtl="0" fontAlgn="base"/>
            <a:r>
              <a:rPr lang="en-IN" sz="1800" b="1" i="0" u="none" strike="noStrike" dirty="0">
                <a:solidFill>
                  <a:srgbClr val="1B1C1D"/>
                </a:solidFill>
                <a:effectLst/>
                <a:latin typeface="Google Sans Text"/>
              </a:rPr>
              <a:t>Path:</a:t>
            </a:r>
            <a:r>
              <a:rPr lang="en-IN" sz="1800" b="0" i="0" u="none" strike="noStrike" dirty="0">
                <a:solidFill>
                  <a:srgbClr val="1B1C1D"/>
                </a:solidFill>
                <a:effectLst/>
                <a:latin typeface="Google Sans Text"/>
              </a:rPr>
              <a:t> The sequence of states from  to .</a:t>
            </a:r>
            <a:endParaRPr lang="en-IN" sz="1800" b="0" i="0" u="none" strike="noStrike" dirty="0">
              <a:solidFill>
                <a:srgbClr val="000000"/>
              </a:solidFill>
              <a:effectLst/>
              <a:latin typeface="Arial" panose="020B0604020202020204" pitchFamily="34" charset="0"/>
            </a:endParaRPr>
          </a:p>
          <a:p>
            <a:pPr rtl="0" fontAlgn="base"/>
            <a:r>
              <a:rPr lang="en-IN" sz="1800" b="1" i="0" u="none" strike="noStrike" dirty="0">
                <a:solidFill>
                  <a:srgbClr val="1B1C1D"/>
                </a:solidFill>
                <a:effectLst/>
                <a:latin typeface="Google Sans Text"/>
              </a:rPr>
              <a:t>Time:</a:t>
            </a:r>
            <a:r>
              <a:rPr lang="en-IN" sz="1800" b="0" i="0" u="none" strike="noStrike" dirty="0">
                <a:solidFill>
                  <a:srgbClr val="1B1C1D"/>
                </a:solidFill>
                <a:effectLst/>
                <a:latin typeface="Google Sans Text"/>
              </a:rPr>
              <a:t> Execution time in seconds.</a:t>
            </a:r>
            <a:endParaRPr lang="en-IN" sz="1800" b="0" i="0" u="none" strike="noStrike" dirty="0">
              <a:solidFill>
                <a:srgbClr val="000000"/>
              </a:solidFill>
              <a:effectLst/>
              <a:latin typeface="Arial" panose="020B0604020202020204" pitchFamily="34" charset="0"/>
            </a:endParaRPr>
          </a:p>
          <a:p>
            <a:pPr rtl="0" fontAlgn="base"/>
            <a:r>
              <a:rPr lang="en-IN" sz="1800" b="1" i="0" u="none" strike="noStrike" dirty="0">
                <a:solidFill>
                  <a:srgbClr val="1B1C1D"/>
                </a:solidFill>
                <a:effectLst/>
                <a:latin typeface="Google Sans Text"/>
              </a:rPr>
              <a:t>Peak Memory:</a:t>
            </a:r>
            <a:r>
              <a:rPr lang="en-IN" sz="1800" b="0" i="0" u="none" strike="noStrike" dirty="0">
                <a:solidFill>
                  <a:srgbClr val="1B1C1D"/>
                </a:solidFill>
                <a:effectLst/>
                <a:latin typeface="Google Sans Text"/>
              </a:rPr>
              <a:t> Memory usage in bytes (for comparing memory efficiency).</a:t>
            </a:r>
            <a:endParaRPr lang="en-IN" sz="1800" b="0" i="0" u="none" strike="noStrike" dirty="0">
              <a:solidFill>
                <a:srgbClr val="000000"/>
              </a:solidFill>
              <a:effectLst/>
              <a:latin typeface="Arial" panose="020B0604020202020204" pitchFamily="34" charset="0"/>
            </a:endParaRPr>
          </a:p>
          <a:p>
            <a:pPr rtl="0" fontAlgn="base"/>
            <a:r>
              <a:rPr lang="en-IN" sz="1800" b="1" i="0" u="none" strike="noStrike" dirty="0">
                <a:solidFill>
                  <a:srgbClr val="1B1C1D"/>
                </a:solidFill>
                <a:effectLst/>
                <a:latin typeface="Google Sans Text"/>
              </a:rPr>
              <a:t>Cost (UCS/ILS):</a:t>
            </a:r>
            <a:r>
              <a:rPr lang="en-IN" sz="1800" b="0" i="0" u="none" strike="noStrike" dirty="0">
                <a:solidFill>
                  <a:srgbClr val="1B1C1D"/>
                </a:solidFill>
                <a:effectLst/>
                <a:latin typeface="Google Sans Text"/>
              </a:rPr>
              <a:t> The path cost based on the cost function.</a:t>
            </a:r>
            <a:endParaRPr lang="en-IN" sz="1800" b="0" i="0" u="none" strike="noStrike" dirty="0">
              <a:solidFill>
                <a:srgbClr val="000000"/>
              </a:solidFill>
              <a:effectLst/>
              <a:latin typeface="Arial" panose="020B0604020202020204" pitchFamily="34" charset="0"/>
            </a:endParaRPr>
          </a:p>
          <a:p>
            <a:pPr rtl="0"/>
            <a:endParaRPr lang="en-IN" dirty="0">
              <a:effectLst/>
            </a:endParaRPr>
          </a:p>
        </p:txBody>
      </p:sp>
    </p:spTree>
    <p:extLst>
      <p:ext uri="{BB962C8B-B14F-4D97-AF65-F5344CB8AC3E}">
        <p14:creationId xmlns:p14="http://schemas.microsoft.com/office/powerpoint/2010/main" val="34766874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06E560-00BF-BCCC-3CC7-5AEC37EDA4B7}"/>
              </a:ext>
            </a:extLst>
          </p:cNvPr>
          <p:cNvSpPr>
            <a:spLocks noGrp="1"/>
          </p:cNvSpPr>
          <p:nvPr>
            <p:ph type="title"/>
          </p:nvPr>
        </p:nvSpPr>
        <p:spPr/>
        <p:txBody>
          <a:bodyPr>
            <a:normAutofit/>
          </a:bodyPr>
          <a:lstStyle/>
          <a:p>
            <a:pPr rtl="0"/>
            <a:r>
              <a:rPr lang="en-IN" sz="3600" b="1" i="0" u="none" strike="noStrike" dirty="0">
                <a:solidFill>
                  <a:srgbClr val="1B1C1D"/>
                </a:solidFill>
                <a:effectLst/>
                <a:latin typeface="Google Sans"/>
              </a:rPr>
              <a:t>Solution Path &amp; Performance Summary</a:t>
            </a:r>
            <a:endParaRPr lang="en-US" sz="3600" dirty="0"/>
          </a:p>
        </p:txBody>
      </p:sp>
      <p:sp>
        <p:nvSpPr>
          <p:cNvPr id="3" name="Content Placeholder 2">
            <a:extLst>
              <a:ext uri="{FF2B5EF4-FFF2-40B4-BE49-F238E27FC236}">
                <a16:creationId xmlns:a16="http://schemas.microsoft.com/office/drawing/2014/main" id="{5104A2B5-A55E-132F-A9CD-91F37317DFBC}"/>
              </a:ext>
            </a:extLst>
          </p:cNvPr>
          <p:cNvSpPr>
            <a:spLocks noGrp="1"/>
          </p:cNvSpPr>
          <p:nvPr>
            <p:ph idx="1"/>
          </p:nvPr>
        </p:nvSpPr>
        <p:spPr/>
        <p:txBody>
          <a:bodyPr>
            <a:normAutofit lnSpcReduction="10000"/>
          </a:bodyPr>
          <a:lstStyle/>
          <a:p>
            <a:pPr rtl="0"/>
            <a:r>
              <a:rPr lang="en-IN" sz="1800" b="1" i="0" u="none" strike="noStrike" dirty="0">
                <a:solidFill>
                  <a:srgbClr val="1B1C1D"/>
                </a:solidFill>
                <a:effectLst/>
                <a:latin typeface="Google Sans Text"/>
              </a:rPr>
              <a:t>Shortest Path Found (Consistent across BFS/DFS/IDS/UCS/ILS):</a:t>
            </a:r>
            <a:endParaRPr lang="en-IN" dirty="0">
              <a:effectLst/>
            </a:endParaRPr>
          </a:p>
          <a:p>
            <a:pPr rtl="0" fontAlgn="base"/>
            <a:r>
              <a:rPr lang="en-IN" sz="1800" b="0" i="0" u="none" strike="noStrike" dirty="0">
                <a:solidFill>
                  <a:srgbClr val="1B1C1D"/>
                </a:solidFill>
                <a:effectLst/>
                <a:latin typeface="Google Sans Text"/>
              </a:rPr>
              <a:t>[0, 0, 0, 0] (Initial State: All Left)</a:t>
            </a:r>
            <a:endParaRPr lang="en-IN" sz="1800" b="0" i="0" u="none" strike="noStrike" dirty="0">
              <a:solidFill>
                <a:srgbClr val="000000"/>
              </a:solidFill>
              <a:effectLst/>
              <a:latin typeface="Arial" panose="020B0604020202020204" pitchFamily="34" charset="0"/>
            </a:endParaRPr>
          </a:p>
          <a:p>
            <a:pPr rtl="0" fontAlgn="base"/>
            <a:r>
              <a:rPr lang="en-IN" sz="1800" b="0" i="0" u="none" strike="noStrike" dirty="0">
                <a:solidFill>
                  <a:srgbClr val="1B1C1D"/>
                </a:solidFill>
                <a:effectLst/>
                <a:latin typeface="Google Sans Text"/>
              </a:rPr>
              <a:t>[1, 0, 1, 0] (Ferry G  Right)</a:t>
            </a:r>
            <a:endParaRPr lang="en-IN" sz="1800" b="0" i="0" u="none" strike="noStrike" dirty="0">
              <a:solidFill>
                <a:srgbClr val="000000"/>
              </a:solidFill>
              <a:effectLst/>
              <a:latin typeface="Arial" panose="020B0604020202020204" pitchFamily="34" charset="0"/>
            </a:endParaRPr>
          </a:p>
          <a:p>
            <a:pPr rtl="0" fontAlgn="base"/>
            <a:r>
              <a:rPr lang="en-IN" sz="1800" b="0" i="0" u="none" strike="noStrike" dirty="0">
                <a:solidFill>
                  <a:srgbClr val="1B1C1D"/>
                </a:solidFill>
                <a:effectLst/>
                <a:latin typeface="Google Sans Text"/>
              </a:rPr>
              <a:t>[0, 0, 1, 0] (Ferry F  Left)</a:t>
            </a:r>
            <a:endParaRPr lang="en-IN" sz="1800" b="0" i="0" u="none" strike="noStrike" dirty="0">
              <a:solidFill>
                <a:srgbClr val="000000"/>
              </a:solidFill>
              <a:effectLst/>
              <a:latin typeface="Arial" panose="020B0604020202020204" pitchFamily="34" charset="0"/>
            </a:endParaRPr>
          </a:p>
          <a:p>
            <a:pPr rtl="0" fontAlgn="base"/>
            <a:r>
              <a:rPr lang="en-IN" sz="1800" b="0" i="0" u="none" strike="noStrike" dirty="0">
                <a:solidFill>
                  <a:srgbClr val="1B1C1D"/>
                </a:solidFill>
                <a:effectLst/>
                <a:latin typeface="Google Sans Text"/>
              </a:rPr>
              <a:t>[1, 1, 1, 0] (Ferry W  Right)</a:t>
            </a:r>
            <a:endParaRPr lang="en-IN" sz="1800" b="0" i="0" u="none" strike="noStrike" dirty="0">
              <a:solidFill>
                <a:srgbClr val="000000"/>
              </a:solidFill>
              <a:effectLst/>
              <a:latin typeface="Arial" panose="020B0604020202020204" pitchFamily="34" charset="0"/>
            </a:endParaRPr>
          </a:p>
          <a:p>
            <a:pPr rtl="0" fontAlgn="base"/>
            <a:r>
              <a:rPr lang="en-IN" sz="1800" b="0" i="0" u="none" strike="noStrike" dirty="0">
                <a:solidFill>
                  <a:srgbClr val="1B1C1D"/>
                </a:solidFill>
                <a:effectLst/>
                <a:latin typeface="Google Sans Text"/>
              </a:rPr>
              <a:t>[0, 1, 0, 0] (Ferry G  Left)</a:t>
            </a:r>
            <a:endParaRPr lang="en-IN" sz="1800" b="0" i="0" u="none" strike="noStrike" dirty="0">
              <a:solidFill>
                <a:srgbClr val="000000"/>
              </a:solidFill>
              <a:effectLst/>
              <a:latin typeface="Arial" panose="020B0604020202020204" pitchFamily="34" charset="0"/>
            </a:endParaRPr>
          </a:p>
          <a:p>
            <a:pPr rtl="0" fontAlgn="base"/>
            <a:r>
              <a:rPr lang="en-IN" sz="1800" b="0" i="0" u="none" strike="noStrike" dirty="0">
                <a:solidFill>
                  <a:srgbClr val="1B1C1D"/>
                </a:solidFill>
                <a:effectLst/>
                <a:latin typeface="Google Sans Text"/>
              </a:rPr>
              <a:t>[1, 1, 0, 1] (Ferry C  Right)</a:t>
            </a:r>
            <a:endParaRPr lang="en-IN" sz="1800" b="0" i="0" u="none" strike="noStrike" dirty="0">
              <a:solidFill>
                <a:srgbClr val="000000"/>
              </a:solidFill>
              <a:effectLst/>
              <a:latin typeface="Arial" panose="020B0604020202020204" pitchFamily="34" charset="0"/>
            </a:endParaRPr>
          </a:p>
          <a:p>
            <a:pPr rtl="0" fontAlgn="base"/>
            <a:r>
              <a:rPr lang="en-IN" sz="1800" b="0" i="0" u="none" strike="noStrike" dirty="0">
                <a:solidFill>
                  <a:srgbClr val="1B1C1D"/>
                </a:solidFill>
                <a:effectLst/>
                <a:latin typeface="Google Sans Text"/>
              </a:rPr>
              <a:t>[0, 1, 0, 1] (Ferry F  Left)</a:t>
            </a:r>
            <a:endParaRPr lang="en-IN" sz="1800" b="0" i="0" u="none" strike="noStrike" dirty="0">
              <a:solidFill>
                <a:srgbClr val="000000"/>
              </a:solidFill>
              <a:effectLst/>
              <a:latin typeface="Arial" panose="020B0604020202020204" pitchFamily="34" charset="0"/>
            </a:endParaRPr>
          </a:p>
          <a:p>
            <a:pPr rtl="0" fontAlgn="base"/>
            <a:r>
              <a:rPr lang="en-IN" sz="1800" b="0" i="0" u="none" strike="noStrike" dirty="0">
                <a:solidFill>
                  <a:srgbClr val="1B1C1D"/>
                </a:solidFill>
                <a:effectLst/>
                <a:latin typeface="Google Sans Text"/>
              </a:rPr>
              <a:t>[1, 1, 1, 1] (Ferry G  Right  Goal State)</a:t>
            </a:r>
            <a:endParaRPr lang="en-IN" sz="1800" b="0" i="0" u="none" strike="noStrike" dirty="0">
              <a:solidFill>
                <a:srgbClr val="000000"/>
              </a:solidFill>
              <a:effectLst/>
              <a:latin typeface="Arial" panose="020B0604020202020204" pitchFamily="34" charset="0"/>
            </a:endParaRPr>
          </a:p>
          <a:p>
            <a:pPr marL="0" indent="0">
              <a:buNone/>
            </a:pPr>
            <a:endParaRPr lang="en-IN" dirty="0"/>
          </a:p>
          <a:p>
            <a:pPr marL="0" indent="0">
              <a:buNone/>
            </a:pPr>
            <a:r>
              <a:rPr lang="en-IN" dirty="0"/>
              <a:t>Performance Comparison (Averages from multiple runs): Above</a:t>
            </a:r>
          </a:p>
          <a:p>
            <a:pPr marL="0" indent="0">
              <a:buNone/>
            </a:pPr>
            <a:endParaRPr lang="en-US" dirty="0"/>
          </a:p>
        </p:txBody>
      </p:sp>
      <p:graphicFrame>
        <p:nvGraphicFramePr>
          <p:cNvPr id="5" name="Table 4">
            <a:extLst>
              <a:ext uri="{FF2B5EF4-FFF2-40B4-BE49-F238E27FC236}">
                <a16:creationId xmlns:a16="http://schemas.microsoft.com/office/drawing/2014/main" id="{E1B08F53-F2C6-F133-CB62-F4BC2B1BBCF5}"/>
              </a:ext>
            </a:extLst>
          </p:cNvPr>
          <p:cNvGraphicFramePr/>
          <p:nvPr>
            <p:extLst>
              <p:ext uri="{D42A27DB-BD31-4B8C-83A1-F6EECF244321}">
                <p14:modId xmlns:p14="http://schemas.microsoft.com/office/powerpoint/2010/main" val="3393679391"/>
              </p:ext>
            </p:extLst>
          </p:nvPr>
        </p:nvGraphicFramePr>
        <p:xfrm>
          <a:off x="4950312" y="2266280"/>
          <a:ext cx="6195210" cy="2813120"/>
        </p:xfrm>
        <a:graphic>
          <a:graphicData uri="http://schemas.openxmlformats.org/drawingml/2006/table">
            <a:tbl>
              <a:tblPr>
                <a:tableStyleId>{5C22544A-7EE6-4342-B048-85BDC9FD1C3A}</a:tableStyleId>
              </a:tblPr>
              <a:tblGrid>
                <a:gridCol w="1239042">
                  <a:extLst>
                    <a:ext uri="{9D8B030D-6E8A-4147-A177-3AD203B41FA5}">
                      <a16:colId xmlns:a16="http://schemas.microsoft.com/office/drawing/2014/main" val="1364274425"/>
                    </a:ext>
                  </a:extLst>
                </a:gridCol>
                <a:gridCol w="1239042">
                  <a:extLst>
                    <a:ext uri="{9D8B030D-6E8A-4147-A177-3AD203B41FA5}">
                      <a16:colId xmlns:a16="http://schemas.microsoft.com/office/drawing/2014/main" val="3324294040"/>
                    </a:ext>
                  </a:extLst>
                </a:gridCol>
                <a:gridCol w="1239042">
                  <a:extLst>
                    <a:ext uri="{9D8B030D-6E8A-4147-A177-3AD203B41FA5}">
                      <a16:colId xmlns:a16="http://schemas.microsoft.com/office/drawing/2014/main" val="1834955141"/>
                    </a:ext>
                  </a:extLst>
                </a:gridCol>
                <a:gridCol w="1239042">
                  <a:extLst>
                    <a:ext uri="{9D8B030D-6E8A-4147-A177-3AD203B41FA5}">
                      <a16:colId xmlns:a16="http://schemas.microsoft.com/office/drawing/2014/main" val="453868992"/>
                    </a:ext>
                  </a:extLst>
                </a:gridCol>
                <a:gridCol w="1239042">
                  <a:extLst>
                    <a:ext uri="{9D8B030D-6E8A-4147-A177-3AD203B41FA5}">
                      <a16:colId xmlns:a16="http://schemas.microsoft.com/office/drawing/2014/main" val="419027332"/>
                    </a:ext>
                  </a:extLst>
                </a:gridCol>
              </a:tblGrid>
              <a:tr h="700100">
                <a:tc>
                  <a:txBody>
                    <a:bodyPr/>
                    <a:lstStyle/>
                    <a:p>
                      <a:pPr rtl="0" fontAlgn="t">
                        <a:spcBef>
                          <a:spcPts val="600"/>
                        </a:spcBef>
                        <a:spcAft>
                          <a:spcPts val="600"/>
                        </a:spcAft>
                        <a:buNone/>
                      </a:pPr>
                      <a:r>
                        <a:rPr lang="en-IN" sz="1800" u="none" strike="noStrike">
                          <a:effectLst/>
                        </a:rPr>
                        <a:t>AlgoID</a:t>
                      </a:r>
                      <a:endParaRPr lang="en-IN" sz="1800">
                        <a:effectLst/>
                      </a:endParaRPr>
                    </a:p>
                  </a:txBody>
                  <a:tcPr marL="114300" marR="114300" marT="76200" marB="76200"/>
                </a:tc>
                <a:tc>
                  <a:txBody>
                    <a:bodyPr/>
                    <a:lstStyle/>
                    <a:p>
                      <a:pPr rtl="0" fontAlgn="t">
                        <a:spcBef>
                          <a:spcPts val="600"/>
                        </a:spcBef>
                        <a:spcAft>
                          <a:spcPts val="600"/>
                        </a:spcAft>
                        <a:buNone/>
                      </a:pPr>
                      <a:r>
                        <a:rPr lang="en-IN" sz="1800" u="none" strike="noStrike">
                          <a:effectLst/>
                        </a:rPr>
                        <a:t>Algorithm</a:t>
                      </a:r>
                      <a:endParaRPr lang="en-IN" sz="1800">
                        <a:effectLst/>
                      </a:endParaRPr>
                    </a:p>
                  </a:txBody>
                  <a:tcPr marL="114300" marR="114300" marT="76200" marB="76200"/>
                </a:tc>
                <a:tc>
                  <a:txBody>
                    <a:bodyPr/>
                    <a:lstStyle/>
                    <a:p>
                      <a:pPr rtl="0" fontAlgn="t">
                        <a:spcBef>
                          <a:spcPts val="600"/>
                        </a:spcBef>
                        <a:spcAft>
                          <a:spcPts val="600"/>
                        </a:spcAft>
                        <a:buNone/>
                      </a:pPr>
                      <a:r>
                        <a:rPr lang="en-IN" sz="1800" u="none" strike="noStrike">
                          <a:effectLst/>
                        </a:rPr>
                        <a:t>Avg Time (ms)</a:t>
                      </a:r>
                      <a:endParaRPr lang="en-IN" sz="1800">
                        <a:effectLst/>
                      </a:endParaRPr>
                    </a:p>
                  </a:txBody>
                  <a:tcPr marL="114300" marR="114300" marT="76200" marB="76200"/>
                </a:tc>
                <a:tc>
                  <a:txBody>
                    <a:bodyPr/>
                    <a:lstStyle/>
                    <a:p>
                      <a:pPr rtl="0" fontAlgn="t">
                        <a:spcBef>
                          <a:spcPts val="600"/>
                        </a:spcBef>
                        <a:spcAft>
                          <a:spcPts val="600"/>
                        </a:spcAft>
                        <a:buNone/>
                      </a:pPr>
                      <a:r>
                        <a:rPr lang="en-IN" sz="1800" u="none" strike="noStrike">
                          <a:effectLst/>
                        </a:rPr>
                        <a:t>Avg Memory (Bytes)</a:t>
                      </a:r>
                      <a:endParaRPr lang="en-IN" sz="1800">
                        <a:effectLst/>
                      </a:endParaRPr>
                    </a:p>
                  </a:txBody>
                  <a:tcPr marL="114300" marR="114300" marT="76200" marB="76200"/>
                </a:tc>
                <a:tc>
                  <a:txBody>
                    <a:bodyPr/>
                    <a:lstStyle/>
                    <a:p>
                      <a:pPr rtl="0" fontAlgn="t">
                        <a:spcBef>
                          <a:spcPts val="600"/>
                        </a:spcBef>
                        <a:spcAft>
                          <a:spcPts val="600"/>
                        </a:spcAft>
                        <a:buNone/>
                      </a:pPr>
                      <a:r>
                        <a:rPr lang="en-IN" sz="1800" u="none" strike="noStrike">
                          <a:effectLst/>
                        </a:rPr>
                        <a:t>Path Cost (UCS/ILS)</a:t>
                      </a:r>
                      <a:endParaRPr lang="en-IN" sz="1800">
                        <a:effectLst/>
                      </a:endParaRPr>
                    </a:p>
                  </a:txBody>
                  <a:tcPr marL="114300" marR="114300" marT="76200" marB="76200"/>
                </a:tc>
                <a:extLst>
                  <a:ext uri="{0D108BD9-81ED-4DB2-BD59-A6C34878D82A}">
                    <a16:rowId xmlns:a16="http://schemas.microsoft.com/office/drawing/2014/main" val="2054139824"/>
                  </a:ext>
                </a:extLst>
              </a:tr>
              <a:tr h="459440">
                <a:tc>
                  <a:txBody>
                    <a:bodyPr/>
                    <a:lstStyle/>
                    <a:p>
                      <a:pPr rtl="0" fontAlgn="t">
                        <a:spcBef>
                          <a:spcPts val="600"/>
                        </a:spcBef>
                        <a:spcAft>
                          <a:spcPts val="600"/>
                        </a:spcAft>
                        <a:buNone/>
                      </a:pPr>
                      <a:r>
                        <a:rPr lang="en-IN" sz="1800" u="none" strike="noStrike">
                          <a:effectLst/>
                        </a:rPr>
                        <a:t>0</a:t>
                      </a:r>
                      <a:endParaRPr lang="en-IN" sz="1800">
                        <a:effectLst/>
                      </a:endParaRPr>
                    </a:p>
                  </a:txBody>
                  <a:tcPr marL="114300" marR="114300" marT="76200" marB="76200"/>
                </a:tc>
                <a:tc>
                  <a:txBody>
                    <a:bodyPr/>
                    <a:lstStyle/>
                    <a:p>
                      <a:pPr rtl="0" fontAlgn="t">
                        <a:spcBef>
                          <a:spcPts val="600"/>
                        </a:spcBef>
                        <a:spcAft>
                          <a:spcPts val="600"/>
                        </a:spcAft>
                        <a:buNone/>
                      </a:pPr>
                      <a:r>
                        <a:rPr lang="en-IN" sz="1800" u="none" strike="noStrike">
                          <a:effectLst/>
                        </a:rPr>
                        <a:t>BFS</a:t>
                      </a:r>
                      <a:endParaRPr lang="en-IN" sz="1800">
                        <a:effectLst/>
                      </a:endParaRPr>
                    </a:p>
                  </a:txBody>
                  <a:tcPr marL="114300" marR="114300" marT="76200" marB="76200"/>
                </a:tc>
                <a:tc>
                  <a:txBody>
                    <a:bodyPr/>
                    <a:lstStyle/>
                    <a:p>
                      <a:pPr rtl="0" fontAlgn="t">
                        <a:spcBef>
                          <a:spcPts val="600"/>
                        </a:spcBef>
                        <a:spcAft>
                          <a:spcPts val="600"/>
                        </a:spcAft>
                        <a:buNone/>
                      </a:pPr>
                      <a:r>
                        <a:rPr lang="en-IN" sz="1800" u="none" strike="noStrike">
                          <a:effectLst/>
                        </a:rPr>
                        <a:t>0.204</a:t>
                      </a:r>
                      <a:endParaRPr lang="en-IN" sz="1800">
                        <a:effectLst/>
                      </a:endParaRPr>
                    </a:p>
                  </a:txBody>
                  <a:tcPr marL="114300" marR="114300" marT="76200" marB="76200"/>
                </a:tc>
                <a:tc>
                  <a:txBody>
                    <a:bodyPr/>
                    <a:lstStyle/>
                    <a:p>
                      <a:pPr rtl="0" fontAlgn="t">
                        <a:spcBef>
                          <a:spcPts val="600"/>
                        </a:spcBef>
                        <a:spcAft>
                          <a:spcPts val="600"/>
                        </a:spcAft>
                        <a:buNone/>
                      </a:pPr>
                      <a:r>
                        <a:rPr lang="en-IN" sz="1800" u="none" strike="noStrike">
                          <a:effectLst/>
                        </a:rPr>
                        <a:t>1936</a:t>
                      </a:r>
                      <a:endParaRPr lang="en-IN" sz="1800">
                        <a:effectLst/>
                      </a:endParaRPr>
                    </a:p>
                  </a:txBody>
                  <a:tcPr marL="114300" marR="114300" marT="76200" marB="76200"/>
                </a:tc>
                <a:tc>
                  <a:txBody>
                    <a:bodyPr/>
                    <a:lstStyle/>
                    <a:p>
                      <a:pPr rtl="0" fontAlgn="t">
                        <a:spcBef>
                          <a:spcPts val="600"/>
                        </a:spcBef>
                        <a:spcAft>
                          <a:spcPts val="600"/>
                        </a:spcAft>
                        <a:buNone/>
                      </a:pPr>
                      <a:r>
                        <a:rPr lang="en-IN" sz="1800" u="none" strike="noStrike">
                          <a:effectLst/>
                        </a:rPr>
                        <a:t>12</a:t>
                      </a:r>
                      <a:endParaRPr lang="en-IN" sz="1800">
                        <a:effectLst/>
                      </a:endParaRPr>
                    </a:p>
                  </a:txBody>
                  <a:tcPr marL="114300" marR="114300" marT="76200" marB="76200"/>
                </a:tc>
                <a:extLst>
                  <a:ext uri="{0D108BD9-81ED-4DB2-BD59-A6C34878D82A}">
                    <a16:rowId xmlns:a16="http://schemas.microsoft.com/office/drawing/2014/main" val="810288573"/>
                  </a:ext>
                </a:extLst>
              </a:tr>
              <a:tr h="459440">
                <a:tc>
                  <a:txBody>
                    <a:bodyPr/>
                    <a:lstStyle/>
                    <a:p>
                      <a:pPr rtl="0" fontAlgn="t">
                        <a:spcBef>
                          <a:spcPts val="600"/>
                        </a:spcBef>
                        <a:spcAft>
                          <a:spcPts val="600"/>
                        </a:spcAft>
                        <a:buNone/>
                      </a:pPr>
                      <a:r>
                        <a:rPr lang="en-IN" sz="1800" u="none" strike="noStrike">
                          <a:effectLst/>
                        </a:rPr>
                        <a:t>1</a:t>
                      </a:r>
                      <a:endParaRPr lang="en-IN" sz="1800">
                        <a:effectLst/>
                      </a:endParaRPr>
                    </a:p>
                  </a:txBody>
                  <a:tcPr marL="114300" marR="114300" marT="76200" marB="76200"/>
                </a:tc>
                <a:tc>
                  <a:txBody>
                    <a:bodyPr/>
                    <a:lstStyle/>
                    <a:p>
                      <a:pPr rtl="0" fontAlgn="t">
                        <a:spcBef>
                          <a:spcPts val="600"/>
                        </a:spcBef>
                        <a:spcAft>
                          <a:spcPts val="600"/>
                        </a:spcAft>
                        <a:buNone/>
                      </a:pPr>
                      <a:r>
                        <a:rPr lang="en-IN" sz="1800" u="none" strike="noStrike" dirty="0">
                          <a:effectLst/>
                        </a:rPr>
                        <a:t>DFS</a:t>
                      </a:r>
                      <a:endParaRPr lang="en-IN" sz="1800" dirty="0">
                        <a:effectLst/>
                      </a:endParaRPr>
                    </a:p>
                  </a:txBody>
                  <a:tcPr marL="114300" marR="114300" marT="76200" marB="76200"/>
                </a:tc>
                <a:tc>
                  <a:txBody>
                    <a:bodyPr/>
                    <a:lstStyle/>
                    <a:p>
                      <a:pPr rtl="0" fontAlgn="t">
                        <a:spcBef>
                          <a:spcPts val="600"/>
                        </a:spcBef>
                        <a:spcAft>
                          <a:spcPts val="600"/>
                        </a:spcAft>
                        <a:buNone/>
                      </a:pPr>
                      <a:r>
                        <a:rPr lang="en-IN" sz="1800" u="none" strike="noStrike">
                          <a:effectLst/>
                        </a:rPr>
                        <a:t>0.176</a:t>
                      </a:r>
                      <a:endParaRPr lang="en-IN" sz="1800">
                        <a:effectLst/>
                      </a:endParaRPr>
                    </a:p>
                  </a:txBody>
                  <a:tcPr marL="114300" marR="114300" marT="76200" marB="76200"/>
                </a:tc>
                <a:tc>
                  <a:txBody>
                    <a:bodyPr/>
                    <a:lstStyle/>
                    <a:p>
                      <a:pPr rtl="0" fontAlgn="t">
                        <a:spcBef>
                          <a:spcPts val="600"/>
                        </a:spcBef>
                        <a:spcAft>
                          <a:spcPts val="600"/>
                        </a:spcAft>
                        <a:buNone/>
                      </a:pPr>
                      <a:r>
                        <a:rPr lang="en-IN" sz="1800" u="none" strike="noStrike">
                          <a:effectLst/>
                        </a:rPr>
                        <a:t>1888</a:t>
                      </a:r>
                      <a:endParaRPr lang="en-IN" sz="1800">
                        <a:effectLst/>
                      </a:endParaRPr>
                    </a:p>
                  </a:txBody>
                  <a:tcPr marL="114300" marR="114300" marT="76200" marB="76200"/>
                </a:tc>
                <a:tc>
                  <a:txBody>
                    <a:bodyPr/>
                    <a:lstStyle/>
                    <a:p>
                      <a:pPr rtl="0" fontAlgn="t">
                        <a:spcBef>
                          <a:spcPts val="600"/>
                        </a:spcBef>
                        <a:spcAft>
                          <a:spcPts val="600"/>
                        </a:spcAft>
                        <a:buNone/>
                      </a:pPr>
                      <a:r>
                        <a:rPr lang="en-IN" sz="1800" u="none" strike="noStrike">
                          <a:effectLst/>
                        </a:rPr>
                        <a:t>12</a:t>
                      </a:r>
                      <a:endParaRPr lang="en-IN" sz="1800">
                        <a:effectLst/>
                      </a:endParaRPr>
                    </a:p>
                  </a:txBody>
                  <a:tcPr marL="114300" marR="114300" marT="76200" marB="76200"/>
                </a:tc>
                <a:extLst>
                  <a:ext uri="{0D108BD9-81ED-4DB2-BD59-A6C34878D82A}">
                    <a16:rowId xmlns:a16="http://schemas.microsoft.com/office/drawing/2014/main" val="1636232388"/>
                  </a:ext>
                </a:extLst>
              </a:tr>
              <a:tr h="459440">
                <a:tc>
                  <a:txBody>
                    <a:bodyPr/>
                    <a:lstStyle/>
                    <a:p>
                      <a:pPr rtl="0" fontAlgn="t">
                        <a:spcBef>
                          <a:spcPts val="600"/>
                        </a:spcBef>
                        <a:spcAft>
                          <a:spcPts val="600"/>
                        </a:spcAft>
                        <a:buNone/>
                      </a:pPr>
                      <a:r>
                        <a:rPr lang="en-IN" sz="1800" u="none" strike="noStrike">
                          <a:effectLst/>
                        </a:rPr>
                        <a:t>4</a:t>
                      </a:r>
                      <a:endParaRPr lang="en-IN" sz="1800">
                        <a:effectLst/>
                      </a:endParaRPr>
                    </a:p>
                  </a:txBody>
                  <a:tcPr marL="114300" marR="114300" marT="76200" marB="76200"/>
                </a:tc>
                <a:tc>
                  <a:txBody>
                    <a:bodyPr/>
                    <a:lstStyle/>
                    <a:p>
                      <a:pPr rtl="0" fontAlgn="t">
                        <a:spcBef>
                          <a:spcPts val="600"/>
                        </a:spcBef>
                        <a:spcAft>
                          <a:spcPts val="600"/>
                        </a:spcAft>
                        <a:buNone/>
                      </a:pPr>
                      <a:r>
                        <a:rPr lang="en-IN" sz="1800" u="none" strike="noStrike">
                          <a:effectLst/>
                        </a:rPr>
                        <a:t>UCS</a:t>
                      </a:r>
                      <a:endParaRPr lang="en-IN" sz="1800">
                        <a:effectLst/>
                      </a:endParaRPr>
                    </a:p>
                  </a:txBody>
                  <a:tcPr marL="114300" marR="114300" marT="76200" marB="76200"/>
                </a:tc>
                <a:tc>
                  <a:txBody>
                    <a:bodyPr/>
                    <a:lstStyle/>
                    <a:p>
                      <a:pPr rtl="0" fontAlgn="t">
                        <a:spcBef>
                          <a:spcPts val="600"/>
                        </a:spcBef>
                        <a:spcAft>
                          <a:spcPts val="600"/>
                        </a:spcAft>
                        <a:buNone/>
                      </a:pPr>
                      <a:r>
                        <a:rPr lang="en-IN" sz="1800" u="none" strike="noStrike" dirty="0">
                          <a:effectLst/>
                        </a:rPr>
                        <a:t>0.128</a:t>
                      </a:r>
                      <a:endParaRPr lang="en-IN" sz="1800" dirty="0">
                        <a:effectLst/>
                      </a:endParaRPr>
                    </a:p>
                  </a:txBody>
                  <a:tcPr marL="114300" marR="114300" marT="76200" marB="76200"/>
                </a:tc>
                <a:tc>
                  <a:txBody>
                    <a:bodyPr/>
                    <a:lstStyle/>
                    <a:p>
                      <a:pPr rtl="0" fontAlgn="t">
                        <a:spcBef>
                          <a:spcPts val="600"/>
                        </a:spcBef>
                        <a:spcAft>
                          <a:spcPts val="600"/>
                        </a:spcAft>
                        <a:buNone/>
                      </a:pPr>
                      <a:r>
                        <a:rPr lang="en-IN" sz="1800" u="none" strike="noStrike">
                          <a:effectLst/>
                        </a:rPr>
                        <a:t>1424</a:t>
                      </a:r>
                      <a:endParaRPr lang="en-IN" sz="1800">
                        <a:effectLst/>
                      </a:endParaRPr>
                    </a:p>
                  </a:txBody>
                  <a:tcPr marL="114300" marR="114300" marT="76200" marB="76200"/>
                </a:tc>
                <a:tc>
                  <a:txBody>
                    <a:bodyPr/>
                    <a:lstStyle/>
                    <a:p>
                      <a:pPr rtl="0" fontAlgn="t">
                        <a:spcBef>
                          <a:spcPts val="600"/>
                        </a:spcBef>
                        <a:spcAft>
                          <a:spcPts val="600"/>
                        </a:spcAft>
                        <a:buNone/>
                      </a:pPr>
                      <a:r>
                        <a:rPr lang="en-IN" sz="1800" u="none" strike="noStrike">
                          <a:effectLst/>
                        </a:rPr>
                        <a:t>12</a:t>
                      </a:r>
                      <a:endParaRPr lang="en-IN" sz="1800">
                        <a:effectLst/>
                      </a:endParaRPr>
                    </a:p>
                  </a:txBody>
                  <a:tcPr marL="114300" marR="114300" marT="76200" marB="76200"/>
                </a:tc>
                <a:extLst>
                  <a:ext uri="{0D108BD9-81ED-4DB2-BD59-A6C34878D82A}">
                    <a16:rowId xmlns:a16="http://schemas.microsoft.com/office/drawing/2014/main" val="3411590943"/>
                  </a:ext>
                </a:extLst>
              </a:tr>
              <a:tr h="459440">
                <a:tc>
                  <a:txBody>
                    <a:bodyPr/>
                    <a:lstStyle/>
                    <a:p>
                      <a:pPr rtl="0" fontAlgn="t">
                        <a:spcBef>
                          <a:spcPts val="600"/>
                        </a:spcBef>
                        <a:spcAft>
                          <a:spcPts val="600"/>
                        </a:spcAft>
                        <a:buNone/>
                      </a:pPr>
                      <a:r>
                        <a:rPr lang="en-IN" sz="1800" u="none" strike="noStrike">
                          <a:effectLst/>
                        </a:rPr>
                        <a:t>5</a:t>
                      </a:r>
                      <a:endParaRPr lang="en-IN" sz="1800">
                        <a:effectLst/>
                      </a:endParaRPr>
                    </a:p>
                  </a:txBody>
                  <a:tcPr marL="114300" marR="114300" marT="76200" marB="76200"/>
                </a:tc>
                <a:tc>
                  <a:txBody>
                    <a:bodyPr/>
                    <a:lstStyle/>
                    <a:p>
                      <a:pPr rtl="0" fontAlgn="t">
                        <a:spcBef>
                          <a:spcPts val="600"/>
                        </a:spcBef>
                        <a:spcAft>
                          <a:spcPts val="600"/>
                        </a:spcAft>
                        <a:buNone/>
                      </a:pPr>
                      <a:r>
                        <a:rPr lang="en-IN" sz="1800" u="none" strike="noStrike">
                          <a:effectLst/>
                        </a:rPr>
                        <a:t>ILS</a:t>
                      </a:r>
                      <a:endParaRPr lang="en-IN" sz="1800">
                        <a:effectLst/>
                      </a:endParaRPr>
                    </a:p>
                  </a:txBody>
                  <a:tcPr marL="114300" marR="114300" marT="76200" marB="76200"/>
                </a:tc>
                <a:tc>
                  <a:txBody>
                    <a:bodyPr/>
                    <a:lstStyle/>
                    <a:p>
                      <a:pPr rtl="0" fontAlgn="t">
                        <a:spcBef>
                          <a:spcPts val="600"/>
                        </a:spcBef>
                        <a:spcAft>
                          <a:spcPts val="600"/>
                        </a:spcAft>
                        <a:buNone/>
                      </a:pPr>
                      <a:r>
                        <a:rPr lang="en-IN" sz="1800" u="none" strike="noStrike">
                          <a:effectLst/>
                        </a:rPr>
                        <a:t>0.471</a:t>
                      </a:r>
                      <a:endParaRPr lang="en-IN" sz="1800">
                        <a:effectLst/>
                      </a:endParaRPr>
                    </a:p>
                  </a:txBody>
                  <a:tcPr marL="114300" marR="114300" marT="76200" marB="76200"/>
                </a:tc>
                <a:tc>
                  <a:txBody>
                    <a:bodyPr/>
                    <a:lstStyle/>
                    <a:p>
                      <a:pPr rtl="0" fontAlgn="t">
                        <a:spcBef>
                          <a:spcPts val="600"/>
                        </a:spcBef>
                        <a:spcAft>
                          <a:spcPts val="600"/>
                        </a:spcAft>
                        <a:buNone/>
                      </a:pPr>
                      <a:r>
                        <a:rPr lang="en-IN" sz="1800" u="none" strike="noStrike">
                          <a:effectLst/>
                        </a:rPr>
                        <a:t>1392</a:t>
                      </a:r>
                      <a:endParaRPr lang="en-IN" sz="1800">
                        <a:effectLst/>
                      </a:endParaRPr>
                    </a:p>
                  </a:txBody>
                  <a:tcPr marL="114300" marR="114300" marT="76200" marB="76200"/>
                </a:tc>
                <a:tc>
                  <a:txBody>
                    <a:bodyPr/>
                    <a:lstStyle/>
                    <a:p>
                      <a:pPr rtl="0" fontAlgn="t">
                        <a:spcBef>
                          <a:spcPts val="600"/>
                        </a:spcBef>
                        <a:spcAft>
                          <a:spcPts val="600"/>
                        </a:spcAft>
                        <a:buNone/>
                      </a:pPr>
                      <a:r>
                        <a:rPr lang="en-IN" sz="1800" u="none" strike="noStrike" dirty="0">
                          <a:effectLst/>
                        </a:rPr>
                        <a:t>12</a:t>
                      </a:r>
                      <a:endParaRPr lang="en-IN" sz="1800" dirty="0">
                        <a:effectLst/>
                      </a:endParaRPr>
                    </a:p>
                  </a:txBody>
                  <a:tcPr marL="114300" marR="114300" marT="76200" marB="76200"/>
                </a:tc>
                <a:extLst>
                  <a:ext uri="{0D108BD9-81ED-4DB2-BD59-A6C34878D82A}">
                    <a16:rowId xmlns:a16="http://schemas.microsoft.com/office/drawing/2014/main" val="4103967062"/>
                  </a:ext>
                </a:extLst>
              </a:tr>
            </a:tbl>
          </a:graphicData>
        </a:graphic>
      </p:graphicFrame>
    </p:spTree>
    <p:extLst>
      <p:ext uri="{BB962C8B-B14F-4D97-AF65-F5344CB8AC3E}">
        <p14:creationId xmlns:p14="http://schemas.microsoft.com/office/powerpoint/2010/main" val="23670620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2F71E4-83A9-9A97-B1F6-A38F75194D54}"/>
              </a:ext>
            </a:extLst>
          </p:cNvPr>
          <p:cNvSpPr>
            <a:spLocks noGrp="1"/>
          </p:cNvSpPr>
          <p:nvPr>
            <p:ph type="title"/>
          </p:nvPr>
        </p:nvSpPr>
        <p:spPr/>
        <p:txBody>
          <a:bodyPr>
            <a:normAutofit/>
          </a:bodyPr>
          <a:lstStyle/>
          <a:p>
            <a:r>
              <a:rPr lang="en-IN" sz="3600" b="1" dirty="0"/>
              <a:t>Analysis &amp; Conclusion</a:t>
            </a:r>
            <a:endParaRPr lang="en-US" sz="3600" b="1" dirty="0"/>
          </a:p>
        </p:txBody>
      </p:sp>
      <p:sp>
        <p:nvSpPr>
          <p:cNvPr id="3" name="Content Placeholder 2">
            <a:extLst>
              <a:ext uri="{FF2B5EF4-FFF2-40B4-BE49-F238E27FC236}">
                <a16:creationId xmlns:a16="http://schemas.microsoft.com/office/drawing/2014/main" id="{439503EC-A339-4801-F238-4C5E4FB42771}"/>
              </a:ext>
            </a:extLst>
          </p:cNvPr>
          <p:cNvSpPr>
            <a:spLocks noGrp="1"/>
          </p:cNvSpPr>
          <p:nvPr>
            <p:ph idx="1"/>
          </p:nvPr>
        </p:nvSpPr>
        <p:spPr/>
        <p:txBody>
          <a:bodyPr>
            <a:noAutofit/>
          </a:bodyPr>
          <a:lstStyle/>
          <a:p>
            <a:pPr rtl="0" fontAlgn="base"/>
            <a:r>
              <a:rPr lang="en-IN" sz="2000" b="1" i="0" u="none" strike="noStrike" dirty="0">
                <a:solidFill>
                  <a:srgbClr val="1B1C1D"/>
                </a:solidFill>
                <a:effectLst/>
                <a:latin typeface="Google Sans Text"/>
              </a:rPr>
              <a:t>Optimal Solution:</a:t>
            </a:r>
            <a:r>
              <a:rPr lang="en-IN" sz="2000" b="0" i="0" u="none" strike="noStrike" dirty="0">
                <a:solidFill>
                  <a:srgbClr val="1B1C1D"/>
                </a:solidFill>
                <a:effectLst/>
                <a:latin typeface="Google Sans Text"/>
              </a:rPr>
              <a:t> The problem has a shortest path length of 7 moves (8 states, including start). The UCS/ILS cost of 12 reflects the sum of the simple  heuristic across the 7 moves (all 7 steps had  except the first, which also had a cost of 1, resulting in a total path cost of ).</a:t>
            </a:r>
            <a:endParaRPr lang="en-IN" sz="2000" b="0" i="0" u="none" strike="noStrike" dirty="0">
              <a:solidFill>
                <a:srgbClr val="000000"/>
              </a:solidFill>
              <a:effectLst/>
              <a:latin typeface="Arial" panose="020B0604020202020204" pitchFamily="34" charset="0"/>
            </a:endParaRPr>
          </a:p>
          <a:p>
            <a:pPr rtl="0" fontAlgn="base"/>
            <a:r>
              <a:rPr lang="en-IN" sz="2000" b="1" i="0" u="none" strike="noStrike" dirty="0">
                <a:solidFill>
                  <a:srgbClr val="1B1C1D"/>
                </a:solidFill>
                <a:effectLst/>
                <a:latin typeface="Google Sans Text"/>
              </a:rPr>
              <a:t>Performance:</a:t>
            </a:r>
            <a:endParaRPr lang="en-IN" sz="2000" b="0" i="0" u="none" strike="noStrike" dirty="0">
              <a:solidFill>
                <a:srgbClr val="000000"/>
              </a:solidFill>
              <a:effectLst/>
              <a:latin typeface="Arial" panose="020B0604020202020204" pitchFamily="34" charset="0"/>
            </a:endParaRPr>
          </a:p>
          <a:p>
            <a:pPr rtl="0" fontAlgn="base"/>
            <a:r>
              <a:rPr lang="en-IN" sz="2000" b="1" i="0" u="none" strike="noStrike" dirty="0">
                <a:solidFill>
                  <a:srgbClr val="1B1C1D"/>
                </a:solidFill>
                <a:effectLst/>
                <a:latin typeface="Google Sans Text"/>
              </a:rPr>
              <a:t>BFS vs. DFS:</a:t>
            </a:r>
            <a:r>
              <a:rPr lang="en-IN" sz="2000" b="0" i="0" u="none" strike="noStrike" dirty="0">
                <a:solidFill>
                  <a:srgbClr val="1B1C1D"/>
                </a:solidFill>
                <a:effectLst/>
                <a:latin typeface="Google Sans Text"/>
              </a:rPr>
              <a:t> DFS is slightly faster but uses comparable memory for this small state space.</a:t>
            </a:r>
            <a:endParaRPr lang="en-IN" sz="2000" b="0" i="0" u="none" strike="noStrike" dirty="0">
              <a:solidFill>
                <a:srgbClr val="000000"/>
              </a:solidFill>
              <a:effectLst/>
              <a:latin typeface="Arial" panose="020B0604020202020204" pitchFamily="34" charset="0"/>
            </a:endParaRPr>
          </a:p>
          <a:p>
            <a:pPr rtl="0" fontAlgn="base"/>
            <a:r>
              <a:rPr lang="en-IN" sz="2000" b="1" i="0" u="none" strike="noStrike" dirty="0">
                <a:solidFill>
                  <a:srgbClr val="1B1C1D"/>
                </a:solidFill>
                <a:effectLst/>
                <a:latin typeface="Google Sans Text"/>
              </a:rPr>
              <a:t>UCS/ILS:</a:t>
            </a:r>
            <a:r>
              <a:rPr lang="en-IN" sz="2000" b="0" i="0" u="none" strike="noStrike" dirty="0">
                <a:solidFill>
                  <a:srgbClr val="1B1C1D"/>
                </a:solidFill>
                <a:effectLst/>
                <a:latin typeface="Google Sans Text"/>
              </a:rPr>
              <a:t> UCS is the </a:t>
            </a:r>
            <a:r>
              <a:rPr lang="en-IN" sz="2000" b="1" i="0" u="none" strike="noStrike" dirty="0">
                <a:solidFill>
                  <a:srgbClr val="1B1C1D"/>
                </a:solidFill>
                <a:effectLst/>
                <a:latin typeface="Google Sans Text"/>
              </a:rPr>
              <a:t>fastest and most memory-efficient</a:t>
            </a:r>
            <a:r>
              <a:rPr lang="en-IN" sz="2000" b="0" i="0" u="none" strike="noStrike" dirty="0">
                <a:solidFill>
                  <a:srgbClr val="1B1C1D"/>
                </a:solidFill>
                <a:effectLst/>
                <a:latin typeface="Google Sans Text"/>
              </a:rPr>
              <a:t> of the general algorithms tested, leveraging the simple heuristic effectively. ILS, which is essentially an Iterative Deepening version of UCS/A*, is much slower due to repeated path explorations.</a:t>
            </a:r>
            <a:endParaRPr lang="en-IN" sz="2000" b="0" i="0" u="none" strike="noStrike" dirty="0">
              <a:solidFill>
                <a:srgbClr val="000000"/>
              </a:solidFill>
              <a:effectLst/>
              <a:latin typeface="Arial" panose="020B0604020202020204" pitchFamily="34" charset="0"/>
            </a:endParaRPr>
          </a:p>
          <a:p>
            <a:pPr rtl="0" fontAlgn="base"/>
            <a:r>
              <a:rPr lang="en-IN" sz="2000" b="1" i="0" u="none" strike="noStrike" dirty="0">
                <a:solidFill>
                  <a:srgbClr val="1B1C1D"/>
                </a:solidFill>
                <a:effectLst/>
                <a:latin typeface="Google Sans Text"/>
              </a:rPr>
              <a:t>IDS vs. DLS:</a:t>
            </a:r>
            <a:r>
              <a:rPr lang="en-IN" sz="2000" b="0" i="0" u="none" strike="noStrike" dirty="0">
                <a:solidFill>
                  <a:srgbClr val="1B1C1D"/>
                </a:solidFill>
                <a:effectLst/>
                <a:latin typeface="Google Sans Text"/>
              </a:rPr>
              <a:t> IDS successfully finds the shallowest solution (depth 7), while DLS requires setting the depth limit precisely to the solution depth. IDS is generally preferred as it is guaranteed to find the shallowest path.</a:t>
            </a:r>
            <a:endParaRPr lang="en-IN" sz="2000" b="0" i="0" u="none" strike="noStrike" dirty="0">
              <a:solidFill>
                <a:srgbClr val="000000"/>
              </a:solidFill>
              <a:effectLst/>
              <a:latin typeface="Arial" panose="020B0604020202020204" pitchFamily="34" charset="0"/>
            </a:endParaRPr>
          </a:p>
        </p:txBody>
      </p:sp>
    </p:spTree>
    <p:extLst>
      <p:ext uri="{BB962C8B-B14F-4D97-AF65-F5344CB8AC3E}">
        <p14:creationId xmlns:p14="http://schemas.microsoft.com/office/powerpoint/2010/main" val="41950612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F8182-D97C-F974-861A-3A262EDE8CCC}"/>
              </a:ext>
            </a:extLst>
          </p:cNvPr>
          <p:cNvSpPr>
            <a:spLocks noGrp="1"/>
          </p:cNvSpPr>
          <p:nvPr>
            <p:ph type="title"/>
          </p:nvPr>
        </p:nvSpPr>
        <p:spPr/>
        <p:txBody>
          <a:bodyPr>
            <a:noAutofit/>
          </a:bodyPr>
          <a:lstStyle/>
          <a:p>
            <a:r>
              <a:rPr lang="en-IN" sz="3600" b="1" i="0" u="none" strike="noStrike" dirty="0">
                <a:solidFill>
                  <a:srgbClr val="1B1C1D"/>
                </a:solidFill>
                <a:effectLst/>
                <a:latin typeface="Google Sans"/>
              </a:rPr>
              <a:t>Traveling Salesperson Problem (TSP):</a:t>
            </a:r>
            <a:br>
              <a:rPr lang="en-IN" sz="3600" b="1" i="0" u="none" strike="noStrike" dirty="0">
                <a:solidFill>
                  <a:srgbClr val="1B1C1D"/>
                </a:solidFill>
                <a:effectLst/>
                <a:latin typeface="Google Sans"/>
              </a:rPr>
            </a:br>
            <a:r>
              <a:rPr lang="en-IN" sz="3600" b="1" i="0" u="none" strike="noStrike" dirty="0">
                <a:solidFill>
                  <a:srgbClr val="1B1C1D"/>
                </a:solidFill>
                <a:effectLst/>
                <a:latin typeface="Google Sans"/>
              </a:rPr>
              <a:t>Problem Formulation &amp; Input</a:t>
            </a:r>
            <a:endParaRPr lang="en-US" sz="3600" dirty="0"/>
          </a:p>
        </p:txBody>
      </p:sp>
      <p:sp>
        <p:nvSpPr>
          <p:cNvPr id="3" name="Content Placeholder 2">
            <a:extLst>
              <a:ext uri="{FF2B5EF4-FFF2-40B4-BE49-F238E27FC236}">
                <a16:creationId xmlns:a16="http://schemas.microsoft.com/office/drawing/2014/main" id="{A65DBBBF-0837-2654-A087-8881BC945F34}"/>
              </a:ext>
            </a:extLst>
          </p:cNvPr>
          <p:cNvSpPr>
            <a:spLocks noGrp="1"/>
          </p:cNvSpPr>
          <p:nvPr>
            <p:ph idx="1"/>
          </p:nvPr>
        </p:nvSpPr>
        <p:spPr>
          <a:xfrm>
            <a:off x="838200" y="1825625"/>
            <a:ext cx="5160011" cy="4351338"/>
          </a:xfrm>
        </p:spPr>
        <p:txBody>
          <a:bodyPr/>
          <a:lstStyle/>
          <a:p>
            <a:pPr rtl="0"/>
            <a:r>
              <a:rPr lang="en-IN" sz="1800" b="1" i="0" u="none" strike="noStrike" dirty="0">
                <a:solidFill>
                  <a:srgbClr val="1B1C1D"/>
                </a:solidFill>
                <a:effectLst/>
                <a:latin typeface="Google Sans Text"/>
              </a:rPr>
              <a:t>Goal:</a:t>
            </a:r>
            <a:r>
              <a:rPr lang="en-IN" sz="1800" b="0" i="0" u="none" strike="noStrike" dirty="0">
                <a:solidFill>
                  <a:srgbClr val="1B1C1D"/>
                </a:solidFill>
                <a:effectLst/>
                <a:latin typeface="Google Sans Text"/>
              </a:rPr>
              <a:t> Find the </a:t>
            </a:r>
            <a:r>
              <a:rPr lang="en-IN" sz="1800" b="1" i="0" u="none" strike="noStrike" dirty="0">
                <a:solidFill>
                  <a:srgbClr val="1B1C1D"/>
                </a:solidFill>
                <a:effectLst/>
                <a:latin typeface="Google Sans Text"/>
              </a:rPr>
              <a:t>shortest possible route</a:t>
            </a:r>
            <a:r>
              <a:rPr lang="en-IN" sz="1800" b="0" i="0" u="none" strike="noStrike" dirty="0">
                <a:solidFill>
                  <a:srgbClr val="1B1C1D"/>
                </a:solidFill>
                <a:effectLst/>
                <a:latin typeface="Google Sans Text"/>
              </a:rPr>
              <a:t> that visits every city (node) exactly once and returns to the origin city. This is an NP-hard problem.</a:t>
            </a:r>
            <a:endParaRPr lang="en-IN" dirty="0">
              <a:effectLst/>
            </a:endParaRPr>
          </a:p>
          <a:p>
            <a:pPr rtl="0"/>
            <a:r>
              <a:rPr lang="en-IN" sz="1800" b="1" i="0" u="none" strike="noStrike" dirty="0">
                <a:solidFill>
                  <a:srgbClr val="1B1C1D"/>
                </a:solidFill>
                <a:effectLst/>
                <a:latin typeface="Google Sans Text"/>
              </a:rPr>
              <a:t>Core Concept:</a:t>
            </a:r>
            <a:r>
              <a:rPr lang="en-IN" sz="1800" b="0" i="0" u="none" strike="noStrike" dirty="0">
                <a:solidFill>
                  <a:srgbClr val="1B1C1D"/>
                </a:solidFill>
                <a:effectLst/>
                <a:latin typeface="Google Sans Text"/>
              </a:rPr>
              <a:t> Heuristic Optimization / Metaheuristics.</a:t>
            </a:r>
            <a:endParaRPr lang="en-IN" dirty="0">
              <a:effectLst/>
            </a:endParaRPr>
          </a:p>
          <a:p>
            <a:pPr rtl="0"/>
            <a:r>
              <a:rPr lang="en-IN" sz="1800" b="1" i="0" u="none" strike="noStrike" dirty="0">
                <a:solidFill>
                  <a:srgbClr val="1B1C1D"/>
                </a:solidFill>
                <a:effectLst/>
                <a:latin typeface="Google Sans Text"/>
              </a:rPr>
              <a:t>Input Format (from </a:t>
            </a:r>
            <a:r>
              <a:rPr lang="en-IN" sz="1800" b="1" i="0" u="none" strike="noStrike" dirty="0" err="1">
                <a:solidFill>
                  <a:srgbClr val="1B1C1D"/>
                </a:solidFill>
                <a:effectLst/>
                <a:latin typeface="Google Sans Text"/>
              </a:rPr>
              <a:t>input.txt</a:t>
            </a:r>
            <a:r>
              <a:rPr lang="en-IN" sz="1800" b="1" i="0" u="none" strike="noStrike" dirty="0">
                <a:solidFill>
                  <a:srgbClr val="1B1C1D"/>
                </a:solidFill>
                <a:effectLst/>
                <a:latin typeface="Google Sans Text"/>
              </a:rPr>
              <a:t>):</a:t>
            </a:r>
            <a:endParaRPr lang="en-IN" dirty="0">
              <a:effectLst/>
            </a:endParaRPr>
          </a:p>
          <a:p>
            <a:pPr rtl="0" fontAlgn="base"/>
            <a:r>
              <a:rPr lang="en-IN" sz="1800" b="0" i="0" u="none" strike="noStrike" dirty="0">
                <a:solidFill>
                  <a:srgbClr val="1B1C1D"/>
                </a:solidFill>
                <a:effectLst/>
                <a:latin typeface="Google Sans Text"/>
              </a:rPr>
              <a:t>n e (Number of vertices and edges)</a:t>
            </a:r>
            <a:endParaRPr lang="en-IN" sz="1800" b="0" i="0" u="none" strike="noStrike" dirty="0">
              <a:solidFill>
                <a:srgbClr val="000000"/>
              </a:solidFill>
              <a:effectLst/>
              <a:latin typeface="Arial" panose="020B0604020202020204" pitchFamily="34" charset="0"/>
            </a:endParaRPr>
          </a:p>
          <a:p>
            <a:pPr rtl="0" fontAlgn="base"/>
            <a:r>
              <a:rPr lang="en-IN" sz="1800" b="0" i="0" u="none" strike="noStrike" dirty="0">
                <a:solidFill>
                  <a:srgbClr val="1B1C1D"/>
                </a:solidFill>
                <a:effectLst/>
                <a:latin typeface="Google Sans Text"/>
              </a:rPr>
              <a:t>Lines of: u v cost (Edges and their weights)</a:t>
            </a:r>
            <a:endParaRPr lang="en-IN" sz="1800" b="0" i="0" u="none" strike="noStrike" dirty="0">
              <a:solidFill>
                <a:srgbClr val="000000"/>
              </a:solidFill>
              <a:effectLst/>
              <a:latin typeface="Arial" panose="020B0604020202020204" pitchFamily="34" charset="0"/>
            </a:endParaRPr>
          </a:p>
          <a:p>
            <a:pPr rtl="0"/>
            <a:r>
              <a:rPr lang="en-IN" sz="1800" b="1" i="0" u="none" strike="noStrike" dirty="0">
                <a:solidFill>
                  <a:srgbClr val="1B1C1D"/>
                </a:solidFill>
                <a:effectLst/>
                <a:latin typeface="Google Sans Text"/>
              </a:rPr>
              <a:t>Problem Graph:</a:t>
            </a:r>
            <a:r>
              <a:rPr lang="en-IN" sz="1800" b="0" i="0" u="none" strike="noStrike" dirty="0">
                <a:solidFill>
                  <a:srgbClr val="1B1C1D"/>
                </a:solidFill>
                <a:effectLst/>
                <a:latin typeface="Google Sans Text"/>
              </a:rPr>
              <a:t> A graph with  vertices (cities) and weighted edges representing the cost/distance between cities.</a:t>
            </a:r>
            <a:endParaRPr lang="en-IN" dirty="0">
              <a:effectLst/>
            </a:endParaRPr>
          </a:p>
          <a:p>
            <a:pPr marL="0" indent="0">
              <a:buNone/>
            </a:pPr>
            <a:endParaRPr lang="en-US" dirty="0"/>
          </a:p>
        </p:txBody>
      </p:sp>
      <p:pic>
        <p:nvPicPr>
          <p:cNvPr id="5" name="Picture 4">
            <a:extLst>
              <a:ext uri="{FF2B5EF4-FFF2-40B4-BE49-F238E27FC236}">
                <a16:creationId xmlns:a16="http://schemas.microsoft.com/office/drawing/2014/main" id="{017021C5-D102-85AB-D1ED-316A4403F746}"/>
              </a:ext>
            </a:extLst>
          </p:cNvPr>
          <p:cNvPicPr>
            <a:picLocks noChangeAspect="1"/>
          </p:cNvPicPr>
          <p:nvPr/>
        </p:nvPicPr>
        <p:blipFill>
          <a:blip r:embed="rId2">
            <a:extLst>
              <a:ext uri="{28A0092B-C50C-407E-A947-70E740481C1C}">
                <a14:useLocalDpi xmlns:a14="http://schemas.microsoft.com/office/drawing/2010/main" val="0"/>
              </a:ext>
            </a:extLst>
          </a:blip>
          <a:srcRect r="5131"/>
          <a:stretch>
            <a:fillRect/>
          </a:stretch>
        </p:blipFill>
        <p:spPr>
          <a:xfrm>
            <a:off x="6096000" y="1520825"/>
            <a:ext cx="5963920" cy="4972050"/>
          </a:xfrm>
          <a:prstGeom prst="rect">
            <a:avLst/>
          </a:prstGeom>
        </p:spPr>
      </p:pic>
    </p:spTree>
    <p:extLst>
      <p:ext uri="{BB962C8B-B14F-4D97-AF65-F5344CB8AC3E}">
        <p14:creationId xmlns:p14="http://schemas.microsoft.com/office/powerpoint/2010/main" val="15322973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654A4-1628-FD2E-CB10-8FB7235898F7}"/>
              </a:ext>
            </a:extLst>
          </p:cNvPr>
          <p:cNvSpPr>
            <a:spLocks noGrp="1"/>
          </p:cNvSpPr>
          <p:nvPr>
            <p:ph type="title"/>
          </p:nvPr>
        </p:nvSpPr>
        <p:spPr>
          <a:xfrm>
            <a:off x="833437" y="212957"/>
            <a:ext cx="10515600" cy="1325563"/>
          </a:xfrm>
        </p:spPr>
        <p:txBody>
          <a:bodyPr/>
          <a:lstStyle/>
          <a:p>
            <a:r>
              <a:rPr lang="en-IN" sz="3600" b="1" i="0" u="none" strike="noStrike" dirty="0">
                <a:solidFill>
                  <a:srgbClr val="1B1C1D"/>
                </a:solidFill>
                <a:effectLst/>
                <a:latin typeface="Google Sans"/>
              </a:rPr>
              <a:t>Brute Force Approach &amp; Heuristic Optimization</a:t>
            </a:r>
            <a:endParaRPr lang="en-US" sz="3600"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B7DE392-66AE-DEFD-C089-FC693543C434}"/>
                  </a:ext>
                </a:extLst>
              </p:cNvPr>
              <p:cNvSpPr>
                <a:spLocks noGrp="1"/>
              </p:cNvSpPr>
              <p:nvPr>
                <p:ph idx="1"/>
              </p:nvPr>
            </p:nvSpPr>
            <p:spPr>
              <a:xfrm>
                <a:off x="838200" y="1293121"/>
                <a:ext cx="11089640" cy="4939739"/>
              </a:xfrm>
            </p:spPr>
            <p:txBody>
              <a:bodyPr>
                <a:noAutofit/>
              </a:bodyPr>
              <a:lstStyle/>
              <a:p>
                <a:pPr rtl="0"/>
                <a:r>
                  <a:rPr lang="en-IN" sz="1400" b="1" i="0" u="none" strike="noStrike" dirty="0">
                    <a:solidFill>
                      <a:srgbClr val="1B1C1D"/>
                    </a:solidFill>
                    <a:effectLst/>
                    <a:latin typeface="Arial" panose="020B0604020202020204" pitchFamily="34" charset="0"/>
                    <a:cs typeface="Arial" panose="020B0604020202020204" pitchFamily="34" charset="0"/>
                  </a:rPr>
                  <a:t>Brute Force (For Comparison):</a:t>
                </a:r>
                <a:endParaRPr lang="en-IN" sz="1400" dirty="0">
                  <a:effectLst/>
                  <a:latin typeface="Arial" panose="020B0604020202020204" pitchFamily="34" charset="0"/>
                  <a:cs typeface="Arial" panose="020B0604020202020204" pitchFamily="34" charset="0"/>
                </a:endParaRPr>
              </a:p>
              <a:p>
                <a:pPr rtl="0" fontAlgn="base"/>
                <a:r>
                  <a:rPr lang="en-IN" sz="1400" b="1" i="0" u="none" strike="noStrike" dirty="0">
                    <a:solidFill>
                      <a:srgbClr val="1B1C1D"/>
                    </a:solidFill>
                    <a:effectLst/>
                    <a:latin typeface="Arial" panose="020B0604020202020204" pitchFamily="34" charset="0"/>
                    <a:cs typeface="Arial" panose="020B0604020202020204" pitchFamily="34" charset="0"/>
                  </a:rPr>
                  <a:t>Method:</a:t>
                </a:r>
                <a:r>
                  <a:rPr lang="en-IN" sz="1400" b="0" i="0" u="none" strike="noStrike" dirty="0">
                    <a:solidFill>
                      <a:srgbClr val="1B1C1D"/>
                    </a:solidFill>
                    <a:effectLst/>
                    <a:latin typeface="Arial" panose="020B0604020202020204" pitchFamily="34" charset="0"/>
                    <a:cs typeface="Arial" panose="020B0604020202020204" pitchFamily="34" charset="0"/>
                  </a:rPr>
                  <a:t> Checks every possible permutation of the  intermediate cities.</a:t>
                </a:r>
                <a:endParaRPr lang="en-IN" sz="1400" b="0" i="0" u="none" strike="noStrike" dirty="0">
                  <a:solidFill>
                    <a:srgbClr val="000000"/>
                  </a:solidFill>
                  <a:effectLst/>
                  <a:latin typeface="Arial" panose="020B0604020202020204" pitchFamily="34" charset="0"/>
                  <a:cs typeface="Arial" panose="020B0604020202020204" pitchFamily="34" charset="0"/>
                </a:endParaRPr>
              </a:p>
              <a:p>
                <a:pPr rtl="0" fontAlgn="base"/>
                <a:r>
                  <a:rPr lang="en-IN" sz="1400" b="1" i="0" u="none" strike="noStrike" dirty="0">
                    <a:solidFill>
                      <a:srgbClr val="1B1C1D"/>
                    </a:solidFill>
                    <a:effectLst/>
                    <a:latin typeface="Arial" panose="020B0604020202020204" pitchFamily="34" charset="0"/>
                    <a:cs typeface="Arial" panose="020B0604020202020204" pitchFamily="34" charset="0"/>
                  </a:rPr>
                  <a:t>Complexity:</a:t>
                </a:r>
                <a:r>
                  <a:rPr lang="en-IN" sz="1400" b="0" i="0" u="none" strike="noStrike" dirty="0">
                    <a:solidFill>
                      <a:srgbClr val="1B1C1D"/>
                    </a:solidFill>
                    <a:effectLst/>
                    <a:latin typeface="Arial" panose="020B0604020202020204" pitchFamily="34" charset="0"/>
                    <a:cs typeface="Arial" panose="020B0604020202020204" pitchFamily="34" charset="0"/>
                  </a:rPr>
                  <a:t> O(n!) which is </a:t>
                </a:r>
                <a:r>
                  <a:rPr lang="en-IN" sz="1400" b="1" i="0" u="none" strike="noStrike" dirty="0">
                    <a:solidFill>
                      <a:srgbClr val="1B1C1D"/>
                    </a:solidFill>
                    <a:effectLst/>
                    <a:latin typeface="Arial" panose="020B0604020202020204" pitchFamily="34" charset="0"/>
                    <a:cs typeface="Arial" panose="020B0604020202020204" pitchFamily="34" charset="0"/>
                  </a:rPr>
                  <a:t>infeasible</a:t>
                </a:r>
                <a:r>
                  <a:rPr lang="en-IN" sz="1400" b="0" i="0" u="none" strike="noStrike" dirty="0">
                    <a:solidFill>
                      <a:srgbClr val="1B1C1D"/>
                    </a:solidFill>
                    <a:effectLst/>
                    <a:latin typeface="Arial" panose="020B0604020202020204" pitchFamily="34" charset="0"/>
                    <a:cs typeface="Arial" panose="020B0604020202020204" pitchFamily="34" charset="0"/>
                  </a:rPr>
                  <a:t> for large n.</a:t>
                </a:r>
                <a:endParaRPr lang="en-IN" sz="1400" b="0" i="0" u="none" strike="noStrike" dirty="0">
                  <a:solidFill>
                    <a:srgbClr val="000000"/>
                  </a:solidFill>
                  <a:effectLst/>
                  <a:latin typeface="Arial" panose="020B0604020202020204" pitchFamily="34" charset="0"/>
                  <a:cs typeface="Arial" panose="020B0604020202020204" pitchFamily="34" charset="0"/>
                </a:endParaRPr>
              </a:p>
              <a:p>
                <a:pPr rtl="0"/>
                <a:r>
                  <a:rPr lang="en-IN" sz="1400" b="1" i="0" u="none" strike="noStrike" dirty="0">
                    <a:solidFill>
                      <a:srgbClr val="000000"/>
                    </a:solidFill>
                    <a:effectLst/>
                    <a:latin typeface="Arial" panose="020B0604020202020204" pitchFamily="34" charset="0"/>
                    <a:cs typeface="Arial" panose="020B0604020202020204" pitchFamily="34" charset="0"/>
                  </a:rPr>
                  <a:t>Heuristic Optimization (Metaheuristics):</a:t>
                </a:r>
                <a:endParaRPr lang="en-IN" sz="1400" b="1" dirty="0">
                  <a:effectLst/>
                  <a:latin typeface="Arial" panose="020B0604020202020204" pitchFamily="34" charset="0"/>
                  <a:cs typeface="Arial" panose="020B0604020202020204" pitchFamily="34" charset="0"/>
                </a:endParaRPr>
              </a:p>
              <a:p>
                <a:pPr rtl="0"/>
                <a:r>
                  <a:rPr lang="en-IN" sz="1400" b="0" i="0" u="none" strike="noStrike" dirty="0">
                    <a:solidFill>
                      <a:srgbClr val="000000"/>
                    </a:solidFill>
                    <a:effectLst/>
                    <a:latin typeface="Arial" panose="020B0604020202020204" pitchFamily="34" charset="0"/>
                    <a:cs typeface="Arial" panose="020B0604020202020204" pitchFamily="34" charset="0"/>
                  </a:rPr>
                  <a:t>Since Brute Force is too slow for large n, two metaheuristics are used to find a good, but not necessarily optimal, solution in a reasonable time.</a:t>
                </a:r>
                <a:endParaRPr lang="en-IN" sz="1400" dirty="0">
                  <a:effectLst/>
                  <a:latin typeface="Arial" panose="020B0604020202020204" pitchFamily="34" charset="0"/>
                  <a:cs typeface="Arial" panose="020B0604020202020204" pitchFamily="34" charset="0"/>
                </a:endParaRPr>
              </a:p>
              <a:p>
                <a:pPr rtl="0" fontAlgn="base"/>
                <a:r>
                  <a:rPr lang="en-IN" sz="1400" b="1" i="0" u="none" strike="noStrike" dirty="0">
                    <a:solidFill>
                      <a:srgbClr val="1B1C1D"/>
                    </a:solidFill>
                    <a:effectLst/>
                    <a:latin typeface="Arial" panose="020B0604020202020204" pitchFamily="34" charset="0"/>
                    <a:cs typeface="Arial" panose="020B0604020202020204" pitchFamily="34" charset="0"/>
                  </a:rPr>
                  <a:t>Hill Climbing:</a:t>
                </a:r>
                <a:r>
                  <a:rPr lang="en-IN" sz="1400" b="0" i="0" u="none" strike="noStrike" dirty="0">
                    <a:solidFill>
                      <a:srgbClr val="1B1C1D"/>
                    </a:solidFill>
                    <a:effectLst/>
                    <a:latin typeface="Arial" panose="020B0604020202020204" pitchFamily="34" charset="0"/>
                    <a:cs typeface="Arial" panose="020B0604020202020204" pitchFamily="34" charset="0"/>
                  </a:rPr>
                  <a:t> Always moves from the current state to a </a:t>
                </a:r>
                <a:r>
                  <a:rPr lang="en-IN" sz="1400" b="1" i="0" u="none" strike="noStrike" dirty="0">
                    <a:solidFill>
                      <a:srgbClr val="1B1C1D"/>
                    </a:solidFill>
                    <a:effectLst/>
                    <a:latin typeface="Arial" panose="020B0604020202020204" pitchFamily="34" charset="0"/>
                    <a:cs typeface="Arial" panose="020B0604020202020204" pitchFamily="34" charset="0"/>
                  </a:rPr>
                  <a:t>strictly better</a:t>
                </a:r>
                <a:r>
                  <a:rPr lang="en-IN" sz="1400" b="0" i="0" u="none" strike="noStrike" dirty="0">
                    <a:solidFill>
                      <a:srgbClr val="1B1C1D"/>
                    </a:solidFill>
                    <a:effectLst/>
                    <a:latin typeface="Arial" panose="020B0604020202020204" pitchFamily="34" charset="0"/>
                    <a:cs typeface="Arial" panose="020B0604020202020204" pitchFamily="34" charset="0"/>
                  </a:rPr>
                  <a:t> neighbouring state (local search).</a:t>
                </a:r>
                <a:endParaRPr lang="en-IN" sz="1400" b="0" i="0" u="none" strike="noStrike" dirty="0">
                  <a:solidFill>
                    <a:srgbClr val="000000"/>
                  </a:solidFill>
                  <a:effectLst/>
                  <a:latin typeface="Arial" panose="020B0604020202020204" pitchFamily="34" charset="0"/>
                  <a:cs typeface="Arial" panose="020B0604020202020204" pitchFamily="34" charset="0"/>
                </a:endParaRPr>
              </a:p>
              <a:p>
                <a:pPr rtl="0" fontAlgn="base"/>
                <a:r>
                  <a:rPr lang="en-IN" sz="1400" b="1" i="0" u="none" strike="noStrike" dirty="0">
                    <a:solidFill>
                      <a:srgbClr val="1B1C1D"/>
                    </a:solidFill>
                    <a:effectLst/>
                    <a:latin typeface="Arial" panose="020B0604020202020204" pitchFamily="34" charset="0"/>
                    <a:cs typeface="Arial" panose="020B0604020202020204" pitchFamily="34" charset="0"/>
                  </a:rPr>
                  <a:t>Goal:</a:t>
                </a:r>
                <a:r>
                  <a:rPr lang="en-IN" sz="1400" b="0" i="0" u="none" strike="noStrike" dirty="0">
                    <a:solidFill>
                      <a:srgbClr val="1B1C1D"/>
                    </a:solidFill>
                    <a:effectLst/>
                    <a:latin typeface="Arial" panose="020B0604020202020204" pitchFamily="34" charset="0"/>
                    <a:cs typeface="Arial" panose="020B0604020202020204" pitchFamily="34" charset="0"/>
                  </a:rPr>
                  <a:t> Find a local optimum.</a:t>
                </a:r>
                <a:endParaRPr lang="en-IN" sz="1400" b="0" i="0" u="none" strike="noStrike" dirty="0">
                  <a:solidFill>
                    <a:srgbClr val="000000"/>
                  </a:solidFill>
                  <a:effectLst/>
                  <a:latin typeface="Arial" panose="020B0604020202020204" pitchFamily="34" charset="0"/>
                  <a:cs typeface="Arial" panose="020B0604020202020204" pitchFamily="34" charset="0"/>
                </a:endParaRPr>
              </a:p>
              <a:p>
                <a:pPr rtl="0" fontAlgn="base"/>
                <a:r>
                  <a:rPr lang="en-IN" sz="1400" b="1" i="0" u="none" strike="noStrike" dirty="0">
                    <a:solidFill>
                      <a:srgbClr val="1B1C1D"/>
                    </a:solidFill>
                    <a:effectLst/>
                    <a:latin typeface="Arial" panose="020B0604020202020204" pitchFamily="34" charset="0"/>
                    <a:cs typeface="Arial" panose="020B0604020202020204" pitchFamily="34" charset="0"/>
                  </a:rPr>
                  <a:t>Risk:</a:t>
                </a:r>
                <a:r>
                  <a:rPr lang="en-IN" sz="1400" b="0" i="0" u="none" strike="noStrike" dirty="0">
                    <a:solidFill>
                      <a:srgbClr val="1B1C1D"/>
                    </a:solidFill>
                    <a:effectLst/>
                    <a:latin typeface="Arial" panose="020B0604020202020204" pitchFamily="34" charset="0"/>
                    <a:cs typeface="Arial" panose="020B0604020202020204" pitchFamily="34" charset="0"/>
                  </a:rPr>
                  <a:t> Easily trapped in a poor local optimum.</a:t>
                </a:r>
                <a:endParaRPr lang="en-IN" sz="1400" b="0" i="0" u="none" strike="noStrike" dirty="0">
                  <a:solidFill>
                    <a:srgbClr val="000000"/>
                  </a:solidFill>
                  <a:effectLst/>
                  <a:latin typeface="Arial" panose="020B0604020202020204" pitchFamily="34" charset="0"/>
                  <a:cs typeface="Arial" panose="020B0604020202020204" pitchFamily="34" charset="0"/>
                </a:endParaRPr>
              </a:p>
              <a:p>
                <a:pPr rtl="0" fontAlgn="base"/>
                <a:r>
                  <a:rPr lang="en-IN" sz="1400" b="1" i="0" u="none" strike="noStrike" dirty="0">
                    <a:solidFill>
                      <a:srgbClr val="1B1C1D"/>
                    </a:solidFill>
                    <a:effectLst/>
                    <a:latin typeface="Arial" panose="020B0604020202020204" pitchFamily="34" charset="0"/>
                    <a:cs typeface="Arial" panose="020B0604020202020204" pitchFamily="34" charset="0"/>
                  </a:rPr>
                  <a:t>Simulated Annealing (SA):</a:t>
                </a:r>
                <a:r>
                  <a:rPr lang="en-IN" sz="1400" b="0" i="0" u="none" strike="noStrike" dirty="0">
                    <a:solidFill>
                      <a:srgbClr val="1B1C1D"/>
                    </a:solidFill>
                    <a:effectLst/>
                    <a:latin typeface="Arial" panose="020B0604020202020204" pitchFamily="34" charset="0"/>
                    <a:cs typeface="Arial" panose="020B0604020202020204" pitchFamily="34" charset="0"/>
                  </a:rPr>
                  <a:t> An extension of Hill Climbing that </a:t>
                </a:r>
                <a:r>
                  <a:rPr lang="en-IN" sz="1400" b="1" i="0" u="none" strike="noStrike" dirty="0">
                    <a:solidFill>
                      <a:srgbClr val="1B1C1D"/>
                    </a:solidFill>
                    <a:effectLst/>
                    <a:latin typeface="Arial" panose="020B0604020202020204" pitchFamily="34" charset="0"/>
                    <a:cs typeface="Arial" panose="020B0604020202020204" pitchFamily="34" charset="0"/>
                  </a:rPr>
                  <a:t>allows bad moves</a:t>
                </a:r>
                <a:r>
                  <a:rPr lang="en-IN" sz="1400" b="0" i="0" u="none" strike="noStrike" dirty="0">
                    <a:solidFill>
                      <a:srgbClr val="1B1C1D"/>
                    </a:solidFill>
                    <a:effectLst/>
                    <a:latin typeface="Arial" panose="020B0604020202020204" pitchFamily="34" charset="0"/>
                    <a:cs typeface="Arial" panose="020B0604020202020204" pitchFamily="34" charset="0"/>
                  </a:rPr>
                  <a:t> with a probability that decreases as the "temperature" cools.</a:t>
                </a:r>
                <a:endParaRPr lang="en-IN" sz="1400" b="0" i="0" u="none" strike="noStrike" dirty="0">
                  <a:solidFill>
                    <a:srgbClr val="000000"/>
                  </a:solidFill>
                  <a:effectLst/>
                  <a:latin typeface="Arial" panose="020B0604020202020204" pitchFamily="34" charset="0"/>
                  <a:cs typeface="Arial" panose="020B0604020202020204" pitchFamily="34" charset="0"/>
                </a:endParaRPr>
              </a:p>
              <a:p>
                <a:pPr rtl="0" fontAlgn="base"/>
                <a:r>
                  <a:rPr lang="en-IN" sz="1400" b="1" i="0" u="none" strike="noStrike" dirty="0">
                    <a:solidFill>
                      <a:srgbClr val="1B1C1D"/>
                    </a:solidFill>
                    <a:effectLst/>
                    <a:latin typeface="Arial" panose="020B0604020202020204" pitchFamily="34" charset="0"/>
                    <a:cs typeface="Arial" panose="020B0604020202020204" pitchFamily="34" charset="0"/>
                  </a:rPr>
                  <a:t>Goal:</a:t>
                </a:r>
                <a:r>
                  <a:rPr lang="en-IN" sz="1400" b="0" i="0" u="none" strike="noStrike" dirty="0">
                    <a:solidFill>
                      <a:srgbClr val="1B1C1D"/>
                    </a:solidFill>
                    <a:effectLst/>
                    <a:latin typeface="Arial" panose="020B0604020202020204" pitchFamily="34" charset="0"/>
                    <a:cs typeface="Arial" panose="020B0604020202020204" pitchFamily="34" charset="0"/>
                  </a:rPr>
                  <a:t> Escape local optima and find a near-global optimum.</a:t>
                </a:r>
                <a:endParaRPr lang="en-IN" sz="1400" b="0" i="0" u="none" strike="noStrike" dirty="0">
                  <a:solidFill>
                    <a:srgbClr val="000000"/>
                  </a:solidFill>
                  <a:effectLst/>
                  <a:latin typeface="Arial" panose="020B0604020202020204" pitchFamily="34" charset="0"/>
                  <a:cs typeface="Arial" panose="020B0604020202020204" pitchFamily="34" charset="0"/>
                </a:endParaRPr>
              </a:p>
              <a:p>
                <a:pPr rtl="0" fontAlgn="base"/>
                <a:r>
                  <a:rPr lang="en-IN" sz="1400" b="1" i="0" u="none" strike="noStrike" dirty="0">
                    <a:solidFill>
                      <a:srgbClr val="1B1C1D"/>
                    </a:solidFill>
                    <a:effectLst/>
                    <a:latin typeface="Arial" panose="020B0604020202020204" pitchFamily="34" charset="0"/>
                    <a:cs typeface="Arial" panose="020B0604020202020204" pitchFamily="34" charset="0"/>
                  </a:rPr>
                  <a:t>Mechanism:</a:t>
                </a:r>
                <a:r>
                  <a:rPr lang="en-IN" sz="1400" b="0" i="0" u="none" strike="noStrike" dirty="0">
                    <a:solidFill>
                      <a:srgbClr val="1B1C1D"/>
                    </a:solidFill>
                    <a:effectLst/>
                    <a:latin typeface="Arial" panose="020B0604020202020204" pitchFamily="34" charset="0"/>
                    <a:cs typeface="Arial" panose="020B0604020202020204" pitchFamily="34" charset="0"/>
                  </a:rPr>
                  <a:t> Uses the Metropolis criterion: 1) Generate a new solution.    </a:t>
                </a:r>
                <a:r>
                  <a:rPr lang="en-IN" sz="1400" dirty="0">
                    <a:solidFill>
                      <a:srgbClr val="1B1C1D"/>
                    </a:solidFill>
                    <a:latin typeface="Arial" panose="020B0604020202020204" pitchFamily="34" charset="0"/>
                    <a:cs typeface="Arial" panose="020B0604020202020204" pitchFamily="34" charset="0"/>
                  </a:rPr>
                  <a:t> 2) Evaluate the new solution </a:t>
                </a:r>
                <a14:m>
                  <m:oMath xmlns:m="http://schemas.openxmlformats.org/officeDocument/2006/math">
                    <m:r>
                      <a:rPr lang="en-IN" sz="1400" i="1" smtClean="0">
                        <a:latin typeface="Cambria Math" panose="02040503050406030204" pitchFamily="18" charset="0"/>
                      </a:rPr>
                      <m:t>𝛥</m:t>
                    </m:r>
                    <m:r>
                      <a:rPr lang="en-IN" sz="1400" i="1" smtClean="0">
                        <a:latin typeface="Cambria Math" panose="02040503050406030204" pitchFamily="18" charset="0"/>
                      </a:rPr>
                      <m:t>𝐸</m:t>
                    </m:r>
                    <m:r>
                      <a:rPr lang="en-IN" sz="1400" i="0">
                        <a:latin typeface="Cambria Math" panose="02040503050406030204" pitchFamily="18" charset="0"/>
                      </a:rPr>
                      <m:t>=</m:t>
                    </m:r>
                    <m:r>
                      <m:rPr>
                        <m:nor/>
                      </m:rPr>
                      <a:rPr lang="en-IN" sz="1400" b="0" i="1">
                        <a:latin typeface="Arial" panose="020B0604020202020204" pitchFamily="34" charset="0"/>
                        <a:cs typeface="Arial" panose="020B0604020202020204" pitchFamily="34" charset="0"/>
                      </a:rPr>
                      <m:t>cost</m:t>
                    </m:r>
                    <m:d>
                      <m:dPr>
                        <m:ctrlPr>
                          <a:rPr lang="ar-AE" sz="1400" b="0" i="1">
                            <a:latin typeface="Cambria Math" panose="02040503050406030204" pitchFamily="18" charset="0"/>
                          </a:rPr>
                        </m:ctrlPr>
                      </m:dPr>
                      <m:e>
                        <m:sSub>
                          <m:sSubPr>
                            <m:ctrlPr>
                              <a:rPr lang="ar-AE" sz="1400" b="0" i="1">
                                <a:latin typeface="Cambria Math" panose="02040503050406030204" pitchFamily="18" charset="0"/>
                              </a:rPr>
                            </m:ctrlPr>
                          </m:sSubPr>
                          <m:e>
                            <m:r>
                              <a:rPr lang="ar-AE" sz="1400" b="0" i="1">
                                <a:latin typeface="Cambria Math" panose="02040503050406030204" pitchFamily="18" charset="0"/>
                              </a:rPr>
                              <m:t>𝑠</m:t>
                            </m:r>
                          </m:e>
                          <m:sub>
                            <m:r>
                              <a:rPr lang="ar-AE" sz="1400" b="0" i="1">
                                <a:latin typeface="Cambria Math" panose="02040503050406030204" pitchFamily="18" charset="0"/>
                              </a:rPr>
                              <m:t>𝑛𝑒𝑤</m:t>
                            </m:r>
                          </m:sub>
                        </m:sSub>
                      </m:e>
                    </m:d>
                    <m:r>
                      <a:rPr lang="ar-AE" sz="1400" b="0" i="0">
                        <a:latin typeface="Cambria Math" panose="02040503050406030204" pitchFamily="18" charset="0"/>
                      </a:rPr>
                      <m:t>−</m:t>
                    </m:r>
                    <m:r>
                      <m:rPr>
                        <m:nor/>
                      </m:rPr>
                      <a:rPr lang="en-IN" sz="1400" b="0" i="1">
                        <a:latin typeface="Arial" panose="020B0604020202020204" pitchFamily="34" charset="0"/>
                        <a:cs typeface="Arial" panose="020B0604020202020204" pitchFamily="34" charset="0"/>
                      </a:rPr>
                      <m:t>cost</m:t>
                    </m:r>
                    <m:d>
                      <m:dPr>
                        <m:ctrlPr>
                          <a:rPr lang="ar-AE" sz="1400" b="0" i="1">
                            <a:latin typeface="Cambria Math" panose="02040503050406030204" pitchFamily="18" charset="0"/>
                          </a:rPr>
                        </m:ctrlPr>
                      </m:dPr>
                      <m:e>
                        <m:sSub>
                          <m:sSubPr>
                            <m:ctrlPr>
                              <a:rPr lang="ar-AE" sz="1400" b="0" i="1">
                                <a:latin typeface="Cambria Math" panose="02040503050406030204" pitchFamily="18" charset="0"/>
                              </a:rPr>
                            </m:ctrlPr>
                          </m:sSubPr>
                          <m:e>
                            <m:r>
                              <a:rPr lang="ar-AE" sz="1400" b="0" i="1">
                                <a:latin typeface="Cambria Math" panose="02040503050406030204" pitchFamily="18" charset="0"/>
                              </a:rPr>
                              <m:t>𝑠</m:t>
                            </m:r>
                          </m:e>
                          <m:sub>
                            <m:r>
                              <a:rPr lang="ar-AE" sz="1400" b="0" i="1">
                                <a:latin typeface="Cambria Math" panose="02040503050406030204" pitchFamily="18" charset="0"/>
                              </a:rPr>
                              <m:t>𝑐𝑢𝑟𝑟𝑒𝑛𝑡</m:t>
                            </m:r>
                          </m:sub>
                        </m:sSub>
                      </m:e>
                    </m:d>
                    <m:r>
                      <a:rPr lang="en-IN" sz="1400" i="1">
                        <a:latin typeface="Cambria Math" panose="02040503050406030204" pitchFamily="18" charset="0"/>
                      </a:rPr>
                      <m:t>   </m:t>
                    </m:r>
                  </m:oMath>
                </a14:m>
                <a:endParaRPr lang="en-IN" sz="1400" dirty="0">
                  <a:latin typeface="Arial" panose="020B0604020202020204" pitchFamily="34" charset="0"/>
                  <a:cs typeface="Arial" panose="020B0604020202020204" pitchFamily="34" charset="0"/>
                </a:endParaRPr>
              </a:p>
              <a:p>
                <a:r>
                  <a:rPr lang="en-IN" sz="1400" b="0" dirty="0">
                    <a:latin typeface="Arial" panose="020B0604020202020204" pitchFamily="34" charset="0"/>
                    <a:cs typeface="Arial" panose="020B0604020202020204" pitchFamily="34" charset="0"/>
                  </a:rPr>
                  <a:t>3)  If </a:t>
                </a:r>
                <a14:m>
                  <m:oMath xmlns:m="http://schemas.openxmlformats.org/officeDocument/2006/math">
                    <m:r>
                      <a:rPr lang="en-IN" sz="1400" i="1">
                        <a:latin typeface="Cambria Math" panose="02040503050406030204" pitchFamily="18" charset="0"/>
                      </a:rPr>
                      <m:t>𝛥</m:t>
                    </m:r>
                  </m:oMath>
                </a14:m>
                <a:r>
                  <a:rPr lang="en-IN" sz="1400" b="0" dirty="0">
                    <a:latin typeface="Arial" panose="020B0604020202020204" pitchFamily="34" charset="0"/>
                    <a:cs typeface="Arial" panose="020B0604020202020204" pitchFamily="34" charset="0"/>
                  </a:rPr>
                  <a:t>E is less than 0, then obtained a better solution.  If </a:t>
                </a:r>
                <a14:m>
                  <m:oMath xmlns:m="http://schemas.openxmlformats.org/officeDocument/2006/math">
                    <m:r>
                      <a:rPr lang="en-IN" sz="1400" i="1">
                        <a:latin typeface="Cambria Math" panose="02040503050406030204" pitchFamily="18" charset="0"/>
                      </a:rPr>
                      <m:t>𝛥</m:t>
                    </m:r>
                  </m:oMath>
                </a14:m>
                <a:r>
                  <a:rPr lang="en-IN" sz="1400" b="0" dirty="0">
                    <a:latin typeface="Arial" panose="020B0604020202020204" pitchFamily="34" charset="0"/>
                    <a:cs typeface="Arial" panose="020B0604020202020204" pitchFamily="34" charset="0"/>
                  </a:rPr>
                  <a:t>E is less than 0, then </a:t>
                </a:r>
                <a:r>
                  <a:rPr lang="en-IN" sz="1400" dirty="0">
                    <a:latin typeface="Arial" panose="020B0604020202020204" pitchFamily="34" charset="0"/>
                    <a:cs typeface="Arial" panose="020B0604020202020204" pitchFamily="34" charset="0"/>
                  </a:rPr>
                  <a:t>the move is accept</a:t>
                </a:r>
              </a:p>
              <a:p>
                <a:r>
                  <a:rPr lang="en-IN" sz="1400" dirty="0">
                    <a:latin typeface="Arial" panose="020B0604020202020204" pitchFamily="34" charset="0"/>
                    <a:cs typeface="Arial" panose="020B0604020202020204" pitchFamily="34" charset="0"/>
                  </a:rPr>
                  <a:t>ed with a probability determined by the Metropolis criterion:</a:t>
                </a:r>
                <a:br>
                  <a:rPr lang="en-IN" sz="1400" dirty="0">
                    <a:latin typeface="Arial" panose="020B0604020202020204" pitchFamily="34" charset="0"/>
                    <a:cs typeface="Arial" panose="020B0604020202020204" pitchFamily="34" charset="0"/>
                  </a:rPr>
                </a:br>
                <a14:m>
                  <m:oMath xmlns:m="http://schemas.openxmlformats.org/officeDocument/2006/math">
                    <m:r>
                      <a:rPr lang="en-IN" sz="1400" i="1">
                        <a:latin typeface="Cambria Math" panose="02040503050406030204" pitchFamily="18" charset="0"/>
                      </a:rPr>
                      <m:t>𝑃</m:t>
                    </m:r>
                    <m:d>
                      <m:dPr>
                        <m:ctrlPr>
                          <a:rPr lang="ar-AE" sz="1400" i="1">
                            <a:latin typeface="Cambria Math" panose="02040503050406030204" pitchFamily="18" charset="0"/>
                          </a:rPr>
                        </m:ctrlPr>
                      </m:dPr>
                      <m:e>
                        <m:r>
                          <m:rPr>
                            <m:nor/>
                          </m:rPr>
                          <a:rPr lang="en-IN" sz="1400" b="0" i="1">
                            <a:latin typeface="Arial" panose="020B0604020202020204" pitchFamily="34" charset="0"/>
                            <a:cs typeface="Arial" panose="020B0604020202020204" pitchFamily="34" charset="0"/>
                          </a:rPr>
                          <m:t>accept</m:t>
                        </m:r>
                      </m:e>
                    </m:d>
                    <m:r>
                      <a:rPr lang="ar-AE" sz="1400" b="0" i="0">
                        <a:latin typeface="Cambria Math" panose="02040503050406030204" pitchFamily="18" charset="0"/>
                      </a:rPr>
                      <m:t>=</m:t>
                    </m:r>
                    <m:sSup>
                      <m:sSupPr>
                        <m:ctrlPr>
                          <a:rPr lang="ar-AE" sz="1400" b="0" i="1">
                            <a:latin typeface="Cambria Math" panose="02040503050406030204" pitchFamily="18" charset="0"/>
                          </a:rPr>
                        </m:ctrlPr>
                      </m:sSupPr>
                      <m:e>
                        <m:r>
                          <a:rPr lang="ar-AE" sz="1400" b="0" i="1">
                            <a:latin typeface="Cambria Math" panose="02040503050406030204" pitchFamily="18" charset="0"/>
                          </a:rPr>
                          <m:t>𝑒</m:t>
                        </m:r>
                      </m:e>
                      <m:sup>
                        <m:r>
                          <a:rPr lang="ar-AE" sz="1400" b="0" i="0">
                            <a:latin typeface="Cambria Math" panose="02040503050406030204" pitchFamily="18" charset="0"/>
                          </a:rPr>
                          <m:t>−</m:t>
                        </m:r>
                        <m:r>
                          <a:rPr lang="ar-AE" sz="1400" b="0" i="1">
                            <a:latin typeface="Cambria Math" panose="02040503050406030204" pitchFamily="18" charset="0"/>
                          </a:rPr>
                          <m:t>𝛥</m:t>
                        </m:r>
                        <m:f>
                          <m:fPr>
                            <m:type m:val="lin"/>
                            <m:ctrlPr>
                              <a:rPr lang="ar-AE" sz="1400" b="0" i="1">
                                <a:latin typeface="Cambria Math" panose="02040503050406030204" pitchFamily="18" charset="0"/>
                              </a:rPr>
                            </m:ctrlPr>
                          </m:fPr>
                          <m:num>
                            <m:r>
                              <a:rPr lang="ar-AE" sz="1400" b="0" i="1">
                                <a:latin typeface="Cambria Math" panose="02040503050406030204" pitchFamily="18" charset="0"/>
                              </a:rPr>
                              <m:t>𝐸</m:t>
                            </m:r>
                          </m:num>
                          <m:den>
                            <m:r>
                              <a:rPr lang="ar-AE" sz="1400" b="0" i="1">
                                <a:latin typeface="Cambria Math" panose="02040503050406030204" pitchFamily="18" charset="0"/>
                              </a:rPr>
                              <m:t>𝑇</m:t>
                            </m:r>
                          </m:den>
                        </m:f>
                      </m:sup>
                    </m:sSup>
                  </m:oMath>
                </a14:m>
                <a:endParaRPr lang="el-GR" sz="1400" dirty="0">
                  <a:effectLst/>
                  <a:latin typeface="Arial" panose="020B0604020202020204" pitchFamily="34" charset="0"/>
                  <a:cs typeface="Arial" panose="020B0604020202020204" pitchFamily="34" charset="0"/>
                </a:endParaRPr>
              </a:p>
              <a:p>
                <a:r>
                  <a:rPr lang="en-IN" sz="1400" b="0" i="0" u="none" strike="noStrike" dirty="0">
                    <a:solidFill>
                      <a:srgbClr val="000000"/>
                    </a:solidFill>
                    <a:effectLst/>
                    <a:latin typeface="Arial" panose="020B0604020202020204" pitchFamily="34" charset="0"/>
                    <a:cs typeface="Arial" panose="020B0604020202020204" pitchFamily="34" charset="0"/>
                  </a:rPr>
                  <a:t>4) Decide to accept or reject: A random number </a:t>
                </a:r>
                <a:r>
                  <a:rPr lang="en-IN" sz="1400" dirty="0">
                    <a:solidFill>
                      <a:srgbClr val="000000"/>
                    </a:solidFill>
                    <a:latin typeface="Arial" panose="020B0604020202020204" pitchFamily="34" charset="0"/>
                    <a:cs typeface="Arial" panose="020B0604020202020204" pitchFamily="34" charset="0"/>
                  </a:rPr>
                  <a:t>u</a:t>
                </a:r>
                <a:r>
                  <a:rPr lang="en-IN" sz="1400" b="0" i="0" u="none" strike="noStrike" dirty="0">
                    <a:solidFill>
                      <a:srgbClr val="000000"/>
                    </a:solidFill>
                    <a:effectLst/>
                    <a:latin typeface="Arial" panose="020B0604020202020204" pitchFamily="34" charset="0"/>
                    <a:cs typeface="Arial" panose="020B0604020202020204" pitchFamily="34" charset="0"/>
                  </a:rPr>
                  <a:t> is drawn from a uniform distribution between 0 and 1. The move is accepted if </a:t>
                </a:r>
                <a:r>
                  <a:rPr lang="en-IN" sz="1400" dirty="0">
                    <a:solidFill>
                      <a:srgbClr val="000000"/>
                    </a:solidFill>
                    <a:latin typeface="Arial" panose="020B0604020202020204" pitchFamily="34" charset="0"/>
                    <a:cs typeface="Arial" panose="020B0604020202020204" pitchFamily="34" charset="0"/>
                  </a:rPr>
                  <a:t>u&lt;P(accept) </a:t>
                </a:r>
                <a:r>
                  <a:rPr lang="en-IN" sz="1400" b="0" i="0" u="none" strike="noStrike" dirty="0">
                    <a:solidFill>
                      <a:srgbClr val="000000"/>
                    </a:solidFill>
                    <a:effectLst/>
                    <a:latin typeface="Arial" panose="020B0604020202020204" pitchFamily="34" charset="0"/>
                    <a:cs typeface="Arial" panose="020B0604020202020204" pitchFamily="34" charset="0"/>
                  </a:rPr>
                  <a:t>and rejected otherwise. If the move is rejected, the algorithm remains at the current solution, and the process repeats. </a:t>
                </a:r>
              </a:p>
            </p:txBody>
          </p:sp>
        </mc:Choice>
        <mc:Fallback xmlns="">
          <p:sp>
            <p:nvSpPr>
              <p:cNvPr id="3" name="Content Placeholder 2">
                <a:extLst>
                  <a:ext uri="{FF2B5EF4-FFF2-40B4-BE49-F238E27FC236}">
                    <a16:creationId xmlns:a16="http://schemas.microsoft.com/office/drawing/2014/main" id="{5B7DE392-66AE-DEFD-C089-FC693543C434}"/>
                  </a:ext>
                </a:extLst>
              </p:cNvPr>
              <p:cNvSpPr>
                <a:spLocks noGrp="1" noRot="1" noChangeAspect="1" noMove="1" noResize="1" noEditPoints="1" noAdjustHandles="1" noChangeArrowheads="1" noChangeShapeType="1" noTextEdit="1"/>
              </p:cNvSpPr>
              <p:nvPr>
                <p:ph idx="1"/>
              </p:nvPr>
            </p:nvSpPr>
            <p:spPr>
              <a:xfrm>
                <a:off x="838200" y="1293121"/>
                <a:ext cx="11089640" cy="4939739"/>
              </a:xfrm>
              <a:blipFill>
                <a:blip r:embed="rId2"/>
                <a:stretch>
                  <a:fillRect l="-110" t="-617" r="-550" b="-10864"/>
                </a:stretch>
              </a:blipFill>
            </p:spPr>
            <p:txBody>
              <a:bodyPr/>
              <a:lstStyle/>
              <a:p>
                <a:r>
                  <a:rPr lang="en-IN">
                    <a:noFill/>
                  </a:rPr>
                  <a:t> </a:t>
                </a:r>
              </a:p>
            </p:txBody>
          </p:sp>
        </mc:Fallback>
      </mc:AlternateContent>
      <p:pic>
        <p:nvPicPr>
          <p:cNvPr id="14" name="Picture 13">
            <a:extLst>
              <a:ext uri="{FF2B5EF4-FFF2-40B4-BE49-F238E27FC236}">
                <a16:creationId xmlns:a16="http://schemas.microsoft.com/office/drawing/2014/main" id="{A495D906-1C75-BBDF-1E13-4DE63653F9F6}"/>
              </a:ext>
            </a:extLst>
          </p:cNvPr>
          <p:cNvPicPr>
            <a:picLocks noChangeAspect="1"/>
          </p:cNvPicPr>
          <p:nvPr/>
        </p:nvPicPr>
        <p:blipFill>
          <a:blip r:embed="rId3"/>
          <a:stretch>
            <a:fillRect/>
          </a:stretch>
        </p:blipFill>
        <p:spPr>
          <a:xfrm>
            <a:off x="6091237" y="3425731"/>
            <a:ext cx="9525" cy="9525"/>
          </a:xfrm>
          <a:prstGeom prst="rect">
            <a:avLst/>
          </a:prstGeom>
        </p:spPr>
      </p:pic>
      <p:pic>
        <p:nvPicPr>
          <p:cNvPr id="15" name="Picture 14">
            <a:extLst>
              <a:ext uri="{FF2B5EF4-FFF2-40B4-BE49-F238E27FC236}">
                <a16:creationId xmlns:a16="http://schemas.microsoft.com/office/drawing/2014/main" id="{65973856-47D5-1F6A-3EAB-1E2F2DE482E9}"/>
              </a:ext>
            </a:extLst>
          </p:cNvPr>
          <p:cNvPicPr>
            <a:picLocks noChangeAspect="1"/>
          </p:cNvPicPr>
          <p:nvPr/>
        </p:nvPicPr>
        <p:blipFill>
          <a:blip r:embed="rId3"/>
          <a:stretch>
            <a:fillRect/>
          </a:stretch>
        </p:blipFill>
        <p:spPr>
          <a:xfrm>
            <a:off x="6091237" y="3425731"/>
            <a:ext cx="9525" cy="9525"/>
          </a:xfrm>
          <a:prstGeom prst="rect">
            <a:avLst/>
          </a:prstGeom>
        </p:spPr>
      </p:pic>
    </p:spTree>
    <p:extLst>
      <p:ext uri="{BB962C8B-B14F-4D97-AF65-F5344CB8AC3E}">
        <p14:creationId xmlns:p14="http://schemas.microsoft.com/office/powerpoint/2010/main" val="19099971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4ABA1-90BD-41CE-CD7B-F1726B7C6CD4}"/>
              </a:ext>
            </a:extLst>
          </p:cNvPr>
          <p:cNvSpPr>
            <a:spLocks noGrp="1"/>
          </p:cNvSpPr>
          <p:nvPr>
            <p:ph type="title"/>
          </p:nvPr>
        </p:nvSpPr>
        <p:spPr/>
        <p:txBody>
          <a:bodyPr>
            <a:normAutofit/>
          </a:bodyPr>
          <a:lstStyle/>
          <a:p>
            <a:r>
              <a:rPr lang="en-IN" sz="3600" b="1" dirty="0"/>
              <a:t>Implementation Details (Neighbourhood &amp; Cost)</a:t>
            </a:r>
            <a:endParaRPr lang="en-US" sz="3600" b="1" dirty="0"/>
          </a:p>
        </p:txBody>
      </p:sp>
      <p:sp>
        <p:nvSpPr>
          <p:cNvPr id="3" name="Content Placeholder 2">
            <a:extLst>
              <a:ext uri="{FF2B5EF4-FFF2-40B4-BE49-F238E27FC236}">
                <a16:creationId xmlns:a16="http://schemas.microsoft.com/office/drawing/2014/main" id="{58B31B64-C766-684E-F281-AFC1AC67ED44}"/>
              </a:ext>
            </a:extLst>
          </p:cNvPr>
          <p:cNvSpPr>
            <a:spLocks noGrp="1"/>
          </p:cNvSpPr>
          <p:nvPr>
            <p:ph idx="1"/>
          </p:nvPr>
        </p:nvSpPr>
        <p:spPr/>
        <p:txBody>
          <a:bodyPr/>
          <a:lstStyle/>
          <a:p>
            <a:pPr rtl="0"/>
            <a:r>
              <a:rPr lang="en-IN" sz="1800" b="1" i="0" u="none" strike="noStrike" dirty="0">
                <a:solidFill>
                  <a:srgbClr val="1B1C1D"/>
                </a:solidFill>
                <a:effectLst/>
                <a:latin typeface="Google Sans Text"/>
              </a:rPr>
              <a:t>Shared Components (Hill Climbing &amp; SA):</a:t>
            </a:r>
            <a:endParaRPr lang="en-IN" dirty="0">
              <a:effectLst/>
            </a:endParaRPr>
          </a:p>
          <a:p>
            <a:pPr rtl="0" fontAlgn="base"/>
            <a:r>
              <a:rPr lang="en-IN" sz="1800" b="1" i="0" u="none" strike="noStrike" dirty="0">
                <a:solidFill>
                  <a:srgbClr val="1B1C1D"/>
                </a:solidFill>
                <a:effectLst/>
                <a:latin typeface="Google Sans Text"/>
              </a:rPr>
              <a:t>State Representation:</a:t>
            </a:r>
            <a:r>
              <a:rPr lang="en-IN" sz="1800" b="0" i="0" u="none" strike="noStrike" dirty="0">
                <a:solidFill>
                  <a:srgbClr val="1B1C1D"/>
                </a:solidFill>
                <a:effectLst/>
                <a:latin typeface="Google Sans Text"/>
              </a:rPr>
              <a:t> A permutation of the cities (e.g., [6, 3, 4, 0, 2, 5, 8, 1, 9, 7]).</a:t>
            </a:r>
            <a:endParaRPr lang="en-IN" sz="1800" b="0" i="0" u="none" strike="noStrike" dirty="0">
              <a:solidFill>
                <a:srgbClr val="000000"/>
              </a:solidFill>
              <a:effectLst/>
              <a:latin typeface="Arial" panose="020B0604020202020204" pitchFamily="34" charset="0"/>
            </a:endParaRPr>
          </a:p>
          <a:p>
            <a:pPr rtl="0" fontAlgn="base"/>
            <a:r>
              <a:rPr lang="en-IN" sz="1800" b="1" i="0" u="none" strike="noStrike" dirty="0" err="1">
                <a:solidFill>
                  <a:srgbClr val="1B1C1D"/>
                </a:solidFill>
                <a:effectLst/>
                <a:latin typeface="Google Sans Text"/>
              </a:rPr>
              <a:t>Neighborhood</a:t>
            </a:r>
            <a:r>
              <a:rPr lang="en-IN" sz="1800" b="1" i="0" u="none" strike="noStrike" dirty="0">
                <a:solidFill>
                  <a:srgbClr val="1B1C1D"/>
                </a:solidFill>
                <a:effectLst/>
                <a:latin typeface="Google Sans Text"/>
              </a:rPr>
              <a:t> Search:</a:t>
            </a:r>
            <a:r>
              <a:rPr lang="en-IN" sz="1800" b="0" i="0" u="none" strike="noStrike" dirty="0">
                <a:solidFill>
                  <a:srgbClr val="1B1C1D"/>
                </a:solidFill>
                <a:effectLst/>
                <a:latin typeface="Google Sans Text"/>
              </a:rPr>
              <a:t> A </a:t>
            </a:r>
            <a:r>
              <a:rPr lang="en-IN" sz="1800" b="0" i="0" u="none" strike="noStrike" dirty="0" err="1">
                <a:solidFill>
                  <a:srgbClr val="1B1C1D"/>
                </a:solidFill>
                <a:effectLst/>
                <a:latin typeface="Google Sans Text"/>
              </a:rPr>
              <a:t>neighbor</a:t>
            </a:r>
            <a:r>
              <a:rPr lang="en-IN" sz="1800" b="0" i="0" u="none" strike="noStrike" dirty="0">
                <a:solidFill>
                  <a:srgbClr val="1B1C1D"/>
                </a:solidFill>
                <a:effectLst/>
                <a:latin typeface="Google Sans Text"/>
              </a:rPr>
              <a:t> is generated by a simple </a:t>
            </a:r>
            <a:r>
              <a:rPr lang="en-IN" sz="1800" b="1" i="0" u="none" strike="noStrike" dirty="0">
                <a:solidFill>
                  <a:srgbClr val="1B1C1D"/>
                </a:solidFill>
                <a:effectLst/>
                <a:latin typeface="Google Sans Text"/>
              </a:rPr>
              <a:t>2-swap</a:t>
            </a:r>
            <a:r>
              <a:rPr lang="en-IN" sz="1800" b="0" i="0" u="none" strike="noStrike" dirty="0">
                <a:solidFill>
                  <a:srgbClr val="1B1C1D"/>
                </a:solidFill>
                <a:effectLst/>
                <a:latin typeface="Google Sans Text"/>
              </a:rPr>
              <a:t> operation: two random cities in the current route are swapped.</a:t>
            </a:r>
            <a:endParaRPr lang="en-IN" sz="1800" b="0" i="0" u="none" strike="noStrike" dirty="0">
              <a:solidFill>
                <a:srgbClr val="000000"/>
              </a:solidFill>
              <a:effectLst/>
              <a:latin typeface="Arial" panose="020B0604020202020204" pitchFamily="34" charset="0"/>
            </a:endParaRPr>
          </a:p>
          <a:p>
            <a:pPr rtl="0" fontAlgn="base"/>
            <a:r>
              <a:rPr lang="en-IN" sz="1800" b="1" i="0" u="none" strike="noStrike" dirty="0">
                <a:solidFill>
                  <a:srgbClr val="1B1C1D"/>
                </a:solidFill>
                <a:effectLst/>
                <a:latin typeface="Google Sans Text"/>
              </a:rPr>
              <a:t>Cost Function (</a:t>
            </a:r>
            <a:r>
              <a:rPr lang="en-IN" sz="1800" b="1" i="0" u="none" strike="noStrike" dirty="0" err="1">
                <a:solidFill>
                  <a:srgbClr val="1B1C1D"/>
                </a:solidFill>
                <a:effectLst/>
                <a:latin typeface="Google Sans Text"/>
              </a:rPr>
              <a:t>route_length</a:t>
            </a:r>
            <a:r>
              <a:rPr lang="en-IN" sz="1800" b="1" i="0" u="none" strike="noStrike" dirty="0">
                <a:solidFill>
                  <a:srgbClr val="1B1C1D"/>
                </a:solidFill>
                <a:effectLst/>
                <a:latin typeface="Google Sans Text"/>
              </a:rPr>
              <a:t>):</a:t>
            </a:r>
            <a:r>
              <a:rPr lang="en-IN" sz="1800" b="0" i="0" u="none" strike="noStrike" dirty="0">
                <a:solidFill>
                  <a:srgbClr val="1B1C1D"/>
                </a:solidFill>
                <a:effectLst/>
                <a:latin typeface="Google Sans Text"/>
              </a:rPr>
              <a:t> Calculates the total cost of a route (sum of edge weights, including the final return to the start). Returns float('</a:t>
            </a:r>
            <a:r>
              <a:rPr lang="en-IN" sz="1800" b="0" i="0" u="none" strike="noStrike" dirty="0" err="1">
                <a:solidFill>
                  <a:srgbClr val="1B1C1D"/>
                </a:solidFill>
                <a:effectLst/>
                <a:latin typeface="Google Sans Text"/>
              </a:rPr>
              <a:t>inf</a:t>
            </a:r>
            <a:r>
              <a:rPr lang="en-IN" sz="1800" b="0" i="0" u="none" strike="noStrike" dirty="0">
                <a:solidFill>
                  <a:srgbClr val="1B1C1D"/>
                </a:solidFill>
                <a:effectLst/>
                <a:latin typeface="Google Sans Text"/>
              </a:rPr>
              <a:t>') if an edge does not exist.</a:t>
            </a:r>
            <a:endParaRPr lang="en-IN" sz="1800" b="0" i="0" u="none" strike="noStrike" dirty="0">
              <a:solidFill>
                <a:srgbClr val="000000"/>
              </a:solidFill>
              <a:effectLst/>
              <a:latin typeface="Arial" panose="020B0604020202020204" pitchFamily="34" charset="0"/>
            </a:endParaRPr>
          </a:p>
          <a:p>
            <a:pPr rtl="0"/>
            <a:r>
              <a:rPr lang="en-IN" sz="1800" b="1" i="0" u="none" strike="noStrike" dirty="0">
                <a:solidFill>
                  <a:srgbClr val="1B1C1D"/>
                </a:solidFill>
                <a:effectLst/>
                <a:latin typeface="Google Sans Text"/>
              </a:rPr>
              <a:t>Simulated Annealing (SA) Logic:</a:t>
            </a:r>
            <a:endParaRPr lang="en-IN" dirty="0">
              <a:effectLst/>
            </a:endParaRPr>
          </a:p>
          <a:p>
            <a:pPr rtl="0" fontAlgn="base"/>
            <a:r>
              <a:rPr lang="en-IN" sz="1800" b="1" i="0" u="none" strike="noStrike" dirty="0">
                <a:solidFill>
                  <a:srgbClr val="1B1C1D"/>
                </a:solidFill>
                <a:effectLst/>
                <a:latin typeface="Google Sans Text"/>
              </a:rPr>
              <a:t>Initial Temperature ():</a:t>
            </a:r>
            <a:r>
              <a:rPr lang="en-IN" sz="1800" b="0" i="0" u="none" strike="noStrike" dirty="0">
                <a:solidFill>
                  <a:srgbClr val="1B1C1D"/>
                </a:solidFill>
                <a:effectLst/>
                <a:latin typeface="Google Sans Text"/>
              </a:rPr>
              <a:t>  (High initial freedom to explore).</a:t>
            </a:r>
            <a:endParaRPr lang="en-IN" sz="1800" b="0" i="0" u="none" strike="noStrike" dirty="0">
              <a:solidFill>
                <a:srgbClr val="000000"/>
              </a:solidFill>
              <a:effectLst/>
              <a:latin typeface="Arial" panose="020B0604020202020204" pitchFamily="34" charset="0"/>
            </a:endParaRPr>
          </a:p>
          <a:p>
            <a:pPr rtl="0" fontAlgn="base"/>
            <a:r>
              <a:rPr lang="en-IN" sz="1800" b="1" i="0" u="none" strike="noStrike" dirty="0">
                <a:solidFill>
                  <a:srgbClr val="1B1C1D"/>
                </a:solidFill>
                <a:effectLst/>
                <a:latin typeface="Google Sans Text"/>
              </a:rPr>
              <a:t>Cooling Rate ():</a:t>
            </a:r>
            <a:r>
              <a:rPr lang="en-IN" sz="1800" b="0" i="0" u="none" strike="noStrike" dirty="0">
                <a:solidFill>
                  <a:srgbClr val="1B1C1D"/>
                </a:solidFill>
                <a:effectLst/>
                <a:latin typeface="Google Sans Text"/>
              </a:rPr>
              <a:t>  (Controls how fast the system settles).</a:t>
            </a:r>
            <a:endParaRPr lang="en-IN" sz="1800" b="0" i="0" u="none" strike="noStrike" dirty="0">
              <a:solidFill>
                <a:srgbClr val="000000"/>
              </a:solidFill>
              <a:effectLst/>
              <a:latin typeface="Arial" panose="020B0604020202020204" pitchFamily="34" charset="0"/>
            </a:endParaRPr>
          </a:p>
          <a:p>
            <a:pPr rtl="0" fontAlgn="base"/>
            <a:r>
              <a:rPr lang="en-IN" sz="1800" b="1" i="0" u="none" strike="noStrike" dirty="0">
                <a:solidFill>
                  <a:srgbClr val="1B1C1D"/>
                </a:solidFill>
                <a:effectLst/>
                <a:latin typeface="Google Sans Text"/>
              </a:rPr>
              <a:t>Acceptance Probability:</a:t>
            </a:r>
            <a:r>
              <a:rPr lang="en-IN" sz="1800" b="0" i="0" u="none" strike="noStrike" dirty="0">
                <a:solidFill>
                  <a:srgbClr val="1B1C1D"/>
                </a:solidFill>
                <a:effectLst/>
                <a:latin typeface="Google Sans Text"/>
              </a:rPr>
              <a:t> A worse route is accepted if . This allows for exploration of the state space, a key difference from Hill Climbing.</a:t>
            </a:r>
          </a:p>
          <a:p>
            <a:pPr rtl="0" fontAlgn="base"/>
            <a:endParaRPr lang="en-IN" sz="1800" b="0" i="0" u="none" strike="noStrike" dirty="0">
              <a:solidFill>
                <a:srgbClr val="000000"/>
              </a:solidFill>
              <a:effectLst/>
              <a:latin typeface="Arial" panose="020B0604020202020204" pitchFamily="34" charset="0"/>
            </a:endParaRPr>
          </a:p>
        </p:txBody>
      </p:sp>
    </p:spTree>
    <p:extLst>
      <p:ext uri="{BB962C8B-B14F-4D97-AF65-F5344CB8AC3E}">
        <p14:creationId xmlns:p14="http://schemas.microsoft.com/office/powerpoint/2010/main" val="26303664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024657-4873-0E48-3CE7-F237C4AA6709}"/>
              </a:ext>
            </a:extLst>
          </p:cNvPr>
          <p:cNvSpPr>
            <a:spLocks noGrp="1"/>
          </p:cNvSpPr>
          <p:nvPr>
            <p:ph type="title"/>
          </p:nvPr>
        </p:nvSpPr>
        <p:spPr>
          <a:xfrm>
            <a:off x="838200" y="432059"/>
            <a:ext cx="10515600" cy="1325563"/>
          </a:xfrm>
        </p:spPr>
        <p:txBody>
          <a:bodyPr>
            <a:normAutofit/>
          </a:bodyPr>
          <a:lstStyle/>
          <a:p>
            <a:r>
              <a:rPr lang="en-IN" sz="3600" b="1" dirty="0"/>
              <a:t>Output</a:t>
            </a:r>
            <a:r>
              <a:rPr lang="en-IN" sz="3600" dirty="0"/>
              <a:t> &amp; </a:t>
            </a:r>
            <a:r>
              <a:rPr lang="en-IN" sz="3600" b="1" dirty="0"/>
              <a:t>Comparison</a:t>
            </a:r>
            <a:endParaRPr lang="en-US" sz="3600" b="1" dirty="0"/>
          </a:p>
        </p:txBody>
      </p:sp>
      <p:sp>
        <p:nvSpPr>
          <p:cNvPr id="3" name="Content Placeholder 2">
            <a:extLst>
              <a:ext uri="{FF2B5EF4-FFF2-40B4-BE49-F238E27FC236}">
                <a16:creationId xmlns:a16="http://schemas.microsoft.com/office/drawing/2014/main" id="{CAFE899C-50E9-855D-2226-1C1ED312824E}"/>
              </a:ext>
            </a:extLst>
          </p:cNvPr>
          <p:cNvSpPr>
            <a:spLocks noGrp="1"/>
          </p:cNvSpPr>
          <p:nvPr>
            <p:ph idx="1"/>
          </p:nvPr>
        </p:nvSpPr>
        <p:spPr>
          <a:xfrm>
            <a:off x="838200" y="1825625"/>
            <a:ext cx="5257800" cy="4351338"/>
          </a:xfrm>
        </p:spPr>
        <p:txBody>
          <a:bodyPr/>
          <a:lstStyle/>
          <a:p>
            <a:pPr marL="0" indent="0">
              <a:buNone/>
            </a:pPr>
            <a:r>
              <a:rPr lang="en-IN" sz="1800" b="1" i="0" u="none" strike="noStrike" dirty="0">
                <a:solidFill>
                  <a:srgbClr val="1B1C1D"/>
                </a:solidFill>
                <a:effectLst/>
                <a:latin typeface="Google Sans Text"/>
              </a:rPr>
              <a:t>Input:</a:t>
            </a:r>
            <a:r>
              <a:rPr lang="en-IN" sz="1800" b="0" i="0" u="none" strike="noStrike" dirty="0">
                <a:solidFill>
                  <a:srgbClr val="1B1C1D"/>
                </a:solidFill>
                <a:effectLst/>
                <a:latin typeface="Google Sans Text"/>
              </a:rPr>
              <a:t> A graph with </a:t>
            </a:r>
            <a:r>
              <a:rPr lang="en-IN" sz="1800" b="1" i="0" u="none" strike="noStrike" dirty="0">
                <a:solidFill>
                  <a:srgbClr val="1B1C1D"/>
                </a:solidFill>
                <a:effectLst/>
                <a:latin typeface="Google Sans Text"/>
              </a:rPr>
              <a:t>10 cities</a:t>
            </a:r>
            <a:r>
              <a:rPr lang="en-IN" sz="1800" b="0" i="0" u="none" strike="noStrike" dirty="0">
                <a:solidFill>
                  <a:srgbClr val="1B1C1D"/>
                </a:solidFill>
                <a:effectLst/>
                <a:latin typeface="Google Sans Text"/>
              </a:rPr>
              <a:t> () and multiple weighted edges.</a:t>
            </a:r>
          </a:p>
          <a:p>
            <a:pPr marL="0" indent="0">
              <a:buNone/>
            </a:pPr>
            <a:endParaRPr lang="en-IN" sz="1800" dirty="0">
              <a:solidFill>
                <a:srgbClr val="1B1C1D"/>
              </a:solidFill>
              <a:latin typeface="Google Sans Text"/>
            </a:endParaRPr>
          </a:p>
          <a:p>
            <a:pPr marL="0" indent="0">
              <a:buNone/>
            </a:pPr>
            <a:endParaRPr lang="en-IN" sz="1800" dirty="0">
              <a:solidFill>
                <a:srgbClr val="1B1C1D"/>
              </a:solidFill>
              <a:latin typeface="Google Sans Text"/>
            </a:endParaRPr>
          </a:p>
          <a:p>
            <a:pPr marL="0" indent="0">
              <a:buNone/>
            </a:pPr>
            <a:endParaRPr lang="en-IN" sz="1800" dirty="0">
              <a:solidFill>
                <a:srgbClr val="1B1C1D"/>
              </a:solidFill>
              <a:latin typeface="Google Sans Text"/>
            </a:endParaRPr>
          </a:p>
        </p:txBody>
      </p:sp>
      <p:sp>
        <p:nvSpPr>
          <p:cNvPr id="6" name="TextBox 5">
            <a:extLst>
              <a:ext uri="{FF2B5EF4-FFF2-40B4-BE49-F238E27FC236}">
                <a16:creationId xmlns:a16="http://schemas.microsoft.com/office/drawing/2014/main" id="{DDE1EC14-5F67-BF62-4752-BBEFE78F0830}"/>
              </a:ext>
            </a:extLst>
          </p:cNvPr>
          <p:cNvSpPr txBox="1"/>
          <p:nvPr/>
        </p:nvSpPr>
        <p:spPr>
          <a:xfrm>
            <a:off x="6417707" y="1825625"/>
            <a:ext cx="1676400" cy="1200329"/>
          </a:xfrm>
          <a:prstGeom prst="rect">
            <a:avLst/>
          </a:prstGeom>
          <a:noFill/>
        </p:spPr>
        <p:txBody>
          <a:bodyPr wrap="square" rtlCol="0">
            <a:spAutoFit/>
          </a:bodyPr>
          <a:lstStyle/>
          <a:p>
            <a:r>
              <a:rPr lang="en-IN" b="1" dirty="0">
                <a:solidFill>
                  <a:srgbClr val="1B1C1D"/>
                </a:solidFill>
                <a:latin typeface="Google Sans Text"/>
              </a:rPr>
              <a:t>Output:</a:t>
            </a:r>
          </a:p>
          <a:p>
            <a:endParaRPr lang="en-IN" b="1" dirty="0">
              <a:solidFill>
                <a:srgbClr val="1B1C1D"/>
              </a:solidFill>
              <a:latin typeface="Google Sans Text"/>
            </a:endParaRPr>
          </a:p>
          <a:p>
            <a:endParaRPr lang="en-IN" b="1" dirty="0">
              <a:solidFill>
                <a:srgbClr val="1B1C1D"/>
              </a:solidFill>
              <a:latin typeface="Google Sans Text"/>
            </a:endParaRPr>
          </a:p>
          <a:p>
            <a:endParaRPr lang="en-IN" dirty="0"/>
          </a:p>
        </p:txBody>
      </p:sp>
      <p:graphicFrame>
        <p:nvGraphicFramePr>
          <p:cNvPr id="7" name="Table 6">
            <a:extLst>
              <a:ext uri="{FF2B5EF4-FFF2-40B4-BE49-F238E27FC236}">
                <a16:creationId xmlns:a16="http://schemas.microsoft.com/office/drawing/2014/main" id="{600E17A0-7911-7588-EF47-A87A1D0E459E}"/>
              </a:ext>
            </a:extLst>
          </p:cNvPr>
          <p:cNvGraphicFramePr/>
          <p:nvPr>
            <p:extLst>
              <p:ext uri="{D42A27DB-BD31-4B8C-83A1-F6EECF244321}">
                <p14:modId xmlns:p14="http://schemas.microsoft.com/office/powerpoint/2010/main" val="3609465930"/>
              </p:ext>
            </p:extLst>
          </p:nvPr>
        </p:nvGraphicFramePr>
        <p:xfrm>
          <a:off x="6095999" y="2935942"/>
          <a:ext cx="5902960" cy="2560320"/>
        </p:xfrm>
        <a:graphic>
          <a:graphicData uri="http://schemas.openxmlformats.org/drawingml/2006/table">
            <a:tbl>
              <a:tblPr>
                <a:tableStyleId>{5C22544A-7EE6-4342-B048-85BDC9FD1C3A}</a:tableStyleId>
              </a:tblPr>
              <a:tblGrid>
                <a:gridCol w="1475740">
                  <a:extLst>
                    <a:ext uri="{9D8B030D-6E8A-4147-A177-3AD203B41FA5}">
                      <a16:colId xmlns:a16="http://schemas.microsoft.com/office/drawing/2014/main" val="3993810788"/>
                    </a:ext>
                  </a:extLst>
                </a:gridCol>
                <a:gridCol w="1475740">
                  <a:extLst>
                    <a:ext uri="{9D8B030D-6E8A-4147-A177-3AD203B41FA5}">
                      <a16:colId xmlns:a16="http://schemas.microsoft.com/office/drawing/2014/main" val="1516987432"/>
                    </a:ext>
                  </a:extLst>
                </a:gridCol>
                <a:gridCol w="1475740">
                  <a:extLst>
                    <a:ext uri="{9D8B030D-6E8A-4147-A177-3AD203B41FA5}">
                      <a16:colId xmlns:a16="http://schemas.microsoft.com/office/drawing/2014/main" val="3474605076"/>
                    </a:ext>
                  </a:extLst>
                </a:gridCol>
                <a:gridCol w="1475740">
                  <a:extLst>
                    <a:ext uri="{9D8B030D-6E8A-4147-A177-3AD203B41FA5}">
                      <a16:colId xmlns:a16="http://schemas.microsoft.com/office/drawing/2014/main" val="1264677995"/>
                    </a:ext>
                  </a:extLst>
                </a:gridCol>
              </a:tblGrid>
              <a:tr h="513678">
                <a:tc>
                  <a:txBody>
                    <a:bodyPr/>
                    <a:lstStyle/>
                    <a:p>
                      <a:pPr rtl="0" fontAlgn="t">
                        <a:spcBef>
                          <a:spcPts val="600"/>
                        </a:spcBef>
                        <a:spcAft>
                          <a:spcPts val="600"/>
                        </a:spcAft>
                        <a:buNone/>
                      </a:pPr>
                      <a:r>
                        <a:rPr lang="en-IN" sz="1600" u="none" strike="noStrike" dirty="0">
                          <a:effectLst/>
                        </a:rPr>
                        <a:t>Algorithm</a:t>
                      </a:r>
                      <a:endParaRPr lang="en-IN" sz="1600" dirty="0">
                        <a:effectLst/>
                      </a:endParaRPr>
                    </a:p>
                  </a:txBody>
                  <a:tcPr marL="114300" marR="114300" marT="76200" marB="76200"/>
                </a:tc>
                <a:tc>
                  <a:txBody>
                    <a:bodyPr/>
                    <a:lstStyle/>
                    <a:p>
                      <a:pPr rtl="0" fontAlgn="t">
                        <a:spcBef>
                          <a:spcPts val="600"/>
                        </a:spcBef>
                        <a:spcAft>
                          <a:spcPts val="600"/>
                        </a:spcAft>
                        <a:buNone/>
                      </a:pPr>
                      <a:r>
                        <a:rPr lang="en-IN" sz="1600" u="none" strike="noStrike" dirty="0">
                          <a:effectLst/>
                        </a:rPr>
                        <a:t>Max Iterations</a:t>
                      </a:r>
                      <a:endParaRPr lang="en-IN" sz="1600" dirty="0">
                        <a:effectLst/>
                      </a:endParaRPr>
                    </a:p>
                  </a:txBody>
                  <a:tcPr marL="114300" marR="114300" marT="76200" marB="76200"/>
                </a:tc>
                <a:tc>
                  <a:txBody>
                    <a:bodyPr/>
                    <a:lstStyle/>
                    <a:p>
                      <a:pPr rtl="0" fontAlgn="t">
                        <a:spcBef>
                          <a:spcPts val="600"/>
                        </a:spcBef>
                        <a:spcAft>
                          <a:spcPts val="600"/>
                        </a:spcAft>
                        <a:buNone/>
                      </a:pPr>
                      <a:r>
                        <a:rPr lang="en-IN" sz="1600" u="none" strike="noStrike" dirty="0">
                          <a:effectLst/>
                        </a:rPr>
                        <a:t>Best Route (Example)</a:t>
                      </a:r>
                      <a:endParaRPr lang="en-IN" sz="1600" dirty="0">
                        <a:effectLst/>
                      </a:endParaRPr>
                    </a:p>
                  </a:txBody>
                  <a:tcPr marL="114300" marR="114300" marT="76200" marB="76200"/>
                </a:tc>
                <a:tc>
                  <a:txBody>
                    <a:bodyPr/>
                    <a:lstStyle/>
                    <a:p>
                      <a:pPr rtl="0" fontAlgn="t">
                        <a:spcBef>
                          <a:spcPts val="600"/>
                        </a:spcBef>
                        <a:spcAft>
                          <a:spcPts val="600"/>
                        </a:spcAft>
                        <a:buNone/>
                      </a:pPr>
                      <a:r>
                        <a:rPr lang="en-IN" sz="1600" u="none" strike="noStrike">
                          <a:effectLst/>
                        </a:rPr>
                        <a:t>Best Cost</a:t>
                      </a:r>
                      <a:endParaRPr lang="en-IN" sz="1600">
                        <a:effectLst/>
                      </a:endParaRPr>
                    </a:p>
                  </a:txBody>
                  <a:tcPr marL="114300" marR="114300" marT="76200" marB="76200"/>
                </a:tc>
                <a:extLst>
                  <a:ext uri="{0D108BD9-81ED-4DB2-BD59-A6C34878D82A}">
                    <a16:rowId xmlns:a16="http://schemas.microsoft.com/office/drawing/2014/main" val="113002469"/>
                  </a:ext>
                </a:extLst>
              </a:tr>
              <a:tr h="513678">
                <a:tc>
                  <a:txBody>
                    <a:bodyPr/>
                    <a:lstStyle/>
                    <a:p>
                      <a:pPr rtl="0" fontAlgn="t">
                        <a:spcBef>
                          <a:spcPts val="600"/>
                        </a:spcBef>
                        <a:spcAft>
                          <a:spcPts val="600"/>
                        </a:spcAft>
                        <a:buNone/>
                      </a:pPr>
                      <a:r>
                        <a:rPr lang="en-IN" sz="1600" u="none" strike="noStrike">
                          <a:effectLst/>
                        </a:rPr>
                        <a:t>Hill Climbing</a:t>
                      </a:r>
                      <a:endParaRPr lang="en-IN" sz="1600">
                        <a:effectLst/>
                      </a:endParaRPr>
                    </a:p>
                  </a:txBody>
                  <a:tcPr marL="114300" marR="114300" marT="76200" marB="76200"/>
                </a:tc>
                <a:tc>
                  <a:txBody>
                    <a:bodyPr/>
                    <a:lstStyle/>
                    <a:p>
                      <a:pPr rtl="0" fontAlgn="t">
                        <a:spcBef>
                          <a:spcPts val="600"/>
                        </a:spcBef>
                        <a:spcAft>
                          <a:spcPts val="600"/>
                        </a:spcAft>
                        <a:buNone/>
                      </a:pPr>
                      <a:r>
                        <a:rPr lang="en-IN" sz="1600" u="none" strike="noStrike" dirty="0">
                          <a:effectLst/>
                        </a:rPr>
                        <a:t>100,000</a:t>
                      </a:r>
                      <a:endParaRPr lang="en-IN" sz="1600" dirty="0">
                        <a:effectLst/>
                      </a:endParaRPr>
                    </a:p>
                  </a:txBody>
                  <a:tcPr marL="114300" marR="114300" marT="76200" marB="76200"/>
                </a:tc>
                <a:tc>
                  <a:txBody>
                    <a:bodyPr/>
                    <a:lstStyle/>
                    <a:p>
                      <a:pPr rtl="0" fontAlgn="t">
                        <a:spcBef>
                          <a:spcPts val="600"/>
                        </a:spcBef>
                        <a:spcAft>
                          <a:spcPts val="600"/>
                        </a:spcAft>
                        <a:buNone/>
                      </a:pPr>
                      <a:r>
                        <a:rPr lang="en-IN" sz="1600" u="none" strike="noStrike" dirty="0">
                          <a:effectLst/>
                        </a:rPr>
                        <a:t>[6, 3, 4, 0, 2, 5, 8, 1, 9, 7, 6]</a:t>
                      </a:r>
                      <a:endParaRPr lang="en-IN" sz="1600" dirty="0">
                        <a:effectLst/>
                      </a:endParaRPr>
                    </a:p>
                  </a:txBody>
                  <a:tcPr marL="114300" marR="114300" marT="76200" marB="76200"/>
                </a:tc>
                <a:tc>
                  <a:txBody>
                    <a:bodyPr/>
                    <a:lstStyle/>
                    <a:p>
                      <a:pPr rtl="0" fontAlgn="t">
                        <a:spcBef>
                          <a:spcPts val="600"/>
                        </a:spcBef>
                        <a:spcAft>
                          <a:spcPts val="600"/>
                        </a:spcAft>
                        <a:buNone/>
                      </a:pPr>
                      <a:r>
                        <a:rPr lang="en-IN" sz="1600" u="none" strike="noStrike" dirty="0">
                          <a:effectLst/>
                        </a:rPr>
                        <a:t>160</a:t>
                      </a:r>
                      <a:endParaRPr lang="en-IN" sz="1600" dirty="0">
                        <a:effectLst/>
                      </a:endParaRPr>
                    </a:p>
                  </a:txBody>
                  <a:tcPr marL="114300" marR="114300" marT="76200" marB="76200"/>
                </a:tc>
                <a:extLst>
                  <a:ext uri="{0D108BD9-81ED-4DB2-BD59-A6C34878D82A}">
                    <a16:rowId xmlns:a16="http://schemas.microsoft.com/office/drawing/2014/main" val="2531576757"/>
                  </a:ext>
                </a:extLst>
              </a:tr>
              <a:tr h="513678">
                <a:tc>
                  <a:txBody>
                    <a:bodyPr/>
                    <a:lstStyle/>
                    <a:p>
                      <a:pPr rtl="0" fontAlgn="t">
                        <a:spcBef>
                          <a:spcPts val="600"/>
                        </a:spcBef>
                        <a:spcAft>
                          <a:spcPts val="600"/>
                        </a:spcAft>
                        <a:buNone/>
                      </a:pPr>
                      <a:r>
                        <a:rPr lang="en-IN" sz="1600" u="none" strike="noStrike">
                          <a:effectLst/>
                        </a:rPr>
                        <a:t>Simulated Annealing</a:t>
                      </a:r>
                      <a:endParaRPr lang="en-IN" sz="1600">
                        <a:effectLst/>
                      </a:endParaRPr>
                    </a:p>
                  </a:txBody>
                  <a:tcPr marL="114300" marR="114300" marT="76200" marB="76200"/>
                </a:tc>
                <a:tc>
                  <a:txBody>
                    <a:bodyPr/>
                    <a:lstStyle/>
                    <a:p>
                      <a:pPr rtl="0" fontAlgn="t">
                        <a:spcBef>
                          <a:spcPts val="600"/>
                        </a:spcBef>
                        <a:spcAft>
                          <a:spcPts val="600"/>
                        </a:spcAft>
                        <a:buNone/>
                      </a:pPr>
                      <a:r>
                        <a:rPr lang="en-IN" sz="1600" u="none" strike="noStrike" dirty="0">
                          <a:effectLst/>
                        </a:rPr>
                        <a:t>100,000</a:t>
                      </a:r>
                      <a:endParaRPr lang="en-IN" sz="1600" dirty="0">
                        <a:effectLst/>
                      </a:endParaRPr>
                    </a:p>
                  </a:txBody>
                  <a:tcPr marL="114300" marR="114300" marT="76200" marB="76200"/>
                </a:tc>
                <a:tc>
                  <a:txBody>
                    <a:bodyPr/>
                    <a:lstStyle/>
                    <a:p>
                      <a:pPr rtl="0" fontAlgn="t">
                        <a:spcBef>
                          <a:spcPts val="600"/>
                        </a:spcBef>
                        <a:spcAft>
                          <a:spcPts val="600"/>
                        </a:spcAft>
                        <a:buNone/>
                      </a:pPr>
                      <a:r>
                        <a:rPr lang="en-IN" sz="1600" u="none" strike="noStrike" dirty="0">
                          <a:effectLst/>
                        </a:rPr>
                        <a:t>[5, 2, 1, 9, 7, 6, 3, 0, 4, 8, 5]</a:t>
                      </a:r>
                      <a:endParaRPr lang="en-IN" sz="1600" dirty="0">
                        <a:effectLst/>
                      </a:endParaRPr>
                    </a:p>
                  </a:txBody>
                  <a:tcPr marL="114300" marR="114300" marT="76200" marB="76200"/>
                </a:tc>
                <a:tc>
                  <a:txBody>
                    <a:bodyPr/>
                    <a:lstStyle/>
                    <a:p>
                      <a:pPr rtl="0" fontAlgn="t">
                        <a:spcBef>
                          <a:spcPts val="600"/>
                        </a:spcBef>
                        <a:spcAft>
                          <a:spcPts val="600"/>
                        </a:spcAft>
                        <a:buNone/>
                      </a:pPr>
                      <a:r>
                        <a:rPr lang="en-IN" sz="1600" u="none" strike="noStrike" dirty="0">
                          <a:effectLst/>
                        </a:rPr>
                        <a:t>171</a:t>
                      </a:r>
                      <a:endParaRPr lang="en-IN" sz="1600" dirty="0">
                        <a:effectLst/>
                      </a:endParaRPr>
                    </a:p>
                  </a:txBody>
                  <a:tcPr marL="114300" marR="114300" marT="76200" marB="76200"/>
                </a:tc>
                <a:extLst>
                  <a:ext uri="{0D108BD9-81ED-4DB2-BD59-A6C34878D82A}">
                    <a16:rowId xmlns:a16="http://schemas.microsoft.com/office/drawing/2014/main" val="1619210556"/>
                  </a:ext>
                </a:extLst>
              </a:tr>
              <a:tr h="513678">
                <a:tc>
                  <a:txBody>
                    <a:bodyPr/>
                    <a:lstStyle/>
                    <a:p>
                      <a:pPr rtl="0" fontAlgn="t">
                        <a:spcBef>
                          <a:spcPts val="600"/>
                        </a:spcBef>
                        <a:spcAft>
                          <a:spcPts val="600"/>
                        </a:spcAft>
                        <a:buNone/>
                      </a:pPr>
                      <a:r>
                        <a:rPr lang="en-IN" sz="1600" u="none" strike="noStrike">
                          <a:effectLst/>
                        </a:rPr>
                        <a:t>Brute Force</a:t>
                      </a:r>
                      <a:endParaRPr lang="en-IN" sz="1600">
                        <a:effectLst/>
                      </a:endParaRPr>
                    </a:p>
                  </a:txBody>
                  <a:tcPr marL="114300" marR="114300" marT="76200" marB="76200"/>
                </a:tc>
                <a:tc>
                  <a:txBody>
                    <a:bodyPr/>
                    <a:lstStyle/>
                    <a:p>
                      <a:pPr rtl="0" fontAlgn="t">
                        <a:spcBef>
                          <a:spcPts val="600"/>
                        </a:spcBef>
                        <a:spcAft>
                          <a:spcPts val="600"/>
                        </a:spcAft>
                        <a:buNone/>
                      </a:pPr>
                      <a:r>
                        <a:rPr lang="en-IN" sz="1600" u="none" strike="noStrike" dirty="0">
                          <a:effectLst/>
                        </a:rPr>
                        <a:t>N/A</a:t>
                      </a:r>
                      <a:endParaRPr lang="en-IN" sz="1600" dirty="0">
                        <a:effectLst/>
                      </a:endParaRPr>
                    </a:p>
                  </a:txBody>
                  <a:tcPr marL="114300" marR="114300" marT="76200" marB="76200"/>
                </a:tc>
                <a:tc>
                  <a:txBody>
                    <a:bodyPr/>
                    <a:lstStyle/>
                    <a:p>
                      <a:pPr rtl="0" fontAlgn="t">
                        <a:spcBef>
                          <a:spcPts val="600"/>
                        </a:spcBef>
                        <a:spcAft>
                          <a:spcPts val="600"/>
                        </a:spcAft>
                        <a:buNone/>
                      </a:pPr>
                      <a:r>
                        <a:rPr lang="en-IN" sz="1600" u="none" strike="noStrike" dirty="0">
                          <a:effectLst/>
                        </a:rPr>
                        <a:t>(Infeasible for )</a:t>
                      </a:r>
                      <a:endParaRPr lang="en-IN" sz="1600" dirty="0">
                        <a:effectLst/>
                      </a:endParaRPr>
                    </a:p>
                  </a:txBody>
                  <a:tcPr marL="114300" marR="114300" marT="76200" marB="76200"/>
                </a:tc>
                <a:tc>
                  <a:txBody>
                    <a:bodyPr/>
                    <a:lstStyle/>
                    <a:p>
                      <a:pPr rtl="0" fontAlgn="t">
                        <a:spcBef>
                          <a:spcPts val="600"/>
                        </a:spcBef>
                        <a:spcAft>
                          <a:spcPts val="600"/>
                        </a:spcAft>
                        <a:buNone/>
                      </a:pPr>
                      <a:r>
                        <a:rPr lang="en-IN" sz="1600" u="none" strike="noStrike" dirty="0">
                          <a:effectLst/>
                        </a:rPr>
                        <a:t>-</a:t>
                      </a:r>
                      <a:endParaRPr lang="en-IN" sz="1600" dirty="0">
                        <a:effectLst/>
                      </a:endParaRPr>
                    </a:p>
                  </a:txBody>
                  <a:tcPr marL="114300" marR="114300" marT="76200" marB="76200"/>
                </a:tc>
                <a:extLst>
                  <a:ext uri="{0D108BD9-81ED-4DB2-BD59-A6C34878D82A}">
                    <a16:rowId xmlns:a16="http://schemas.microsoft.com/office/drawing/2014/main" val="1138862589"/>
                  </a:ext>
                </a:extLst>
              </a:tr>
            </a:tbl>
          </a:graphicData>
        </a:graphic>
      </p:graphicFrame>
      <p:pic>
        <p:nvPicPr>
          <p:cNvPr id="8" name="Picture 7">
            <a:extLst>
              <a:ext uri="{FF2B5EF4-FFF2-40B4-BE49-F238E27FC236}">
                <a16:creationId xmlns:a16="http://schemas.microsoft.com/office/drawing/2014/main" id="{65B269A0-2CB9-A860-731A-5D6E2F3E23B0}"/>
              </a:ext>
            </a:extLst>
          </p:cNvPr>
          <p:cNvPicPr>
            <a:picLocks noChangeAspect="1"/>
          </p:cNvPicPr>
          <p:nvPr/>
        </p:nvPicPr>
        <p:blipFill>
          <a:blip r:embed="rId2">
            <a:extLst>
              <a:ext uri="{28A0092B-C50C-407E-A947-70E740481C1C}">
                <a14:useLocalDpi xmlns:a14="http://schemas.microsoft.com/office/drawing/2010/main" val="0"/>
              </a:ext>
            </a:extLst>
          </a:blip>
          <a:srcRect r="5131"/>
          <a:stretch>
            <a:fillRect/>
          </a:stretch>
        </p:blipFill>
        <p:spPr>
          <a:xfrm>
            <a:off x="838200" y="2495513"/>
            <a:ext cx="4255375" cy="3547656"/>
          </a:xfrm>
          <a:prstGeom prst="rect">
            <a:avLst/>
          </a:prstGeom>
        </p:spPr>
      </p:pic>
    </p:spTree>
    <p:extLst>
      <p:ext uri="{BB962C8B-B14F-4D97-AF65-F5344CB8AC3E}">
        <p14:creationId xmlns:p14="http://schemas.microsoft.com/office/powerpoint/2010/main" val="7458683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FA3734-F1E5-32F9-749B-6BF926236E50}"/>
              </a:ext>
            </a:extLst>
          </p:cNvPr>
          <p:cNvSpPr>
            <a:spLocks noGrp="1"/>
          </p:cNvSpPr>
          <p:nvPr>
            <p:ph type="title"/>
          </p:nvPr>
        </p:nvSpPr>
        <p:spPr>
          <a:xfrm>
            <a:off x="838200" y="440250"/>
            <a:ext cx="10515600" cy="1325563"/>
          </a:xfrm>
        </p:spPr>
        <p:txBody>
          <a:bodyPr>
            <a:normAutofit/>
          </a:bodyPr>
          <a:lstStyle/>
          <a:p>
            <a:r>
              <a:rPr lang="en-IN" sz="3600" b="1" i="0" u="none" dirty="0">
                <a:solidFill>
                  <a:srgbClr val="1B1C1D"/>
                </a:solidFill>
                <a:effectLst/>
                <a:latin typeface="Google Sans"/>
              </a:rPr>
              <a:t>Analysis &amp; Conclusion</a:t>
            </a:r>
            <a:endParaRPr lang="en-US" sz="3600" dirty="0"/>
          </a:p>
        </p:txBody>
      </p:sp>
      <p:sp>
        <p:nvSpPr>
          <p:cNvPr id="3" name="Content Placeholder 2">
            <a:extLst>
              <a:ext uri="{FF2B5EF4-FFF2-40B4-BE49-F238E27FC236}">
                <a16:creationId xmlns:a16="http://schemas.microsoft.com/office/drawing/2014/main" id="{A376572E-E05B-83E1-C8A6-8ECB46097036}"/>
              </a:ext>
            </a:extLst>
          </p:cNvPr>
          <p:cNvSpPr>
            <a:spLocks noGrp="1"/>
          </p:cNvSpPr>
          <p:nvPr>
            <p:ph idx="1"/>
          </p:nvPr>
        </p:nvSpPr>
        <p:spPr>
          <a:xfrm>
            <a:off x="838200" y="1513010"/>
            <a:ext cx="10515600" cy="4351338"/>
          </a:xfrm>
        </p:spPr>
        <p:txBody>
          <a:bodyPr>
            <a:normAutofit lnSpcReduction="10000"/>
          </a:bodyPr>
          <a:lstStyle/>
          <a:p>
            <a:pPr marL="0" indent="0" rtl="0" fontAlgn="base">
              <a:buNone/>
            </a:pPr>
            <a:endParaRPr lang="en-IN" sz="1800" b="0" i="0" u="none" strike="noStrike" dirty="0">
              <a:solidFill>
                <a:srgbClr val="000000"/>
              </a:solidFill>
              <a:effectLst/>
              <a:latin typeface="Arial" panose="020B0604020202020204" pitchFamily="34" charset="0"/>
            </a:endParaRPr>
          </a:p>
          <a:p>
            <a:pPr rtl="0" fontAlgn="base"/>
            <a:r>
              <a:rPr lang="en-IN" sz="2400" b="1" i="0" u="none" strike="noStrike" dirty="0">
                <a:solidFill>
                  <a:srgbClr val="1B1C1D"/>
                </a:solidFill>
                <a:effectLst/>
                <a:latin typeface="Google Sans Text"/>
              </a:rPr>
              <a:t>Hill Climbing (HC):</a:t>
            </a:r>
            <a:r>
              <a:rPr lang="en-IN" sz="2400" b="0" i="0" u="none" strike="noStrike" dirty="0">
                <a:solidFill>
                  <a:srgbClr val="1B1C1D"/>
                </a:solidFill>
                <a:effectLst/>
                <a:latin typeface="Google Sans Text"/>
              </a:rPr>
              <a:t> Found a better route (Cost 160) than SA in this specific run. This suggests that the initial random start was already close to a </a:t>
            </a:r>
            <a:r>
              <a:rPr lang="en-IN" sz="2400" b="1" i="0" u="none" strike="noStrike" dirty="0">
                <a:solidFill>
                  <a:srgbClr val="1B1C1D"/>
                </a:solidFill>
                <a:effectLst/>
                <a:latin typeface="Google Sans Text"/>
              </a:rPr>
              <a:t>good local optimum</a:t>
            </a:r>
            <a:r>
              <a:rPr lang="en-IN" sz="2400" b="0" i="0" u="none" strike="noStrike" dirty="0">
                <a:solidFill>
                  <a:srgbClr val="1B1C1D"/>
                </a:solidFill>
                <a:effectLst/>
                <a:latin typeface="Google Sans Text"/>
              </a:rPr>
              <a:t>, or the specific problem landscape allowed HC to succeed.</a:t>
            </a:r>
            <a:endParaRPr lang="en-IN" sz="2400" b="0" i="0" u="none" strike="noStrike" dirty="0">
              <a:solidFill>
                <a:srgbClr val="000000"/>
              </a:solidFill>
              <a:effectLst/>
              <a:latin typeface="Arial" panose="020B0604020202020204" pitchFamily="34" charset="0"/>
            </a:endParaRPr>
          </a:p>
          <a:p>
            <a:pPr rtl="0" fontAlgn="base"/>
            <a:r>
              <a:rPr lang="en-IN" sz="2400" b="1" i="0" u="none" strike="noStrike" dirty="0">
                <a:solidFill>
                  <a:srgbClr val="1B1C1D"/>
                </a:solidFill>
                <a:effectLst/>
                <a:latin typeface="Google Sans Text"/>
              </a:rPr>
              <a:t>Simulated Annealing (SA):</a:t>
            </a:r>
            <a:r>
              <a:rPr lang="en-IN" sz="2400" b="0" i="0" u="none" strike="noStrike" dirty="0">
                <a:solidFill>
                  <a:srgbClr val="1B1C1D"/>
                </a:solidFill>
                <a:effectLst/>
                <a:latin typeface="Google Sans Text"/>
              </a:rPr>
              <a:t> Found a slightly worse route (Cost 171). SA's strength is typically for </a:t>
            </a:r>
            <a:r>
              <a:rPr lang="en-IN" sz="2400" b="1" i="0" u="none" strike="noStrike" dirty="0">
                <a:solidFill>
                  <a:srgbClr val="1B1C1D"/>
                </a:solidFill>
                <a:effectLst/>
                <a:latin typeface="Google Sans Text"/>
              </a:rPr>
              <a:t>more complex landscapes</a:t>
            </a:r>
            <a:r>
              <a:rPr lang="en-IN" sz="2400" b="0" i="0" u="none" strike="noStrike" dirty="0">
                <a:solidFill>
                  <a:srgbClr val="1B1C1D"/>
                </a:solidFill>
                <a:effectLst/>
                <a:latin typeface="Google Sans Text"/>
              </a:rPr>
              <a:t> where HC would certainly get stuck. The parameters heavily influence its performance.</a:t>
            </a:r>
            <a:endParaRPr lang="en-IN" sz="2400" b="0" i="0" u="none" strike="noStrike" dirty="0">
              <a:solidFill>
                <a:srgbClr val="000000"/>
              </a:solidFill>
              <a:effectLst/>
              <a:latin typeface="Arial" panose="020B0604020202020204" pitchFamily="34" charset="0"/>
            </a:endParaRPr>
          </a:p>
          <a:p>
            <a:pPr rtl="0" fontAlgn="base"/>
            <a:r>
              <a:rPr lang="en-IN" sz="2400" b="1" i="0" u="none" strike="noStrike" dirty="0">
                <a:solidFill>
                  <a:srgbClr val="1B1C1D"/>
                </a:solidFill>
                <a:effectLst/>
                <a:latin typeface="Google Sans Text"/>
              </a:rPr>
              <a:t>Heuristic Necessity:</a:t>
            </a:r>
            <a:r>
              <a:rPr lang="en-IN" sz="2400" b="0" i="0" u="none" strike="noStrike" dirty="0">
                <a:solidFill>
                  <a:srgbClr val="1B1C1D"/>
                </a:solidFill>
                <a:effectLst/>
                <a:latin typeface="Google Sans Text"/>
              </a:rPr>
              <a:t> For the  case, Brute Force would involve checking  routes. While feasible for this size, the metaheuristics demonstrate the necessary approach for the general TSP where  is much larger, effectively pruning the search space.</a:t>
            </a:r>
            <a:endParaRPr lang="en-IN" sz="2400" b="0" i="0" u="none" strike="noStrike" dirty="0">
              <a:solidFill>
                <a:srgbClr val="000000"/>
              </a:solidFill>
              <a:effectLst/>
              <a:latin typeface="Arial" panose="020B0604020202020204" pitchFamily="34" charset="0"/>
            </a:endParaRPr>
          </a:p>
          <a:p>
            <a:r>
              <a:rPr lang="en-IN" sz="2400" b="1" i="0" u="none" strike="noStrike" dirty="0">
                <a:solidFill>
                  <a:srgbClr val="1B1C1D"/>
                </a:solidFill>
                <a:effectLst/>
                <a:latin typeface="Google Sans Text"/>
              </a:rPr>
              <a:t>Final Output:</a:t>
            </a:r>
            <a:r>
              <a:rPr lang="en-IN" sz="2400" b="0" i="0" u="none" strike="noStrike" dirty="0">
                <a:solidFill>
                  <a:srgbClr val="1B1C1D"/>
                </a:solidFill>
                <a:effectLst/>
                <a:latin typeface="Google Sans Text"/>
              </a:rPr>
              <a:t> The final TSP tour is a crucial output, but the </a:t>
            </a:r>
            <a:r>
              <a:rPr lang="en-IN" sz="2400" b="1" i="0" u="none" strike="noStrike" dirty="0">
                <a:solidFill>
                  <a:srgbClr val="1B1C1D"/>
                </a:solidFill>
                <a:effectLst/>
                <a:latin typeface="Google Sans Text"/>
              </a:rPr>
              <a:t>cost value</a:t>
            </a:r>
            <a:r>
              <a:rPr lang="en-IN" sz="2400" b="0" i="0" u="none" strike="noStrike" dirty="0">
                <a:solidFill>
                  <a:srgbClr val="1B1C1D"/>
                </a:solidFill>
                <a:effectLst/>
                <a:latin typeface="Google Sans Text"/>
              </a:rPr>
              <a:t> is the key metric for comparing the efficiency of the heuristic optimization techniques.</a:t>
            </a:r>
            <a:endParaRPr lang="en-IN" sz="2400" b="1" dirty="0">
              <a:effectLst/>
            </a:endParaRPr>
          </a:p>
        </p:txBody>
      </p:sp>
    </p:spTree>
    <p:extLst>
      <p:ext uri="{BB962C8B-B14F-4D97-AF65-F5344CB8AC3E}">
        <p14:creationId xmlns:p14="http://schemas.microsoft.com/office/powerpoint/2010/main" val="28979457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5ABBE9-2F07-F81B-C82A-A7EDE339BBEC}"/>
              </a:ext>
            </a:extLst>
          </p:cNvPr>
          <p:cNvSpPr>
            <a:spLocks noGrp="1"/>
          </p:cNvSpPr>
          <p:nvPr>
            <p:ph type="title"/>
          </p:nvPr>
        </p:nvSpPr>
        <p:spPr/>
        <p:txBody>
          <a:bodyPr>
            <a:normAutofit/>
          </a:bodyPr>
          <a:lstStyle/>
          <a:p>
            <a:r>
              <a:rPr lang="en-IN" sz="3600" b="1" i="0" u="none" strike="noStrike" dirty="0">
                <a:solidFill>
                  <a:srgbClr val="1B1C1D"/>
                </a:solidFill>
                <a:effectLst/>
                <a:latin typeface="Google Sans"/>
              </a:rPr>
              <a:t>The 8-Puzzle Problem (Sliding Tile Puzzle)</a:t>
            </a:r>
            <a:endParaRPr lang="en-US" sz="3600" dirty="0"/>
          </a:p>
        </p:txBody>
      </p:sp>
      <p:sp>
        <p:nvSpPr>
          <p:cNvPr id="3" name="Content Placeholder 2">
            <a:extLst>
              <a:ext uri="{FF2B5EF4-FFF2-40B4-BE49-F238E27FC236}">
                <a16:creationId xmlns:a16="http://schemas.microsoft.com/office/drawing/2014/main" id="{15DDE8D9-EF80-E266-45AE-4F227D4D59CD}"/>
              </a:ext>
            </a:extLst>
          </p:cNvPr>
          <p:cNvSpPr>
            <a:spLocks noGrp="1"/>
          </p:cNvSpPr>
          <p:nvPr>
            <p:ph idx="1"/>
          </p:nvPr>
        </p:nvSpPr>
        <p:spPr/>
        <p:txBody>
          <a:bodyPr/>
          <a:lstStyle/>
          <a:p>
            <a:r>
              <a:rPr lang="en-IN" sz="1800" b="1" i="0" u="none" strike="noStrike" dirty="0">
                <a:solidFill>
                  <a:srgbClr val="1B1C1D"/>
                </a:solidFill>
                <a:effectLst/>
                <a:latin typeface="Google Sans"/>
              </a:rPr>
              <a:t>Problem Definition</a:t>
            </a:r>
            <a:endParaRPr lang="en-IN" sz="1800" b="1" i="0" dirty="0">
              <a:solidFill>
                <a:srgbClr val="000000"/>
              </a:solidFill>
              <a:effectLst/>
              <a:latin typeface="Arial" panose="020B0604020202020204" pitchFamily="34" charset="0"/>
            </a:endParaRPr>
          </a:p>
          <a:p>
            <a:r>
              <a:rPr lang="en-IN" sz="1800" b="1" i="0" dirty="0">
                <a:solidFill>
                  <a:srgbClr val="1B1C1D"/>
                </a:solidFill>
                <a:effectLst/>
                <a:latin typeface="Google Sans Text"/>
              </a:rPr>
              <a:t>Goal:</a:t>
            </a:r>
            <a:r>
              <a:rPr lang="en-IN" sz="1800" b="0" i="0" dirty="0">
                <a:solidFill>
                  <a:srgbClr val="1B1C1D"/>
                </a:solidFill>
                <a:effectLst/>
                <a:latin typeface="Google Sans Text"/>
              </a:rPr>
              <a:t> Transform the </a:t>
            </a:r>
            <a:r>
              <a:rPr lang="en-IN" sz="1800" b="1" i="0" dirty="0">
                <a:solidFill>
                  <a:srgbClr val="1B1C1D"/>
                </a:solidFill>
                <a:effectLst/>
                <a:latin typeface="Google Sans Text"/>
              </a:rPr>
              <a:t>Start State</a:t>
            </a:r>
            <a:r>
              <a:rPr lang="en-IN" sz="1800" b="0" i="0" dirty="0">
                <a:solidFill>
                  <a:srgbClr val="1B1C1D"/>
                </a:solidFill>
                <a:effectLst/>
                <a:latin typeface="Google Sans Text"/>
              </a:rPr>
              <a:t> into the </a:t>
            </a:r>
            <a:r>
              <a:rPr lang="en-IN" sz="1800" b="1" i="0" dirty="0">
                <a:solidFill>
                  <a:srgbClr val="1B1C1D"/>
                </a:solidFill>
                <a:effectLst/>
                <a:latin typeface="Google Sans Text"/>
              </a:rPr>
              <a:t>Goal State</a:t>
            </a:r>
            <a:r>
              <a:rPr lang="en-IN" sz="1800" b="0" i="0" u="none" strike="noStrike" dirty="0">
                <a:solidFill>
                  <a:srgbClr val="1B1C1D"/>
                </a:solidFill>
                <a:effectLst/>
                <a:latin typeface="Google Sans Text"/>
              </a:rPr>
              <a:t> by sliding tiles into the blank space.</a:t>
            </a:r>
            <a:endParaRPr lang="en-IN" sz="1800" b="0" i="0" dirty="0">
              <a:solidFill>
                <a:srgbClr val="000000"/>
              </a:solidFill>
              <a:effectLst/>
              <a:latin typeface="Arial" panose="020B0604020202020204" pitchFamily="34" charset="0"/>
            </a:endParaRPr>
          </a:p>
          <a:p>
            <a:r>
              <a:rPr lang="en-IN" sz="1800" b="1" i="0" dirty="0">
                <a:solidFill>
                  <a:srgbClr val="1B1C1D"/>
                </a:solidFill>
                <a:effectLst/>
                <a:latin typeface="Google Sans Text"/>
              </a:rPr>
              <a:t>State Space:</a:t>
            </a:r>
            <a:r>
              <a:rPr lang="en-IN" sz="1800" b="0" i="0" u="none" strike="noStrike" dirty="0">
                <a:solidFill>
                  <a:srgbClr val="1B1C1D"/>
                </a:solidFill>
                <a:effectLst/>
                <a:latin typeface="Google Sans Text"/>
              </a:rPr>
              <a:t> An  matrix (typically ) containing tiles 1 to  and the blank tile (represented by ).</a:t>
            </a:r>
            <a:endParaRPr lang="en-IN" sz="1800" b="0" i="0" dirty="0">
              <a:solidFill>
                <a:srgbClr val="000000"/>
              </a:solidFill>
              <a:effectLst/>
              <a:latin typeface="Arial" panose="020B0604020202020204" pitchFamily="34" charset="0"/>
            </a:endParaRPr>
          </a:p>
          <a:p>
            <a:r>
              <a:rPr lang="en-IN" sz="1800" b="1" i="0" dirty="0">
                <a:solidFill>
                  <a:srgbClr val="1B1C1D"/>
                </a:solidFill>
                <a:effectLst/>
                <a:latin typeface="Google Sans Text"/>
              </a:rPr>
              <a:t>Core Concept:</a:t>
            </a:r>
            <a:r>
              <a:rPr lang="en-IN" sz="1800" b="0" i="0" dirty="0">
                <a:solidFill>
                  <a:srgbClr val="1B1C1D"/>
                </a:solidFill>
                <a:effectLst/>
                <a:latin typeface="Google Sans Text"/>
              </a:rPr>
              <a:t> </a:t>
            </a:r>
            <a:r>
              <a:rPr lang="en-IN" sz="1800" b="1" i="0" dirty="0">
                <a:solidFill>
                  <a:srgbClr val="1B1C1D"/>
                </a:solidFill>
                <a:effectLst/>
                <a:latin typeface="Google Sans Text"/>
              </a:rPr>
              <a:t>Iterative Deepening Search (IDS)</a:t>
            </a:r>
            <a:r>
              <a:rPr lang="en-IN" sz="1800" b="0" i="0" u="none" strike="noStrike" dirty="0">
                <a:solidFill>
                  <a:srgbClr val="1B1C1D"/>
                </a:solidFill>
                <a:effectLst/>
                <a:latin typeface="Google Sans Text"/>
              </a:rPr>
              <a:t>, a complete and optimal uninformed search.</a:t>
            </a:r>
            <a:endParaRPr lang="en-IN" sz="1800" b="0" i="0" dirty="0">
              <a:solidFill>
                <a:srgbClr val="000000"/>
              </a:solidFill>
              <a:effectLst/>
              <a:latin typeface="Arial" panose="020B0604020202020204" pitchFamily="34" charset="0"/>
            </a:endParaRPr>
          </a:p>
          <a:p>
            <a:r>
              <a:rPr lang="en-IN" sz="1800" b="1" i="0" u="none" strike="noStrike" dirty="0">
                <a:solidFill>
                  <a:srgbClr val="1B1C1D"/>
                </a:solidFill>
                <a:effectLst/>
                <a:latin typeface="Google Sans"/>
              </a:rPr>
              <a:t>Input/output States (Example)</a:t>
            </a:r>
          </a:p>
          <a:p>
            <a:endParaRPr lang="en-IN" sz="1800" b="1" i="0" dirty="0">
              <a:solidFill>
                <a:srgbClr val="000000"/>
              </a:solidFill>
              <a:effectLst/>
              <a:latin typeface="Arial" panose="020B0604020202020204" pitchFamily="34" charset="0"/>
            </a:endParaRPr>
          </a:p>
        </p:txBody>
      </p:sp>
      <p:graphicFrame>
        <p:nvGraphicFramePr>
          <p:cNvPr id="5" name="Table 4">
            <a:extLst>
              <a:ext uri="{FF2B5EF4-FFF2-40B4-BE49-F238E27FC236}">
                <a16:creationId xmlns:a16="http://schemas.microsoft.com/office/drawing/2014/main" id="{C81B1773-740B-6286-4BC2-DC7438D7C3D8}"/>
              </a:ext>
            </a:extLst>
          </p:cNvPr>
          <p:cNvGraphicFramePr/>
          <p:nvPr>
            <p:extLst>
              <p:ext uri="{D42A27DB-BD31-4B8C-83A1-F6EECF244321}">
                <p14:modId xmlns:p14="http://schemas.microsoft.com/office/powerpoint/2010/main" val="3730701518"/>
              </p:ext>
            </p:extLst>
          </p:nvPr>
        </p:nvGraphicFramePr>
        <p:xfrm>
          <a:off x="2918460" y="3928930"/>
          <a:ext cx="6355080" cy="1547310"/>
        </p:xfrm>
        <a:graphic>
          <a:graphicData uri="http://schemas.openxmlformats.org/drawingml/2006/table">
            <a:tbl>
              <a:tblPr>
                <a:tableStyleId>{5C22544A-7EE6-4342-B048-85BDC9FD1C3A}</a:tableStyleId>
              </a:tblPr>
              <a:tblGrid>
                <a:gridCol w="3177540">
                  <a:extLst>
                    <a:ext uri="{9D8B030D-6E8A-4147-A177-3AD203B41FA5}">
                      <a16:colId xmlns:a16="http://schemas.microsoft.com/office/drawing/2014/main" val="876205827"/>
                    </a:ext>
                  </a:extLst>
                </a:gridCol>
                <a:gridCol w="3177540">
                  <a:extLst>
                    <a:ext uri="{9D8B030D-6E8A-4147-A177-3AD203B41FA5}">
                      <a16:colId xmlns:a16="http://schemas.microsoft.com/office/drawing/2014/main" val="496634921"/>
                    </a:ext>
                  </a:extLst>
                </a:gridCol>
              </a:tblGrid>
              <a:tr h="773655">
                <a:tc>
                  <a:txBody>
                    <a:bodyPr/>
                    <a:lstStyle/>
                    <a:p>
                      <a:pPr algn="l" fontAlgn="t">
                        <a:buNone/>
                      </a:pPr>
                      <a:r>
                        <a:rPr lang="en-IN" sz="1800" u="none" strike="noStrike">
                          <a:effectLst/>
                        </a:rPr>
                        <a:t>Start State</a:t>
                      </a:r>
                      <a:endParaRPr lang="en-IN" sz="1800">
                        <a:solidFill>
                          <a:srgbClr val="000000"/>
                        </a:solidFill>
                        <a:effectLst/>
                        <a:latin typeface="Arial" panose="020B0604020202020204" pitchFamily="34" charset="0"/>
                      </a:endParaRPr>
                    </a:p>
                  </a:txBody>
                  <a:tcPr marL="114300" marR="114300" marT="76200" marB="76200"/>
                </a:tc>
                <a:tc>
                  <a:txBody>
                    <a:bodyPr/>
                    <a:lstStyle/>
                    <a:p>
                      <a:pPr algn="l" fontAlgn="t">
                        <a:buNone/>
                      </a:pPr>
                      <a:r>
                        <a:rPr lang="en-IN" sz="1800" u="none" strike="noStrike">
                          <a:effectLst/>
                        </a:rPr>
                        <a:t>Goal State (Solved)</a:t>
                      </a:r>
                      <a:endParaRPr lang="en-IN" sz="1800">
                        <a:solidFill>
                          <a:srgbClr val="000000"/>
                        </a:solidFill>
                        <a:effectLst/>
                        <a:latin typeface="Arial" panose="020B0604020202020204" pitchFamily="34" charset="0"/>
                      </a:endParaRPr>
                    </a:p>
                  </a:txBody>
                  <a:tcPr marL="114300" marR="114300" marT="76200" marB="76200"/>
                </a:tc>
                <a:extLst>
                  <a:ext uri="{0D108BD9-81ED-4DB2-BD59-A6C34878D82A}">
                    <a16:rowId xmlns:a16="http://schemas.microsoft.com/office/drawing/2014/main" val="1383379374"/>
                  </a:ext>
                </a:extLst>
              </a:tr>
              <a:tr h="773655">
                <a:tc>
                  <a:txBody>
                    <a:bodyPr/>
                    <a:lstStyle/>
                    <a:p>
                      <a:pPr algn="l" fontAlgn="t">
                        <a:buNone/>
                      </a:pPr>
                      <a:r>
                        <a:rPr lang="en-IN" sz="1800" u="none" strike="noStrike">
                          <a:effectLst/>
                        </a:rPr>
                        <a:t>[[1, 4, 2], [3, 0, 5], [6, 7, 8]]</a:t>
                      </a:r>
                      <a:endParaRPr lang="en-IN" sz="1800">
                        <a:solidFill>
                          <a:srgbClr val="000000"/>
                        </a:solidFill>
                        <a:effectLst/>
                        <a:latin typeface="Arial" panose="020B0604020202020204" pitchFamily="34" charset="0"/>
                      </a:endParaRPr>
                    </a:p>
                  </a:txBody>
                  <a:tcPr marL="114300" marR="114300" marT="76200" marB="76200"/>
                </a:tc>
                <a:tc>
                  <a:txBody>
                    <a:bodyPr/>
                    <a:lstStyle/>
                    <a:p>
                      <a:pPr algn="l" fontAlgn="t">
                        <a:buNone/>
                      </a:pPr>
                      <a:r>
                        <a:rPr lang="en-IN" sz="1800" u="none" strike="noStrike" dirty="0">
                          <a:effectLst/>
                        </a:rPr>
                        <a:t>[[1, 2, 3], [4, 5, 6], [7, 8, 0]]</a:t>
                      </a:r>
                      <a:endParaRPr lang="en-IN" sz="1800" dirty="0">
                        <a:solidFill>
                          <a:srgbClr val="000000"/>
                        </a:solidFill>
                        <a:effectLst/>
                        <a:latin typeface="Arial" panose="020B0604020202020204" pitchFamily="34" charset="0"/>
                      </a:endParaRPr>
                    </a:p>
                  </a:txBody>
                  <a:tcPr marL="114300" marR="114300" marT="76200" marB="76200"/>
                </a:tc>
                <a:extLst>
                  <a:ext uri="{0D108BD9-81ED-4DB2-BD59-A6C34878D82A}">
                    <a16:rowId xmlns:a16="http://schemas.microsoft.com/office/drawing/2014/main" val="3665036202"/>
                  </a:ext>
                </a:extLst>
              </a:tr>
            </a:tbl>
          </a:graphicData>
        </a:graphic>
      </p:graphicFrame>
    </p:spTree>
    <p:extLst>
      <p:ext uri="{BB962C8B-B14F-4D97-AF65-F5344CB8AC3E}">
        <p14:creationId xmlns:p14="http://schemas.microsoft.com/office/powerpoint/2010/main" val="66205901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64B362-2C6F-896D-23DE-E1FFCBEBF0ED}"/>
              </a:ext>
            </a:extLst>
          </p:cNvPr>
          <p:cNvSpPr>
            <a:spLocks noGrp="1"/>
          </p:cNvSpPr>
          <p:nvPr>
            <p:ph type="title"/>
          </p:nvPr>
        </p:nvSpPr>
        <p:spPr/>
        <p:txBody>
          <a:bodyPr>
            <a:normAutofit/>
          </a:bodyPr>
          <a:lstStyle/>
          <a:p>
            <a:r>
              <a:rPr lang="en-IN" sz="3600" b="1" i="0" u="none" strike="noStrike" dirty="0">
                <a:solidFill>
                  <a:srgbClr val="1B1C1D"/>
                </a:solidFill>
                <a:effectLst/>
                <a:latin typeface="Google Sans"/>
              </a:rPr>
              <a:t>Key AI Algorithm: Iterative Deepening Search (IDS)</a:t>
            </a:r>
            <a:endParaRPr lang="en-US" sz="3600" dirty="0"/>
          </a:p>
        </p:txBody>
      </p:sp>
      <p:sp>
        <p:nvSpPr>
          <p:cNvPr id="3" name="Content Placeholder 2">
            <a:extLst>
              <a:ext uri="{FF2B5EF4-FFF2-40B4-BE49-F238E27FC236}">
                <a16:creationId xmlns:a16="http://schemas.microsoft.com/office/drawing/2014/main" id="{E9548AE6-9FCA-EC87-52EE-CC627D2A5507}"/>
              </a:ext>
            </a:extLst>
          </p:cNvPr>
          <p:cNvSpPr>
            <a:spLocks noGrp="1"/>
          </p:cNvSpPr>
          <p:nvPr>
            <p:ph idx="1"/>
          </p:nvPr>
        </p:nvSpPr>
        <p:spPr/>
        <p:txBody>
          <a:bodyPr/>
          <a:lstStyle/>
          <a:p>
            <a:r>
              <a:rPr lang="en-IN" sz="1800" b="0" i="0" dirty="0">
                <a:solidFill>
                  <a:srgbClr val="1B1C1D"/>
                </a:solidFill>
                <a:effectLst/>
                <a:latin typeface="Google Sans Text"/>
              </a:rPr>
              <a:t>IDS combines the </a:t>
            </a:r>
            <a:r>
              <a:rPr lang="en-IN" sz="1800" b="1" i="0" dirty="0">
                <a:solidFill>
                  <a:srgbClr val="1B1C1D"/>
                </a:solidFill>
                <a:effectLst/>
                <a:latin typeface="Google Sans Text"/>
              </a:rPr>
              <a:t>optimality of BFS</a:t>
            </a:r>
            <a:r>
              <a:rPr lang="en-IN" sz="1800" b="0" i="0" dirty="0">
                <a:solidFill>
                  <a:srgbClr val="1B1C1D"/>
                </a:solidFill>
                <a:effectLst/>
                <a:latin typeface="Google Sans Text"/>
              </a:rPr>
              <a:t> with the </a:t>
            </a:r>
            <a:r>
              <a:rPr lang="en-IN" sz="1800" b="1" i="0" dirty="0">
                <a:solidFill>
                  <a:srgbClr val="1B1C1D"/>
                </a:solidFill>
                <a:effectLst/>
                <a:latin typeface="Google Sans Text"/>
              </a:rPr>
              <a:t>memory efficiency of DFS</a:t>
            </a:r>
            <a:r>
              <a:rPr lang="en-IN" sz="1800" b="0" i="0" u="none" strike="noStrike" dirty="0">
                <a:solidFill>
                  <a:srgbClr val="1B1C1D"/>
                </a:solidFill>
                <a:effectLst/>
                <a:latin typeface="Google Sans Text"/>
              </a:rPr>
              <a:t> by using Depth-Limited Search (DLS) as its core engine.</a:t>
            </a:r>
            <a:endParaRPr lang="en-IN" sz="1800" b="0" i="0" dirty="0">
              <a:solidFill>
                <a:srgbClr val="000000"/>
              </a:solidFill>
              <a:effectLst/>
              <a:latin typeface="Arial" panose="020B0604020202020204" pitchFamily="34" charset="0"/>
            </a:endParaRPr>
          </a:p>
          <a:p>
            <a:r>
              <a:rPr lang="en-IN" sz="1800" b="1" i="0" u="none" strike="noStrike" dirty="0">
                <a:solidFill>
                  <a:srgbClr val="1B1C1D"/>
                </a:solidFill>
                <a:effectLst/>
                <a:latin typeface="Google Sans"/>
              </a:rPr>
              <a:t>IDS Strategy</a:t>
            </a:r>
            <a:endParaRPr lang="en-IN" sz="1800" b="1" i="0" dirty="0">
              <a:solidFill>
                <a:srgbClr val="000000"/>
              </a:solidFill>
              <a:effectLst/>
              <a:latin typeface="Arial" panose="020B0604020202020204" pitchFamily="34" charset="0"/>
            </a:endParaRPr>
          </a:p>
          <a:p>
            <a:r>
              <a:rPr lang="en-IN" sz="1800" b="1" i="0" dirty="0">
                <a:solidFill>
                  <a:srgbClr val="1B1C1D"/>
                </a:solidFill>
                <a:effectLst/>
                <a:latin typeface="Google Sans Text"/>
              </a:rPr>
              <a:t>Iterative Deepening:</a:t>
            </a:r>
            <a:r>
              <a:rPr lang="en-IN" sz="1800" b="0" i="0" dirty="0">
                <a:solidFill>
                  <a:srgbClr val="1B1C1D"/>
                </a:solidFill>
                <a:effectLst/>
                <a:latin typeface="Google Sans Text"/>
              </a:rPr>
              <a:t> Calls </a:t>
            </a:r>
            <a:r>
              <a:rPr lang="en-IN" sz="1800" b="1" i="0" dirty="0">
                <a:solidFill>
                  <a:srgbClr val="1B1C1D"/>
                </a:solidFill>
                <a:effectLst/>
                <a:latin typeface="Google Sans Text"/>
              </a:rPr>
              <a:t>DLS</a:t>
            </a:r>
            <a:r>
              <a:rPr lang="en-IN" sz="1800" b="0" i="0" u="none" strike="noStrike" dirty="0">
                <a:solidFill>
                  <a:srgbClr val="1B1C1D"/>
                </a:solidFill>
                <a:effectLst/>
                <a:latin typeface="Google Sans Text"/>
              </a:rPr>
              <a:t> repeatedly, increasing the depth limit  until the goal is found.</a:t>
            </a:r>
            <a:endParaRPr lang="en-IN" sz="1800" b="0" i="0" dirty="0">
              <a:solidFill>
                <a:srgbClr val="000000"/>
              </a:solidFill>
              <a:effectLst/>
              <a:latin typeface="Arial" panose="020B0604020202020204" pitchFamily="34" charset="0"/>
            </a:endParaRPr>
          </a:p>
          <a:p>
            <a:r>
              <a:rPr lang="en-IN" sz="1800" b="1" i="0" dirty="0">
                <a:solidFill>
                  <a:srgbClr val="1B1C1D"/>
                </a:solidFill>
                <a:effectLst/>
                <a:latin typeface="Google Sans Text"/>
              </a:rPr>
              <a:t>Path Optimality:</a:t>
            </a:r>
            <a:r>
              <a:rPr lang="en-IN" sz="1800" b="0" i="0" dirty="0">
                <a:solidFill>
                  <a:srgbClr val="1B1C1D"/>
                </a:solidFill>
                <a:effectLst/>
                <a:latin typeface="Google Sans Text"/>
              </a:rPr>
              <a:t> Guaranteed to find the </a:t>
            </a:r>
            <a:r>
              <a:rPr lang="en-IN" sz="1800" b="1" i="0" dirty="0">
                <a:solidFill>
                  <a:srgbClr val="1B1C1D"/>
                </a:solidFill>
                <a:effectLst/>
                <a:latin typeface="Google Sans Text"/>
              </a:rPr>
              <a:t>shallowest (shortest)</a:t>
            </a:r>
            <a:r>
              <a:rPr lang="en-IN" sz="1800" b="0" i="0" u="none" strike="noStrike" dirty="0">
                <a:solidFill>
                  <a:srgbClr val="1B1C1D"/>
                </a:solidFill>
                <a:effectLst/>
                <a:latin typeface="Google Sans Text"/>
              </a:rPr>
              <a:t> solution path.</a:t>
            </a:r>
            <a:endParaRPr lang="en-IN" sz="1800" b="0" i="0" dirty="0">
              <a:solidFill>
                <a:srgbClr val="000000"/>
              </a:solidFill>
              <a:effectLst/>
              <a:latin typeface="Arial" panose="020B0604020202020204" pitchFamily="34" charset="0"/>
            </a:endParaRPr>
          </a:p>
          <a:p>
            <a:r>
              <a:rPr lang="en-IN" sz="1800" b="1" i="0" dirty="0">
                <a:solidFill>
                  <a:srgbClr val="1B1C1D"/>
                </a:solidFill>
                <a:effectLst/>
                <a:latin typeface="Google Sans Text"/>
              </a:rPr>
              <a:t>Memory Efficiency:</a:t>
            </a:r>
            <a:r>
              <a:rPr lang="en-IN" sz="1800" b="0" i="0" u="none" strike="noStrike" dirty="0">
                <a:solidFill>
                  <a:srgbClr val="1B1C1D"/>
                </a:solidFill>
                <a:effectLst/>
                <a:latin typeface="Google Sans Text"/>
              </a:rPr>
              <a:t> The space complexity is low, , where  is the depth of the solution, as it only stores the current path in memory.</a:t>
            </a:r>
            <a:endParaRPr lang="en-IN" sz="1800" b="0" i="0" dirty="0">
              <a:solidFill>
                <a:srgbClr val="000000"/>
              </a:solidFill>
              <a:effectLst/>
              <a:latin typeface="Arial" panose="020B0604020202020204" pitchFamily="34" charset="0"/>
            </a:endParaRPr>
          </a:p>
          <a:p>
            <a:r>
              <a:rPr lang="en-IN" sz="1800" b="1" i="0" dirty="0">
                <a:solidFill>
                  <a:srgbClr val="1B1C1D"/>
                </a:solidFill>
                <a:effectLst/>
                <a:latin typeface="Google Sans Text"/>
              </a:rPr>
              <a:t>Completeness:</a:t>
            </a:r>
            <a:r>
              <a:rPr lang="en-IN" sz="1800" b="0" i="0" u="none" strike="noStrike" dirty="0">
                <a:solidFill>
                  <a:srgbClr val="1B1C1D"/>
                </a:solidFill>
                <a:effectLst/>
                <a:latin typeface="Google Sans Text"/>
              </a:rPr>
              <a:t> Guaranteed to find a solution if one exists, unlike a fixed DLS.</a:t>
            </a:r>
            <a:endParaRPr lang="en-IN" sz="1800" b="0" i="0" dirty="0">
              <a:solidFill>
                <a:srgbClr val="000000"/>
              </a:solidFill>
              <a:effectLst/>
              <a:latin typeface="Arial" panose="020B0604020202020204" pitchFamily="34" charset="0"/>
            </a:endParaRPr>
          </a:p>
          <a:p>
            <a:endParaRPr lang="en-US" dirty="0"/>
          </a:p>
        </p:txBody>
      </p:sp>
    </p:spTree>
    <p:extLst>
      <p:ext uri="{BB962C8B-B14F-4D97-AF65-F5344CB8AC3E}">
        <p14:creationId xmlns:p14="http://schemas.microsoft.com/office/powerpoint/2010/main" val="124406300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A06138-1AB0-A4C6-E3D5-D477B9A4B37F}"/>
              </a:ext>
            </a:extLst>
          </p:cNvPr>
          <p:cNvSpPr>
            <a:spLocks noGrp="1"/>
          </p:cNvSpPr>
          <p:nvPr>
            <p:ph type="title"/>
          </p:nvPr>
        </p:nvSpPr>
        <p:spPr/>
        <p:txBody>
          <a:bodyPr>
            <a:normAutofit fontScale="90000"/>
          </a:bodyPr>
          <a:lstStyle/>
          <a:p>
            <a:r>
              <a:rPr lang="en-IN" sz="3600" b="1" i="0" u="none" strike="noStrike" dirty="0">
                <a:solidFill>
                  <a:srgbClr val="1B1C1D"/>
                </a:solidFill>
                <a:effectLst/>
                <a:latin typeface="Google Sans"/>
              </a:rPr>
              <a:t>DLS Workhorse and Move Generation</a:t>
            </a:r>
            <a:br>
              <a:rPr lang="en-IN" sz="3600" b="1" i="0" u="none" strike="noStrike" dirty="0">
                <a:solidFill>
                  <a:srgbClr val="1B1C1D"/>
                </a:solidFill>
                <a:effectLst/>
                <a:latin typeface="Google Sans"/>
              </a:rPr>
            </a:br>
            <a:br>
              <a:rPr lang="en-IN" sz="3600" b="1" i="0" dirty="0">
                <a:solidFill>
                  <a:srgbClr val="000000"/>
                </a:solidFill>
                <a:effectLst/>
                <a:latin typeface="Arial" panose="020B0604020202020204" pitchFamily="34" charset="0"/>
              </a:rPr>
            </a:br>
            <a:endParaRPr lang="en-US" sz="3600" dirty="0"/>
          </a:p>
        </p:txBody>
      </p:sp>
      <p:sp>
        <p:nvSpPr>
          <p:cNvPr id="3" name="Content Placeholder 2">
            <a:extLst>
              <a:ext uri="{FF2B5EF4-FFF2-40B4-BE49-F238E27FC236}">
                <a16:creationId xmlns:a16="http://schemas.microsoft.com/office/drawing/2014/main" id="{798CE1FA-8556-B1E2-9913-96D3F7D55E9E}"/>
              </a:ext>
            </a:extLst>
          </p:cNvPr>
          <p:cNvSpPr>
            <a:spLocks noGrp="1"/>
          </p:cNvSpPr>
          <p:nvPr>
            <p:ph idx="1"/>
          </p:nvPr>
        </p:nvSpPr>
        <p:spPr>
          <a:xfrm>
            <a:off x="838200" y="1183341"/>
            <a:ext cx="10515600" cy="5206825"/>
          </a:xfrm>
        </p:spPr>
        <p:txBody>
          <a:bodyPr>
            <a:normAutofit/>
          </a:bodyPr>
          <a:lstStyle/>
          <a:p>
            <a:r>
              <a:rPr lang="en-IN" sz="1800" b="1" i="0" u="none" strike="noStrike" dirty="0">
                <a:solidFill>
                  <a:srgbClr val="1B1C1D"/>
                </a:solidFill>
                <a:effectLst/>
                <a:latin typeface="Google Sans"/>
              </a:rPr>
              <a:t>Implementation: DLS and </a:t>
            </a:r>
            <a:r>
              <a:rPr lang="en-IN" sz="1800" b="1" i="0" u="none" strike="noStrike" dirty="0" err="1">
                <a:solidFill>
                  <a:srgbClr val="1B1C1D"/>
                </a:solidFill>
                <a:effectLst/>
                <a:latin typeface="Google Sans"/>
              </a:rPr>
              <a:t>Neighbors</a:t>
            </a:r>
            <a:endParaRPr lang="en-IN" sz="1800" b="1" i="0" u="none" strike="noStrike" dirty="0">
              <a:solidFill>
                <a:srgbClr val="1B1C1D"/>
              </a:solidFill>
              <a:effectLst/>
              <a:latin typeface="Google Sans"/>
            </a:endParaRPr>
          </a:p>
          <a:p>
            <a:r>
              <a:rPr lang="en-IN" sz="1800" b="1" i="0" u="none" strike="noStrike" dirty="0">
                <a:solidFill>
                  <a:srgbClr val="1B1C1D"/>
                </a:solidFill>
                <a:effectLst/>
                <a:latin typeface="Google Sans"/>
              </a:rPr>
              <a:t>Depth-Limited Search (</a:t>
            </a:r>
            <a:r>
              <a:rPr lang="en-IN" sz="1800" b="1" i="0" u="none" strike="noStrike" dirty="0" err="1">
                <a:solidFill>
                  <a:srgbClr val="1B1C1D"/>
                </a:solidFill>
                <a:effectLst/>
                <a:latin typeface="Google Sans"/>
              </a:rPr>
              <a:t>depth_limited_search</a:t>
            </a:r>
            <a:r>
              <a:rPr lang="en-IN" sz="1800" b="1" i="0" u="none" strike="noStrike" dirty="0">
                <a:solidFill>
                  <a:srgbClr val="1B1C1D"/>
                </a:solidFill>
                <a:effectLst/>
                <a:latin typeface="Google Sans"/>
              </a:rPr>
              <a:t>)</a:t>
            </a:r>
            <a:endParaRPr lang="en-IN" sz="1800" b="1" i="0" dirty="0">
              <a:solidFill>
                <a:srgbClr val="000000"/>
              </a:solidFill>
              <a:effectLst/>
              <a:latin typeface="Arial" panose="020B0604020202020204" pitchFamily="34" charset="0"/>
            </a:endParaRPr>
          </a:p>
          <a:p>
            <a:r>
              <a:rPr lang="en-IN" sz="1800" b="0" i="0" u="none" strike="noStrike" dirty="0">
                <a:solidFill>
                  <a:srgbClr val="1B1C1D"/>
                </a:solidFill>
                <a:effectLst/>
                <a:latin typeface="Google Sans Text"/>
              </a:rPr>
              <a:t>DLS is the recursive function that executes the search at a specific depth limit, ensuring the overall IDS search remains bounded and complete.</a:t>
            </a:r>
            <a:endParaRPr lang="en-IN" sz="1800" b="0" i="0" dirty="0">
              <a:solidFill>
                <a:srgbClr val="000000"/>
              </a:solidFill>
              <a:effectLst/>
              <a:latin typeface="Arial" panose="020B0604020202020204" pitchFamily="34" charset="0"/>
            </a:endParaRPr>
          </a:p>
          <a:p>
            <a:endParaRPr lang="en-IN" sz="1800" b="0" i="0" u="none" strike="noStrike" dirty="0">
              <a:solidFill>
                <a:srgbClr val="1B1C1D"/>
              </a:solidFill>
              <a:effectLst/>
              <a:latin typeface="Google Sans Text"/>
            </a:endParaRPr>
          </a:p>
          <a:p>
            <a:endParaRPr lang="en-IN" sz="1800" dirty="0">
              <a:solidFill>
                <a:srgbClr val="1B1C1D"/>
              </a:solidFill>
              <a:latin typeface="Google Sans Text"/>
            </a:endParaRPr>
          </a:p>
          <a:p>
            <a:endParaRPr lang="en-IN" sz="1800" b="0" i="0" u="none" strike="noStrike" dirty="0">
              <a:solidFill>
                <a:srgbClr val="1B1C1D"/>
              </a:solidFill>
              <a:effectLst/>
              <a:latin typeface="Google Sans Text"/>
            </a:endParaRPr>
          </a:p>
          <a:p>
            <a:endParaRPr lang="en-IN" sz="1800" dirty="0">
              <a:solidFill>
                <a:srgbClr val="1B1C1D"/>
              </a:solidFill>
              <a:latin typeface="Google Sans Text"/>
            </a:endParaRPr>
          </a:p>
          <a:p>
            <a:pPr marL="0" indent="0">
              <a:buNone/>
            </a:pPr>
            <a:br>
              <a:rPr lang="en-IN" sz="1800" b="0" i="0" u="none" strike="noStrike" dirty="0">
                <a:solidFill>
                  <a:srgbClr val="1B1C1D"/>
                </a:solidFill>
                <a:effectLst/>
                <a:latin typeface="Google Sans Text"/>
              </a:rPr>
            </a:br>
            <a:endParaRPr lang="en-IN" sz="1800" b="0" i="0" dirty="0">
              <a:solidFill>
                <a:srgbClr val="000000"/>
              </a:solidFill>
              <a:effectLst/>
              <a:latin typeface="Arial" panose="020B0604020202020204" pitchFamily="34" charset="0"/>
            </a:endParaRPr>
          </a:p>
          <a:p>
            <a:endParaRPr lang="en-IN" sz="1800" b="1" i="0" u="none" strike="noStrike" dirty="0">
              <a:solidFill>
                <a:srgbClr val="1B1C1D"/>
              </a:solidFill>
              <a:effectLst/>
              <a:latin typeface="Google Sans"/>
            </a:endParaRPr>
          </a:p>
          <a:p>
            <a:endParaRPr lang="en-IN" sz="1800" b="1" i="0" u="none" strike="noStrike" dirty="0">
              <a:solidFill>
                <a:srgbClr val="1B1C1D"/>
              </a:solidFill>
              <a:effectLst/>
              <a:latin typeface="Google Sans"/>
            </a:endParaRPr>
          </a:p>
          <a:p>
            <a:r>
              <a:rPr lang="en-IN" sz="1800" b="1" i="0" u="none" strike="noStrike" dirty="0" err="1">
                <a:solidFill>
                  <a:srgbClr val="1B1C1D"/>
                </a:solidFill>
                <a:effectLst/>
                <a:latin typeface="Google Sans"/>
              </a:rPr>
              <a:t>Neighbor</a:t>
            </a:r>
            <a:r>
              <a:rPr lang="en-IN" sz="1800" b="1" i="0" u="none" strike="noStrike" dirty="0">
                <a:solidFill>
                  <a:srgbClr val="1B1C1D"/>
                </a:solidFill>
                <a:effectLst/>
                <a:latin typeface="Google Sans"/>
              </a:rPr>
              <a:t> Generation</a:t>
            </a:r>
            <a:endParaRPr lang="en-IN" sz="1800" b="1" i="0" dirty="0">
              <a:solidFill>
                <a:srgbClr val="000000"/>
              </a:solidFill>
              <a:effectLst/>
              <a:latin typeface="Arial" panose="020B0604020202020204" pitchFamily="34" charset="0"/>
            </a:endParaRPr>
          </a:p>
          <a:p>
            <a:r>
              <a:rPr lang="en-IN" sz="1800" b="0" i="0" u="none" strike="noStrike" dirty="0">
                <a:solidFill>
                  <a:srgbClr val="1B1C1D"/>
                </a:solidFill>
                <a:effectLst/>
                <a:latin typeface="Google Sans Text"/>
              </a:rPr>
              <a:t>The </a:t>
            </a:r>
            <a:r>
              <a:rPr lang="en-IN" sz="1800" b="0" i="0" u="none" strike="noStrike" dirty="0" err="1">
                <a:solidFill>
                  <a:srgbClr val="1B1C1D"/>
                </a:solidFill>
                <a:effectLst/>
                <a:latin typeface="Google Sans Text"/>
              </a:rPr>
              <a:t>generate_neighbors</a:t>
            </a:r>
            <a:r>
              <a:rPr lang="en-IN" sz="1800" b="0" i="0" u="none" strike="noStrike" dirty="0">
                <a:solidFill>
                  <a:srgbClr val="1B1C1D"/>
                </a:solidFill>
                <a:effectLst/>
                <a:latin typeface="Google Sans Text"/>
              </a:rPr>
              <a:t> function finds the blank tile (0) and checks the four possible moves (Up, Down, Left, Right) within the board boundaries.</a:t>
            </a:r>
            <a:endParaRPr lang="en-IN" sz="1800" b="0" i="0" dirty="0">
              <a:solidFill>
                <a:srgbClr val="000000"/>
              </a:solidFill>
              <a:effectLst/>
              <a:latin typeface="Arial" panose="020B0604020202020204" pitchFamily="34" charset="0"/>
            </a:endParaRPr>
          </a:p>
          <a:p>
            <a:pPr marL="0" indent="0">
              <a:buNone/>
            </a:pPr>
            <a:endParaRPr lang="en-US" dirty="0"/>
          </a:p>
        </p:txBody>
      </p:sp>
      <p:pic>
        <p:nvPicPr>
          <p:cNvPr id="5" name="Picture 4">
            <a:extLst>
              <a:ext uri="{FF2B5EF4-FFF2-40B4-BE49-F238E27FC236}">
                <a16:creationId xmlns:a16="http://schemas.microsoft.com/office/drawing/2014/main" id="{C2DEC77C-185F-EDB6-C484-9D40550400DD}"/>
              </a:ext>
            </a:extLst>
          </p:cNvPr>
          <p:cNvPicPr>
            <a:picLocks noChangeAspect="1"/>
          </p:cNvPicPr>
          <p:nvPr/>
        </p:nvPicPr>
        <p:blipFill>
          <a:blip r:embed="rId2">
            <a:extLst>
              <a:ext uri="{28A0092B-C50C-407E-A947-70E740481C1C}">
                <a14:useLocalDpi xmlns:a14="http://schemas.microsoft.com/office/drawing/2010/main" val="0"/>
              </a:ext>
            </a:extLst>
          </a:blip>
          <a:srcRect l="4416" t="9649" r="5250" b="11768"/>
          <a:stretch>
            <a:fillRect/>
          </a:stretch>
        </p:blipFill>
        <p:spPr>
          <a:xfrm>
            <a:off x="1153751" y="2624076"/>
            <a:ext cx="7477760" cy="2559270"/>
          </a:xfrm>
          <a:prstGeom prst="rect">
            <a:avLst/>
          </a:prstGeom>
        </p:spPr>
      </p:pic>
    </p:spTree>
    <p:extLst>
      <p:ext uri="{BB962C8B-B14F-4D97-AF65-F5344CB8AC3E}">
        <p14:creationId xmlns:p14="http://schemas.microsoft.com/office/powerpoint/2010/main" val="220803802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868016-A142-2985-6E9F-57D8C3BA3815}"/>
              </a:ext>
            </a:extLst>
          </p:cNvPr>
          <p:cNvSpPr>
            <a:spLocks noGrp="1"/>
          </p:cNvSpPr>
          <p:nvPr>
            <p:ph type="title"/>
          </p:nvPr>
        </p:nvSpPr>
        <p:spPr/>
        <p:txBody>
          <a:bodyPr>
            <a:normAutofit/>
          </a:bodyPr>
          <a:lstStyle/>
          <a:p>
            <a:r>
              <a:rPr lang="en-IN" sz="3600" b="1" dirty="0"/>
              <a:t>Output: Solution Path and Board Transitions</a:t>
            </a:r>
            <a:endParaRPr lang="en-US" sz="3600" b="1" dirty="0"/>
          </a:p>
        </p:txBody>
      </p:sp>
      <p:sp>
        <p:nvSpPr>
          <p:cNvPr id="3" name="Content Placeholder 2">
            <a:extLst>
              <a:ext uri="{FF2B5EF4-FFF2-40B4-BE49-F238E27FC236}">
                <a16:creationId xmlns:a16="http://schemas.microsoft.com/office/drawing/2014/main" id="{6ABF18C5-1CDF-48BD-0EBC-871D1A9391B2}"/>
              </a:ext>
            </a:extLst>
          </p:cNvPr>
          <p:cNvSpPr>
            <a:spLocks noGrp="1"/>
          </p:cNvSpPr>
          <p:nvPr>
            <p:ph idx="1"/>
          </p:nvPr>
        </p:nvSpPr>
        <p:spPr>
          <a:xfrm>
            <a:off x="838200" y="1354445"/>
            <a:ext cx="10515600" cy="4351338"/>
          </a:xfrm>
        </p:spPr>
        <p:txBody>
          <a:bodyPr>
            <a:normAutofit/>
          </a:bodyPr>
          <a:lstStyle/>
          <a:p>
            <a:pPr marL="0" indent="0">
              <a:buNone/>
            </a:pPr>
            <a:r>
              <a:rPr lang="en-IN" sz="1800" dirty="0"/>
              <a:t>The final output is the minimal sequence of moves (U, D, L, R) that transitions the initial board to the goal state.
Example Board Transition (Move D)</a:t>
            </a:r>
            <a:endParaRPr lang="en-US" sz="1800" dirty="0"/>
          </a:p>
        </p:txBody>
      </p:sp>
      <p:graphicFrame>
        <p:nvGraphicFramePr>
          <p:cNvPr id="5" name="Table 4">
            <a:extLst>
              <a:ext uri="{FF2B5EF4-FFF2-40B4-BE49-F238E27FC236}">
                <a16:creationId xmlns:a16="http://schemas.microsoft.com/office/drawing/2014/main" id="{0CB821BA-7725-54FA-7DE4-2EC51096B695}"/>
              </a:ext>
            </a:extLst>
          </p:cNvPr>
          <p:cNvGraphicFramePr/>
          <p:nvPr>
            <p:extLst>
              <p:ext uri="{D42A27DB-BD31-4B8C-83A1-F6EECF244321}">
                <p14:modId xmlns:p14="http://schemas.microsoft.com/office/powerpoint/2010/main" val="4008747634"/>
              </p:ext>
            </p:extLst>
          </p:nvPr>
        </p:nvGraphicFramePr>
        <p:xfrm>
          <a:off x="986118" y="2309684"/>
          <a:ext cx="5943600" cy="792480"/>
        </p:xfrm>
        <a:graphic>
          <a:graphicData uri="http://schemas.openxmlformats.org/drawingml/2006/table">
            <a:tbl>
              <a:tblPr>
                <a:tableStyleId>{5C22544A-7EE6-4342-B048-85BDC9FD1C3A}</a:tableStyleId>
              </a:tblPr>
              <a:tblGrid>
                <a:gridCol w="1981200">
                  <a:extLst>
                    <a:ext uri="{9D8B030D-6E8A-4147-A177-3AD203B41FA5}">
                      <a16:colId xmlns:a16="http://schemas.microsoft.com/office/drawing/2014/main" val="3306347813"/>
                    </a:ext>
                  </a:extLst>
                </a:gridCol>
                <a:gridCol w="1981200">
                  <a:extLst>
                    <a:ext uri="{9D8B030D-6E8A-4147-A177-3AD203B41FA5}">
                      <a16:colId xmlns:a16="http://schemas.microsoft.com/office/drawing/2014/main" val="3225959969"/>
                    </a:ext>
                  </a:extLst>
                </a:gridCol>
                <a:gridCol w="1981200">
                  <a:extLst>
                    <a:ext uri="{9D8B030D-6E8A-4147-A177-3AD203B41FA5}">
                      <a16:colId xmlns:a16="http://schemas.microsoft.com/office/drawing/2014/main" val="2723798137"/>
                    </a:ext>
                  </a:extLst>
                </a:gridCol>
              </a:tblGrid>
              <a:tr h="0">
                <a:tc>
                  <a:txBody>
                    <a:bodyPr/>
                    <a:lstStyle/>
                    <a:p>
                      <a:pPr algn="l" fontAlgn="t">
                        <a:buNone/>
                      </a:pPr>
                      <a:r>
                        <a:rPr lang="en-IN" sz="1600" u="none" strike="noStrike">
                          <a:effectLst/>
                        </a:rPr>
                        <a:t>Initial State</a:t>
                      </a:r>
                      <a:endParaRPr lang="en-IN" sz="1600">
                        <a:solidFill>
                          <a:srgbClr val="000000"/>
                        </a:solidFill>
                        <a:effectLst/>
                        <a:latin typeface="Arial" panose="020B0604020202020204" pitchFamily="34" charset="0"/>
                      </a:endParaRPr>
                    </a:p>
                  </a:txBody>
                  <a:tcPr marL="114300" marR="114300" marT="76200" marB="76200"/>
                </a:tc>
                <a:tc>
                  <a:txBody>
                    <a:bodyPr/>
                    <a:lstStyle/>
                    <a:p>
                      <a:pPr algn="l" fontAlgn="t">
                        <a:buNone/>
                      </a:pPr>
                      <a:r>
                        <a:rPr lang="en-IN" sz="1600" u="none" strike="noStrike">
                          <a:effectLst/>
                        </a:rPr>
                        <a:t>After move R</a:t>
                      </a:r>
                      <a:endParaRPr lang="en-IN" sz="1600">
                        <a:solidFill>
                          <a:srgbClr val="000000"/>
                        </a:solidFill>
                        <a:effectLst/>
                        <a:latin typeface="Arial" panose="020B0604020202020204" pitchFamily="34" charset="0"/>
                      </a:endParaRPr>
                    </a:p>
                  </a:txBody>
                  <a:tcPr marL="114300" marR="114300" marT="76200" marB="76200"/>
                </a:tc>
                <a:tc>
                  <a:txBody>
                    <a:bodyPr/>
                    <a:lstStyle/>
                    <a:p>
                      <a:pPr algn="l" fontAlgn="t">
                        <a:buNone/>
                      </a:pPr>
                      <a:r>
                        <a:rPr lang="en-IN" sz="1600" u="none" strike="noStrike">
                          <a:effectLst/>
                        </a:rPr>
                        <a:t>After move D</a:t>
                      </a:r>
                      <a:endParaRPr lang="en-IN" sz="1600">
                        <a:solidFill>
                          <a:srgbClr val="000000"/>
                        </a:solidFill>
                        <a:effectLst/>
                        <a:latin typeface="Arial" panose="020B0604020202020204" pitchFamily="34" charset="0"/>
                      </a:endParaRPr>
                    </a:p>
                  </a:txBody>
                  <a:tcPr marL="114300" marR="114300" marT="76200" marB="76200"/>
                </a:tc>
                <a:extLst>
                  <a:ext uri="{0D108BD9-81ED-4DB2-BD59-A6C34878D82A}">
                    <a16:rowId xmlns:a16="http://schemas.microsoft.com/office/drawing/2014/main" val="734840585"/>
                  </a:ext>
                </a:extLst>
              </a:tr>
              <a:tr h="0">
                <a:tc>
                  <a:txBody>
                    <a:bodyPr/>
                    <a:lstStyle/>
                    <a:p>
                      <a:pPr algn="l" fontAlgn="t">
                        <a:buNone/>
                      </a:pPr>
                      <a:r>
                        <a:rPr lang="en-IN" sz="1600" u="none" strike="noStrike">
                          <a:effectLst/>
                        </a:rPr>
                        <a:t>1 4 2 / 3 0 5 / 6 7 8</a:t>
                      </a:r>
                      <a:endParaRPr lang="en-IN" sz="1600">
                        <a:solidFill>
                          <a:srgbClr val="000000"/>
                        </a:solidFill>
                        <a:effectLst/>
                        <a:latin typeface="Arial" panose="020B0604020202020204" pitchFamily="34" charset="0"/>
                      </a:endParaRPr>
                    </a:p>
                  </a:txBody>
                  <a:tcPr marL="114300" marR="114300" marT="76200" marB="76200"/>
                </a:tc>
                <a:tc>
                  <a:txBody>
                    <a:bodyPr/>
                    <a:lstStyle/>
                    <a:p>
                      <a:pPr algn="l" fontAlgn="t">
                        <a:buNone/>
                      </a:pPr>
                      <a:r>
                        <a:rPr lang="en-IN" sz="1600" u="none" strike="noStrike">
                          <a:effectLst/>
                        </a:rPr>
                        <a:t>1 4 2 / 3 5 0 / 6 7 8</a:t>
                      </a:r>
                      <a:endParaRPr lang="en-IN" sz="1600">
                        <a:solidFill>
                          <a:srgbClr val="000000"/>
                        </a:solidFill>
                        <a:effectLst/>
                        <a:latin typeface="Arial" panose="020B0604020202020204" pitchFamily="34" charset="0"/>
                      </a:endParaRPr>
                    </a:p>
                  </a:txBody>
                  <a:tcPr marL="114300" marR="114300" marT="76200" marB="76200"/>
                </a:tc>
                <a:tc>
                  <a:txBody>
                    <a:bodyPr/>
                    <a:lstStyle/>
                    <a:p>
                      <a:pPr algn="l" fontAlgn="t">
                        <a:buNone/>
                      </a:pPr>
                      <a:r>
                        <a:rPr lang="en-IN" sz="1600" u="none" strike="noStrike" dirty="0">
                          <a:effectLst/>
                        </a:rPr>
                        <a:t>1 4 2 / 3 5 8 / 6 7 0</a:t>
                      </a:r>
                      <a:endParaRPr lang="en-IN" sz="1600" dirty="0">
                        <a:solidFill>
                          <a:srgbClr val="000000"/>
                        </a:solidFill>
                        <a:effectLst/>
                        <a:latin typeface="Arial" panose="020B0604020202020204" pitchFamily="34" charset="0"/>
                      </a:endParaRPr>
                    </a:p>
                  </a:txBody>
                  <a:tcPr marL="114300" marR="114300" marT="76200" marB="76200"/>
                </a:tc>
                <a:extLst>
                  <a:ext uri="{0D108BD9-81ED-4DB2-BD59-A6C34878D82A}">
                    <a16:rowId xmlns:a16="http://schemas.microsoft.com/office/drawing/2014/main" val="4204638985"/>
                  </a:ext>
                </a:extLst>
              </a:tr>
            </a:tbl>
          </a:graphicData>
        </a:graphic>
      </p:graphicFrame>
      <p:sp>
        <p:nvSpPr>
          <p:cNvPr id="7" name="TextBox 6">
            <a:extLst>
              <a:ext uri="{FF2B5EF4-FFF2-40B4-BE49-F238E27FC236}">
                <a16:creationId xmlns:a16="http://schemas.microsoft.com/office/drawing/2014/main" id="{0C4D3B95-765F-E38E-0DBD-091F3DE75BD9}"/>
              </a:ext>
            </a:extLst>
          </p:cNvPr>
          <p:cNvSpPr txBox="1"/>
          <p:nvPr/>
        </p:nvSpPr>
        <p:spPr>
          <a:xfrm>
            <a:off x="909918" y="3186450"/>
            <a:ext cx="6096000" cy="3508653"/>
          </a:xfrm>
          <a:prstGeom prst="rect">
            <a:avLst/>
          </a:prstGeom>
          <a:noFill/>
        </p:spPr>
        <p:txBody>
          <a:bodyPr wrap="square">
            <a:spAutoFit/>
          </a:bodyPr>
          <a:lstStyle/>
          <a:p>
            <a:pPr algn="l">
              <a:buNone/>
            </a:pPr>
            <a:r>
              <a:rPr lang="en-IN" sz="2400" b="1" i="0" u="none" strike="noStrike" dirty="0">
                <a:solidFill>
                  <a:srgbClr val="1B1C1D"/>
                </a:solidFill>
                <a:effectLst/>
                <a:latin typeface="Google Sans"/>
              </a:rPr>
              <a:t>Output Format</a:t>
            </a:r>
            <a:endParaRPr lang="en-IN" sz="2400" b="1" i="0" dirty="0">
              <a:solidFill>
                <a:srgbClr val="000000"/>
              </a:solidFill>
              <a:effectLst/>
              <a:latin typeface="Arial" panose="020B0604020202020204" pitchFamily="34" charset="0"/>
            </a:endParaRPr>
          </a:p>
          <a:p>
            <a:pPr algn="l">
              <a:buNone/>
            </a:pPr>
            <a:r>
              <a:rPr lang="en-IN" sz="1800" b="0" i="0" u="none" strike="noStrike" dirty="0">
                <a:solidFill>
                  <a:srgbClr val="1B1C1D"/>
                </a:solidFill>
                <a:effectLst/>
                <a:latin typeface="Google Sans Text"/>
              </a:rPr>
              <a:t>The </a:t>
            </a:r>
            <a:r>
              <a:rPr lang="en-IN" sz="1800" b="0" i="0" u="none" strike="noStrike" dirty="0" err="1">
                <a:solidFill>
                  <a:srgbClr val="1B1C1D"/>
                </a:solidFill>
                <a:effectLst/>
                <a:latin typeface="Google Sans Text"/>
              </a:rPr>
              <a:t>write_output</a:t>
            </a:r>
            <a:r>
              <a:rPr lang="en-IN" sz="1800" b="0" i="0" u="none" strike="noStrike" dirty="0">
                <a:solidFill>
                  <a:srgbClr val="1B1C1D"/>
                </a:solidFill>
                <a:effectLst/>
                <a:latin typeface="Google Sans Text"/>
              </a:rPr>
              <a:t> function displays the board state and the move (U, D, L, or R) taken to reach that state, providing a clear trace of the solution path.</a:t>
            </a:r>
            <a:endParaRPr lang="en-IN" sz="1800" b="0" i="0" dirty="0">
              <a:solidFill>
                <a:srgbClr val="000000"/>
              </a:solidFill>
              <a:effectLst/>
              <a:latin typeface="Arial" panose="020B0604020202020204" pitchFamily="34" charset="0"/>
            </a:endParaRPr>
          </a:p>
          <a:p>
            <a:pPr algn="l">
              <a:buNone/>
            </a:pPr>
            <a:r>
              <a:rPr lang="en-IN" sz="1800" b="0" i="0" u="none" strike="noStrike" dirty="0">
                <a:solidFill>
                  <a:srgbClr val="1B1C1D"/>
                </a:solidFill>
                <a:effectLst/>
                <a:latin typeface="Google Sans Text"/>
              </a:rPr>
              <a:t>Initial state:</a:t>
            </a:r>
            <a:br>
              <a:rPr lang="en-IN" sz="1800" b="0" i="0" u="none" strike="noStrike" dirty="0">
                <a:solidFill>
                  <a:srgbClr val="1B1C1D"/>
                </a:solidFill>
                <a:effectLst/>
                <a:latin typeface="Google Sans Text"/>
              </a:rPr>
            </a:br>
            <a:r>
              <a:rPr lang="en-IN" sz="1800" b="0" i="0" u="none" strike="noStrike" dirty="0">
                <a:solidFill>
                  <a:srgbClr val="1B1C1D"/>
                </a:solidFill>
                <a:effectLst/>
                <a:latin typeface="Google Sans Text"/>
              </a:rPr>
              <a:t>1 4 2</a:t>
            </a:r>
            <a:br>
              <a:rPr lang="en-IN" sz="1800" b="0" i="0" u="none" strike="noStrike" dirty="0">
                <a:solidFill>
                  <a:srgbClr val="1B1C1D"/>
                </a:solidFill>
                <a:effectLst/>
                <a:latin typeface="Google Sans Text"/>
              </a:rPr>
            </a:br>
            <a:r>
              <a:rPr lang="en-IN" sz="1800" b="0" i="0" u="none" strike="noStrike" dirty="0">
                <a:solidFill>
                  <a:srgbClr val="1B1C1D"/>
                </a:solidFill>
                <a:effectLst/>
                <a:latin typeface="Google Sans Text"/>
              </a:rPr>
              <a:t>3 0 5</a:t>
            </a:r>
            <a:br>
              <a:rPr lang="en-IN" sz="1800" b="0" i="0" u="none" strike="noStrike" dirty="0">
                <a:solidFill>
                  <a:srgbClr val="1B1C1D"/>
                </a:solidFill>
                <a:effectLst/>
                <a:latin typeface="Google Sans Text"/>
              </a:rPr>
            </a:br>
            <a:r>
              <a:rPr lang="en-IN" sz="1800" b="0" i="0" u="none" strike="noStrike" dirty="0">
                <a:solidFill>
                  <a:srgbClr val="1B1C1D"/>
                </a:solidFill>
                <a:effectLst/>
                <a:latin typeface="Google Sans Text"/>
              </a:rPr>
              <a:t>6 7 8</a:t>
            </a:r>
            <a:br>
              <a:rPr lang="en-IN" sz="1800" b="0" i="0" u="none" strike="noStrike" dirty="0">
                <a:solidFill>
                  <a:srgbClr val="1B1C1D"/>
                </a:solidFill>
                <a:effectLst/>
                <a:latin typeface="Google Sans Text"/>
              </a:rPr>
            </a:br>
            <a:r>
              <a:rPr lang="en-IN" sz="1800" b="0" i="0" u="none" strike="noStrike" dirty="0">
                <a:solidFill>
                  <a:srgbClr val="1B1C1D"/>
                </a:solidFill>
                <a:effectLst/>
                <a:latin typeface="Google Sans Text"/>
              </a:rPr>
              <a:t>After move R:</a:t>
            </a:r>
            <a:br>
              <a:rPr lang="en-IN" sz="1800" b="0" i="0" u="none" strike="noStrike" dirty="0">
                <a:solidFill>
                  <a:srgbClr val="1B1C1D"/>
                </a:solidFill>
                <a:effectLst/>
                <a:latin typeface="Google Sans Text"/>
              </a:rPr>
            </a:br>
            <a:r>
              <a:rPr lang="en-IN" sz="1800" b="0" i="0" u="none" strike="noStrike" dirty="0">
                <a:solidFill>
                  <a:srgbClr val="1B1C1D"/>
                </a:solidFill>
                <a:effectLst/>
                <a:latin typeface="Google Sans Text"/>
              </a:rPr>
              <a:t>1 4 2</a:t>
            </a:r>
            <a:br>
              <a:rPr lang="en-IN" sz="1800" b="0" i="0" u="none" strike="noStrike" dirty="0">
                <a:solidFill>
                  <a:srgbClr val="1B1C1D"/>
                </a:solidFill>
                <a:effectLst/>
                <a:latin typeface="Google Sans Text"/>
              </a:rPr>
            </a:br>
            <a:r>
              <a:rPr lang="en-IN" sz="1800" b="0" i="0" u="none" strike="noStrike" dirty="0">
                <a:solidFill>
                  <a:srgbClr val="1B1C1D"/>
                </a:solidFill>
                <a:effectLst/>
                <a:latin typeface="Google Sans Text"/>
              </a:rPr>
              <a:t>3 5 0</a:t>
            </a:r>
            <a:br>
              <a:rPr lang="en-IN" sz="1800" b="0" i="0" u="none" strike="noStrike" dirty="0">
                <a:solidFill>
                  <a:srgbClr val="1B1C1D"/>
                </a:solidFill>
                <a:effectLst/>
                <a:latin typeface="Google Sans Text"/>
              </a:rPr>
            </a:br>
            <a:r>
              <a:rPr lang="en-IN" sz="1800" b="0" i="0" u="none" strike="noStrike" dirty="0">
                <a:solidFill>
                  <a:srgbClr val="1B1C1D"/>
                </a:solidFill>
                <a:effectLst/>
                <a:latin typeface="Google Sans Text"/>
              </a:rPr>
              <a:t>6 7 8</a:t>
            </a:r>
            <a:endParaRPr lang="en-IN" sz="1800" b="0" i="0" dirty="0">
              <a:solidFill>
                <a:srgbClr val="000000"/>
              </a:solidFill>
              <a:effectLst/>
              <a:latin typeface="Arial" panose="020B0604020202020204" pitchFamily="34" charset="0"/>
            </a:endParaRPr>
          </a:p>
        </p:txBody>
      </p:sp>
    </p:spTree>
    <p:extLst>
      <p:ext uri="{BB962C8B-B14F-4D97-AF65-F5344CB8AC3E}">
        <p14:creationId xmlns:p14="http://schemas.microsoft.com/office/powerpoint/2010/main" val="258106605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E8A92-ECE9-D419-6D4F-180625149D98}"/>
              </a:ext>
            </a:extLst>
          </p:cNvPr>
          <p:cNvSpPr>
            <a:spLocks noGrp="1"/>
          </p:cNvSpPr>
          <p:nvPr>
            <p:ph type="title"/>
          </p:nvPr>
        </p:nvSpPr>
        <p:spPr/>
        <p:txBody>
          <a:bodyPr/>
          <a:lstStyle/>
          <a:p>
            <a:r>
              <a:rPr lang="en-IN" sz="3600" b="1" dirty="0"/>
              <a:t>Analysis and Conclusion</a:t>
            </a:r>
            <a:endParaRPr lang="en-US" sz="1800" b="1" dirty="0"/>
          </a:p>
        </p:txBody>
      </p:sp>
      <p:sp>
        <p:nvSpPr>
          <p:cNvPr id="3" name="Content Placeholder 2">
            <a:extLst>
              <a:ext uri="{FF2B5EF4-FFF2-40B4-BE49-F238E27FC236}">
                <a16:creationId xmlns:a16="http://schemas.microsoft.com/office/drawing/2014/main" id="{CCB639FE-2215-B6E6-D386-2745CE39F98B}"/>
              </a:ext>
            </a:extLst>
          </p:cNvPr>
          <p:cNvSpPr>
            <a:spLocks noGrp="1"/>
          </p:cNvSpPr>
          <p:nvPr>
            <p:ph idx="1"/>
          </p:nvPr>
        </p:nvSpPr>
        <p:spPr>
          <a:xfrm>
            <a:off x="838200" y="1511393"/>
            <a:ext cx="10515600" cy="4351338"/>
          </a:xfrm>
        </p:spPr>
        <p:txBody>
          <a:bodyPr/>
          <a:lstStyle/>
          <a:p>
            <a:r>
              <a:rPr lang="en-IN" sz="1800" b="1" i="0" dirty="0">
                <a:solidFill>
                  <a:srgbClr val="1B1C1D"/>
                </a:solidFill>
                <a:effectLst/>
                <a:latin typeface="Google Sans Text"/>
              </a:rPr>
              <a:t>Conclusion:</a:t>
            </a:r>
            <a:r>
              <a:rPr lang="en-IN" sz="1800" b="0" i="0" u="none" strike="noStrike" dirty="0">
                <a:solidFill>
                  <a:srgbClr val="1B1C1D"/>
                </a:solidFill>
                <a:effectLst/>
                <a:latin typeface="Google Sans Text"/>
              </a:rPr>
              <a:t> The 8-Puzzle has a wide, shallow search space where the optimal solution depth () is relatively small (max 31 moves for ).</a:t>
            </a:r>
            <a:endParaRPr lang="en-IN" sz="1800" b="0" i="0" dirty="0">
              <a:solidFill>
                <a:srgbClr val="000000"/>
              </a:solidFill>
              <a:effectLst/>
              <a:latin typeface="Arial" panose="020B0604020202020204" pitchFamily="34" charset="0"/>
            </a:endParaRPr>
          </a:p>
          <a:p>
            <a:r>
              <a:rPr lang="en-IN" sz="1800" b="1" i="0" dirty="0">
                <a:solidFill>
                  <a:srgbClr val="1B1C1D"/>
                </a:solidFill>
                <a:effectLst/>
                <a:latin typeface="Google Sans Text"/>
              </a:rPr>
              <a:t>IDS is optimal</a:t>
            </a:r>
            <a:r>
              <a:rPr lang="en-IN" sz="1800" b="0" i="0" u="none" strike="noStrike" dirty="0">
                <a:solidFill>
                  <a:srgbClr val="1B1C1D"/>
                </a:solidFill>
                <a:effectLst/>
                <a:latin typeface="Google Sans Text"/>
              </a:rPr>
              <a:t> because it finds the shortest path while avoiding the massive memory overhead associated with storing all nodes at each level, which is required by BFS.</a:t>
            </a:r>
            <a:endParaRPr lang="en-IN" sz="1800" b="0" i="0" dirty="0">
              <a:solidFill>
                <a:srgbClr val="000000"/>
              </a:solidFill>
              <a:effectLst/>
              <a:latin typeface="Arial" panose="020B0604020202020204" pitchFamily="34" charset="0"/>
            </a:endParaRPr>
          </a:p>
          <a:p>
            <a:pPr marL="0" indent="0">
              <a:buNone/>
            </a:pPr>
            <a:r>
              <a:rPr lang="en-IN" dirty="0"/>
              <a:t>Analysis: Why IDS for the 8-Puzzle?</a:t>
            </a:r>
            <a:endParaRPr lang="en-US" dirty="0"/>
          </a:p>
        </p:txBody>
      </p:sp>
      <p:graphicFrame>
        <p:nvGraphicFramePr>
          <p:cNvPr id="5" name="Table 4">
            <a:extLst>
              <a:ext uri="{FF2B5EF4-FFF2-40B4-BE49-F238E27FC236}">
                <a16:creationId xmlns:a16="http://schemas.microsoft.com/office/drawing/2014/main" id="{7932AD5E-C247-3FCA-21F5-80DDD760B725}"/>
              </a:ext>
            </a:extLst>
          </p:cNvPr>
          <p:cNvGraphicFramePr/>
          <p:nvPr>
            <p:extLst>
              <p:ext uri="{D42A27DB-BD31-4B8C-83A1-F6EECF244321}">
                <p14:modId xmlns:p14="http://schemas.microsoft.com/office/powerpoint/2010/main" val="2055469689"/>
              </p:ext>
            </p:extLst>
          </p:nvPr>
        </p:nvGraphicFramePr>
        <p:xfrm>
          <a:off x="838200" y="3318014"/>
          <a:ext cx="10515600" cy="2099110"/>
        </p:xfrm>
        <a:graphic>
          <a:graphicData uri="http://schemas.openxmlformats.org/drawingml/2006/table">
            <a:tbl>
              <a:tblPr>
                <a:tableStyleId>{5C22544A-7EE6-4342-B048-85BDC9FD1C3A}</a:tableStyleId>
              </a:tblPr>
              <a:tblGrid>
                <a:gridCol w="3505200">
                  <a:extLst>
                    <a:ext uri="{9D8B030D-6E8A-4147-A177-3AD203B41FA5}">
                      <a16:colId xmlns:a16="http://schemas.microsoft.com/office/drawing/2014/main" val="3122338931"/>
                    </a:ext>
                  </a:extLst>
                </a:gridCol>
                <a:gridCol w="3505200">
                  <a:extLst>
                    <a:ext uri="{9D8B030D-6E8A-4147-A177-3AD203B41FA5}">
                      <a16:colId xmlns:a16="http://schemas.microsoft.com/office/drawing/2014/main" val="262497923"/>
                    </a:ext>
                  </a:extLst>
                </a:gridCol>
                <a:gridCol w="3505200">
                  <a:extLst>
                    <a:ext uri="{9D8B030D-6E8A-4147-A177-3AD203B41FA5}">
                      <a16:colId xmlns:a16="http://schemas.microsoft.com/office/drawing/2014/main" val="3968633729"/>
                    </a:ext>
                  </a:extLst>
                </a:gridCol>
              </a:tblGrid>
              <a:tr h="408473">
                <a:tc>
                  <a:txBody>
                    <a:bodyPr/>
                    <a:lstStyle/>
                    <a:p>
                      <a:pPr algn="l" fontAlgn="t">
                        <a:buNone/>
                      </a:pPr>
                      <a:r>
                        <a:rPr lang="en-IN" sz="1800" u="none" strike="noStrike" dirty="0">
                          <a:effectLst/>
                        </a:rPr>
                        <a:t>Metric</a:t>
                      </a:r>
                      <a:endParaRPr lang="en-IN" sz="1800" dirty="0">
                        <a:solidFill>
                          <a:srgbClr val="000000"/>
                        </a:solidFill>
                        <a:effectLst/>
                        <a:latin typeface="Arial" panose="020B0604020202020204" pitchFamily="34" charset="0"/>
                      </a:endParaRPr>
                    </a:p>
                  </a:txBody>
                  <a:tcPr marL="114300" marR="114300" marT="76200" marB="76200"/>
                </a:tc>
                <a:tc>
                  <a:txBody>
                    <a:bodyPr/>
                    <a:lstStyle/>
                    <a:p>
                      <a:pPr algn="l" fontAlgn="t">
                        <a:buNone/>
                      </a:pPr>
                      <a:r>
                        <a:rPr lang="en-IN" sz="1800" u="none" strike="noStrike" dirty="0">
                          <a:effectLst/>
                        </a:rPr>
                        <a:t>BFS (Breadth-First)</a:t>
                      </a:r>
                      <a:endParaRPr lang="en-IN" sz="1800" dirty="0">
                        <a:solidFill>
                          <a:srgbClr val="000000"/>
                        </a:solidFill>
                        <a:effectLst/>
                        <a:latin typeface="Arial" panose="020B0604020202020204" pitchFamily="34" charset="0"/>
                      </a:endParaRPr>
                    </a:p>
                  </a:txBody>
                  <a:tcPr marL="114300" marR="114300" marT="76200" marB="76200"/>
                </a:tc>
                <a:tc>
                  <a:txBody>
                    <a:bodyPr/>
                    <a:lstStyle/>
                    <a:p>
                      <a:pPr algn="l" fontAlgn="t">
                        <a:buNone/>
                      </a:pPr>
                      <a:r>
                        <a:rPr lang="en-IN" sz="1800" u="none" strike="noStrike">
                          <a:effectLst/>
                        </a:rPr>
                        <a:t>IDS (Iterative Deepening)</a:t>
                      </a:r>
                      <a:endParaRPr lang="en-IN" sz="1800">
                        <a:solidFill>
                          <a:srgbClr val="000000"/>
                        </a:solidFill>
                        <a:effectLst/>
                        <a:latin typeface="Arial" panose="020B0604020202020204" pitchFamily="34" charset="0"/>
                      </a:endParaRPr>
                    </a:p>
                  </a:txBody>
                  <a:tcPr marL="114300" marR="114300" marT="76200" marB="76200"/>
                </a:tc>
                <a:extLst>
                  <a:ext uri="{0D108BD9-81ED-4DB2-BD59-A6C34878D82A}">
                    <a16:rowId xmlns:a16="http://schemas.microsoft.com/office/drawing/2014/main" val="2531304499"/>
                  </a:ext>
                </a:extLst>
              </a:tr>
              <a:tr h="622435">
                <a:tc>
                  <a:txBody>
                    <a:bodyPr/>
                    <a:lstStyle/>
                    <a:p>
                      <a:pPr algn="l" fontAlgn="t">
                        <a:buNone/>
                      </a:pPr>
                      <a:r>
                        <a:rPr lang="en-IN" sz="1800" u="none" strike="noStrike" dirty="0">
                          <a:effectLst/>
                        </a:rPr>
                        <a:t>Path Optimality</a:t>
                      </a:r>
                      <a:endParaRPr lang="en-IN" sz="1800" dirty="0">
                        <a:solidFill>
                          <a:srgbClr val="000000"/>
                        </a:solidFill>
                        <a:effectLst/>
                        <a:latin typeface="Arial" panose="020B0604020202020204" pitchFamily="34" charset="0"/>
                      </a:endParaRPr>
                    </a:p>
                  </a:txBody>
                  <a:tcPr marL="114300" marR="114300" marT="76200" marB="76200"/>
                </a:tc>
                <a:tc>
                  <a:txBody>
                    <a:bodyPr/>
                    <a:lstStyle/>
                    <a:p>
                      <a:pPr algn="l" fontAlgn="t">
                        <a:buNone/>
                      </a:pPr>
                      <a:r>
                        <a:rPr lang="en-IN" sz="1800" u="none" strike="noStrike" dirty="0">
                          <a:effectLst/>
                        </a:rPr>
                        <a:t>Guaranteed (Shortest path length)</a:t>
                      </a:r>
                      <a:endParaRPr lang="en-IN" sz="1800" dirty="0">
                        <a:solidFill>
                          <a:srgbClr val="000000"/>
                        </a:solidFill>
                        <a:effectLst/>
                        <a:latin typeface="Arial" panose="020B0604020202020204" pitchFamily="34" charset="0"/>
                      </a:endParaRPr>
                    </a:p>
                  </a:txBody>
                  <a:tcPr marL="114300" marR="114300" marT="76200" marB="76200"/>
                </a:tc>
                <a:tc>
                  <a:txBody>
                    <a:bodyPr/>
                    <a:lstStyle/>
                    <a:p>
                      <a:pPr algn="l" fontAlgn="t">
                        <a:buNone/>
                      </a:pPr>
                      <a:r>
                        <a:rPr lang="en-IN" sz="1800">
                          <a:effectLst/>
                        </a:rPr>
                        <a:t>Guaranteed</a:t>
                      </a:r>
                      <a:r>
                        <a:rPr lang="en-IN" sz="1800" u="none" strike="noStrike">
                          <a:effectLst/>
                        </a:rPr>
                        <a:t> (Shortest path length)</a:t>
                      </a:r>
                      <a:endParaRPr lang="en-IN" sz="1800">
                        <a:solidFill>
                          <a:srgbClr val="000000"/>
                        </a:solidFill>
                        <a:effectLst/>
                        <a:latin typeface="Arial" panose="020B0604020202020204" pitchFamily="34" charset="0"/>
                      </a:endParaRPr>
                    </a:p>
                  </a:txBody>
                  <a:tcPr marL="114300" marR="114300" marT="76200" marB="76200"/>
                </a:tc>
                <a:extLst>
                  <a:ext uri="{0D108BD9-81ED-4DB2-BD59-A6C34878D82A}">
                    <a16:rowId xmlns:a16="http://schemas.microsoft.com/office/drawing/2014/main" val="2248389851"/>
                  </a:ext>
                </a:extLst>
              </a:tr>
              <a:tr h="544630">
                <a:tc>
                  <a:txBody>
                    <a:bodyPr/>
                    <a:lstStyle/>
                    <a:p>
                      <a:pPr algn="l" fontAlgn="t">
                        <a:buNone/>
                      </a:pPr>
                      <a:r>
                        <a:rPr lang="en-IN" sz="1800" u="none" strike="noStrike" dirty="0">
                          <a:effectLst/>
                        </a:rPr>
                        <a:t>Time Complexity</a:t>
                      </a:r>
                      <a:endParaRPr lang="en-IN" sz="1800" dirty="0">
                        <a:solidFill>
                          <a:srgbClr val="000000"/>
                        </a:solidFill>
                        <a:effectLst/>
                        <a:latin typeface="Arial" panose="020B0604020202020204" pitchFamily="34" charset="0"/>
                      </a:endParaRPr>
                    </a:p>
                  </a:txBody>
                  <a:tcPr marL="114300" marR="114300" marT="76200" marB="76200"/>
                </a:tc>
                <a:tc>
                  <a:txBody>
                    <a:bodyPr/>
                    <a:lstStyle/>
                    <a:p>
                      <a:pPr fontAlgn="t">
                        <a:buNone/>
                      </a:pPr>
                      <a:r>
                        <a:rPr lang="en-IN" sz="1800" dirty="0"/>
                        <a:t>O(</a:t>
                      </a:r>
                      <a:r>
                        <a:rPr lang="en-IN" sz="1800" dirty="0" err="1"/>
                        <a:t>b^m</a:t>
                      </a:r>
                      <a:r>
                        <a:rPr lang="en-IN" sz="1800" dirty="0"/>
                        <a:t>)</a:t>
                      </a:r>
                    </a:p>
                  </a:txBody>
                  <a:tcPr marL="114300" marR="114300" marT="76200" marB="76200"/>
                </a:tc>
                <a:tc>
                  <a:txBody>
                    <a:bodyPr/>
                    <a:lstStyle/>
                    <a:p>
                      <a:pPr algn="l" fontAlgn="t">
                        <a:buNone/>
                      </a:pPr>
                      <a:r>
                        <a:rPr lang="en-IN" sz="1800" u="none" strike="noStrike">
                          <a:effectLst/>
                        </a:rPr>
                        <a:t> (Competitive with BFS)</a:t>
                      </a:r>
                      <a:endParaRPr lang="en-IN" sz="1800">
                        <a:solidFill>
                          <a:srgbClr val="000000"/>
                        </a:solidFill>
                        <a:effectLst/>
                        <a:latin typeface="Arial" panose="020B0604020202020204" pitchFamily="34" charset="0"/>
                      </a:endParaRPr>
                    </a:p>
                  </a:txBody>
                  <a:tcPr marL="114300" marR="114300" marT="76200" marB="76200"/>
                </a:tc>
                <a:extLst>
                  <a:ext uri="{0D108BD9-81ED-4DB2-BD59-A6C34878D82A}">
                    <a16:rowId xmlns:a16="http://schemas.microsoft.com/office/drawing/2014/main" val="1681320775"/>
                  </a:ext>
                </a:extLst>
              </a:tr>
              <a:tr h="408473">
                <a:tc>
                  <a:txBody>
                    <a:bodyPr/>
                    <a:lstStyle/>
                    <a:p>
                      <a:pPr algn="l" fontAlgn="t">
                        <a:buNone/>
                      </a:pPr>
                      <a:r>
                        <a:rPr lang="en-IN" sz="1800" u="none" strike="noStrike">
                          <a:effectLst/>
                        </a:rPr>
                        <a:t>Memory/Space</a:t>
                      </a:r>
                      <a:endParaRPr lang="en-IN" sz="1800">
                        <a:solidFill>
                          <a:srgbClr val="000000"/>
                        </a:solidFill>
                        <a:effectLst/>
                        <a:latin typeface="Arial" panose="020B0604020202020204" pitchFamily="34" charset="0"/>
                      </a:endParaRPr>
                    </a:p>
                  </a:txBody>
                  <a:tcPr marL="114300" marR="114300" marT="76200" marB="76200"/>
                </a:tc>
                <a:tc>
                  <a:txBody>
                    <a:bodyPr/>
                    <a:lstStyle/>
                    <a:p>
                      <a:pPr algn="l" fontAlgn="t">
                        <a:buNone/>
                      </a:pPr>
                      <a:r>
                        <a:rPr lang="en-IN" sz="1800" u="none" strike="noStrike">
                          <a:effectLst/>
                        </a:rPr>
                        <a:t> (Exponential Memory)</a:t>
                      </a:r>
                      <a:endParaRPr lang="en-IN" sz="1800">
                        <a:solidFill>
                          <a:srgbClr val="000000"/>
                        </a:solidFill>
                        <a:effectLst/>
                        <a:latin typeface="Arial" panose="020B0604020202020204" pitchFamily="34" charset="0"/>
                      </a:endParaRPr>
                    </a:p>
                  </a:txBody>
                  <a:tcPr marL="114300" marR="114300" marT="76200" marB="76200"/>
                </a:tc>
                <a:tc>
                  <a:txBody>
                    <a:bodyPr/>
                    <a:lstStyle/>
                    <a:p>
                      <a:pPr algn="l" fontAlgn="t">
                        <a:buNone/>
                      </a:pPr>
                      <a:r>
                        <a:rPr lang="en-IN" sz="1800" u="none" strike="noStrike" dirty="0">
                          <a:effectLst/>
                        </a:rPr>
                        <a:t> (Linear Memory)</a:t>
                      </a:r>
                      <a:endParaRPr lang="en-IN" sz="1800" dirty="0">
                        <a:solidFill>
                          <a:srgbClr val="000000"/>
                        </a:solidFill>
                        <a:effectLst/>
                        <a:latin typeface="Arial" panose="020B0604020202020204" pitchFamily="34" charset="0"/>
                      </a:endParaRPr>
                    </a:p>
                  </a:txBody>
                  <a:tcPr marL="114300" marR="114300" marT="76200" marB="76200"/>
                </a:tc>
                <a:extLst>
                  <a:ext uri="{0D108BD9-81ED-4DB2-BD59-A6C34878D82A}">
                    <a16:rowId xmlns:a16="http://schemas.microsoft.com/office/drawing/2014/main" val="363416466"/>
                  </a:ext>
                </a:extLst>
              </a:tr>
            </a:tbl>
          </a:graphicData>
        </a:graphic>
      </p:graphicFrame>
    </p:spTree>
    <p:extLst>
      <p:ext uri="{BB962C8B-B14F-4D97-AF65-F5344CB8AC3E}">
        <p14:creationId xmlns:p14="http://schemas.microsoft.com/office/powerpoint/2010/main" val="346902240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0110AF-92FB-1ECA-A687-1A71291C7CA6}"/>
              </a:ext>
            </a:extLst>
          </p:cNvPr>
          <p:cNvSpPr>
            <a:spLocks noGrp="1"/>
          </p:cNvSpPr>
          <p:nvPr>
            <p:ph type="title"/>
          </p:nvPr>
        </p:nvSpPr>
        <p:spPr>
          <a:xfrm>
            <a:off x="800100" y="2179002"/>
            <a:ext cx="10515600" cy="2499995"/>
          </a:xfrm>
        </p:spPr>
        <p:txBody>
          <a:bodyPr>
            <a:noAutofit/>
          </a:bodyPr>
          <a:lstStyle/>
          <a:p>
            <a:pPr algn="ctr"/>
            <a:r>
              <a:rPr lang="en-US" sz="7200" dirty="0"/>
              <a:t>Thank</a:t>
            </a:r>
            <a:br>
              <a:rPr lang="en-US" sz="7200" dirty="0"/>
            </a:br>
            <a:r>
              <a:rPr lang="en-US" sz="7200" dirty="0"/>
              <a:t>You</a:t>
            </a:r>
            <a:endParaRPr lang="en-IN" sz="7200" dirty="0"/>
          </a:p>
        </p:txBody>
      </p:sp>
    </p:spTree>
    <p:extLst>
      <p:ext uri="{BB962C8B-B14F-4D97-AF65-F5344CB8AC3E}">
        <p14:creationId xmlns:p14="http://schemas.microsoft.com/office/powerpoint/2010/main" val="12009255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4707</Words>
  <Application>Microsoft Office PowerPoint</Application>
  <PresentationFormat>Widescreen</PresentationFormat>
  <Paragraphs>406</Paragraphs>
  <Slides>33</Slides>
  <Notes>0</Notes>
  <HiddenSlides>0</HiddenSlides>
  <MMClips>0</MMClips>
  <ScaleCrop>false</ScaleCrop>
  <HeadingPairs>
    <vt:vector size="4" baseType="variant">
      <vt:variant>
        <vt:lpstr>Theme</vt:lpstr>
      </vt:variant>
      <vt:variant>
        <vt:i4>1</vt:i4>
      </vt:variant>
      <vt:variant>
        <vt:lpstr>Slide Titles</vt:lpstr>
      </vt:variant>
      <vt:variant>
        <vt:i4>33</vt:i4>
      </vt:variant>
    </vt:vector>
  </HeadingPairs>
  <TitlesOfParts>
    <vt:vector size="34" baseType="lpstr">
      <vt:lpstr>Office Theme</vt:lpstr>
      <vt:lpstr>Presentation : Lab Assignments Based on</vt:lpstr>
      <vt:lpstr>PowerPoint Presentation</vt:lpstr>
      <vt:lpstr>Tic Tac Toe: Problem Formulation &amp; State Space </vt:lpstr>
      <vt:lpstr>Best-First Search (Greedy) Algorithm</vt:lpstr>
      <vt:lpstr>Code Snippets &amp; Implementation Details </vt:lpstr>
      <vt:lpstr>Input and Output</vt:lpstr>
      <vt:lpstr>Analysis &amp; Conclusion</vt:lpstr>
      <vt:lpstr>Using Single Pair Shortest Path Algorithm: Problem Formulation &amp; Transaction Format</vt:lpstr>
      <vt:lpstr>Graph Construction &amp; Similarity Metric</vt:lpstr>
      <vt:lpstr>Code Snippets</vt:lpstr>
      <vt:lpstr>Graph Output &amp; Shortest Path</vt:lpstr>
      <vt:lpstr>Analysis &amp; Conclusion</vt:lpstr>
      <vt:lpstr>Tower of Hanoi - Problem Formulation &amp; State Space</vt:lpstr>
      <vt:lpstr>Recursive Solution</vt:lpstr>
      <vt:lpstr>BFS Solution</vt:lpstr>
      <vt:lpstr>Output &amp; Steps</vt:lpstr>
      <vt:lpstr>Analysis &amp; Conclusion</vt:lpstr>
      <vt:lpstr>Missionaries and Cannibals: Farmer-Wolf-Goat-Cabbage Problem Formulation &amp; State Space </vt:lpstr>
      <vt:lpstr>Uninformed Search Algorithms Implemented</vt:lpstr>
      <vt:lpstr>Key Code &amp; Output Metrics</vt:lpstr>
      <vt:lpstr>Solution Path &amp; Performance Summary</vt:lpstr>
      <vt:lpstr>Analysis &amp; Conclusion</vt:lpstr>
      <vt:lpstr>Traveling Salesperson Problem (TSP): Problem Formulation &amp; Input</vt:lpstr>
      <vt:lpstr>Brute Force Approach &amp; Heuristic Optimization</vt:lpstr>
      <vt:lpstr>Implementation Details (Neighbourhood &amp; Cost)</vt:lpstr>
      <vt:lpstr>Output &amp; Comparison</vt:lpstr>
      <vt:lpstr>Analysis &amp; Conclusion</vt:lpstr>
      <vt:lpstr>The 8-Puzzle Problem (Sliding Tile Puzzle)</vt:lpstr>
      <vt:lpstr>Key AI Algorithm: Iterative Deepening Search (IDS)</vt:lpstr>
      <vt:lpstr>DLS Workhorse and Move Generation  </vt:lpstr>
      <vt:lpstr>Output: Solution Path and Board Transitions</vt:lpstr>
      <vt:lpstr>Analysis and 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 Roy</dc:creator>
  <cp:lastModifiedBy>A Roy</cp:lastModifiedBy>
  <cp:revision>19</cp:revision>
  <dcterms:created xsi:type="dcterms:W3CDTF">2025-10-04T17:05:47Z</dcterms:created>
  <dcterms:modified xsi:type="dcterms:W3CDTF">2025-10-07T06:20:09Z</dcterms:modified>
</cp:coreProperties>
</file>